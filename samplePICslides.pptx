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0"/>
  </p:notesMasterIdLst>
  <p:handoutMasterIdLst>
    <p:handoutMasterId r:id="rId11"/>
  </p:handoutMasterIdLst>
  <p:sldIdLst>
    <p:sldId id="543" r:id="rId2"/>
    <p:sldId id="1827" r:id="rId3"/>
    <p:sldId id="1428" r:id="rId4"/>
    <p:sldId id="1375" r:id="rId5"/>
    <p:sldId id="1491" r:id="rId6"/>
    <p:sldId id="1611" r:id="rId7"/>
    <p:sldId id="1346" r:id="rId8"/>
    <p:sldId id="1478" r:id="rId9"/>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Salmony" initials="MGS" lastIdx="55" clrIdx="0"/>
  <p:cmAuthor id="2" name="Michael Salmony" initials="MS" lastIdx="15" clrIdx="1">
    <p:extLst>
      <p:ext uri="{19B8F6BF-5375-455C-9EA6-DF929625EA0E}">
        <p15:presenceInfo xmlns:p15="http://schemas.microsoft.com/office/powerpoint/2012/main" userId="4a80d7f5-294e-4929-915f-accd2a34689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D08E"/>
    <a:srgbClr val="54A7F4"/>
    <a:srgbClr val="E5DDD3"/>
    <a:srgbClr val="E7B164"/>
    <a:srgbClr val="44D2AD"/>
    <a:srgbClr val="79ACDC"/>
    <a:srgbClr val="A173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98"/>
    <p:restoredTop sz="91000"/>
  </p:normalViewPr>
  <p:slideViewPr>
    <p:cSldViewPr snapToGrid="0" snapToObjects="1">
      <p:cViewPr varScale="1">
        <p:scale>
          <a:sx n="127" d="100"/>
          <a:sy n="127" d="100"/>
        </p:scale>
        <p:origin x="184" y="496"/>
      </p:cViewPr>
      <p:guideLst>
        <p:guide orient="horz" pos="1620"/>
        <p:guide pos="2880"/>
      </p:guideLst>
    </p:cSldViewPr>
  </p:slideViewPr>
  <p:notesTextViewPr>
    <p:cViewPr>
      <p:scale>
        <a:sx n="85" d="100"/>
        <a:sy n="85" d="100"/>
      </p:scale>
      <p:origin x="0" y="0"/>
    </p:cViewPr>
  </p:notesTextViewPr>
  <p:notesViewPr>
    <p:cSldViewPr snapToGrid="0" snapToObjects="1">
      <p:cViewPr varScale="1">
        <p:scale>
          <a:sx n="96" d="100"/>
          <a:sy n="96" d="100"/>
        </p:scale>
        <p:origin x="4328"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de-DE"/>
              <a:t>20.05.26</a:t>
            </a:r>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EBA Academy</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978848C-4CF4-AE49-B28F-114C064C2F57}" type="slidenum">
              <a:rPr lang="en-US" smtClean="0"/>
              <a:t>‹#›</a:t>
            </a:fld>
            <a:endParaRPr lang="en-US"/>
          </a:p>
        </p:txBody>
      </p:sp>
      <p:pic>
        <p:nvPicPr>
          <p:cNvPr id="7" name="Picture 6">
            <a:extLst>
              <a:ext uri="{FF2B5EF4-FFF2-40B4-BE49-F238E27FC236}">
                <a16:creationId xmlns:a16="http://schemas.microsoft.com/office/drawing/2014/main" id="{27860EF7-0F34-CF43-A04F-916F8140C2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71587" cy="705919"/>
          </a:xfrm>
          <a:prstGeom prst="rect">
            <a:avLst/>
          </a:prstGeom>
        </p:spPr>
      </p:pic>
    </p:spTree>
    <p:extLst>
      <p:ext uri="{BB962C8B-B14F-4D97-AF65-F5344CB8AC3E}">
        <p14:creationId xmlns:p14="http://schemas.microsoft.com/office/powerpoint/2010/main" val="157509700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0" name="Shape 110"/>
          <p:cNvSpPr>
            <a:spLocks noGrp="1" noRot="1" noChangeAspect="1"/>
          </p:cNvSpPr>
          <p:nvPr>
            <p:ph type="sldImg"/>
          </p:nvPr>
        </p:nvSpPr>
        <p:spPr>
          <a:xfrm>
            <a:off x="381000" y="685800"/>
            <a:ext cx="6096000" cy="3429000"/>
          </a:xfrm>
          <a:prstGeom prst="rect">
            <a:avLst/>
          </a:prstGeom>
        </p:spPr>
        <p:txBody>
          <a:bodyPr/>
          <a:lstStyle/>
          <a:p>
            <a:endParaRPr/>
          </a:p>
        </p:txBody>
      </p:sp>
      <p:sp>
        <p:nvSpPr>
          <p:cNvPr id="111" name="Shape 111"/>
          <p:cNvSpPr>
            <a:spLocks noGrp="1"/>
          </p:cNvSpPr>
          <p:nvPr>
            <p:ph type="body" sz="quarter" idx="1"/>
          </p:nvPr>
        </p:nvSpPr>
        <p:spPr>
          <a:xfrm>
            <a:off x="914400" y="4343400"/>
            <a:ext cx="5029200" cy="4114800"/>
          </a:xfrm>
          <a:prstGeom prst="rect">
            <a:avLst/>
          </a:prstGeom>
        </p:spPr>
        <p:txBody>
          <a:bodyPr/>
          <a:lstStyle/>
          <a:p>
            <a:endParaRPr/>
          </a:p>
        </p:txBody>
      </p:sp>
      <p:sp>
        <p:nvSpPr>
          <p:cNvPr id="3" name="Date Placeholder 2">
            <a:extLst>
              <a:ext uri="{FF2B5EF4-FFF2-40B4-BE49-F238E27FC236}">
                <a16:creationId xmlns:a16="http://schemas.microsoft.com/office/drawing/2014/main" id="{61A7CCA4-01C5-FCEF-003A-BBDF1AD4872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de-DE"/>
              <a:t>20.05.26</a:t>
            </a:r>
            <a:endParaRPr lang="en-DE"/>
          </a:p>
        </p:txBody>
      </p:sp>
      <p:sp>
        <p:nvSpPr>
          <p:cNvPr id="5" name="Footer Placeholder 4">
            <a:extLst>
              <a:ext uri="{FF2B5EF4-FFF2-40B4-BE49-F238E27FC236}">
                <a16:creationId xmlns:a16="http://schemas.microsoft.com/office/drawing/2014/main" id="{D1A9D447-DCA4-F168-3F60-49A7502863FE}"/>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EBA Academy</a:t>
            </a:r>
            <a:endParaRPr lang="en-DE" dirty="0"/>
          </a:p>
        </p:txBody>
      </p:sp>
      <p:sp>
        <p:nvSpPr>
          <p:cNvPr id="6" name="Slide Number Placeholder 5">
            <a:extLst>
              <a:ext uri="{FF2B5EF4-FFF2-40B4-BE49-F238E27FC236}">
                <a16:creationId xmlns:a16="http://schemas.microsoft.com/office/drawing/2014/main" id="{19D2FD4C-6212-D036-4F43-2E0516B27C0B}"/>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51CE54-7C7E-054E-82D5-C1E43BF6FD78}" type="slidenum">
              <a:rPr lang="en-DE" smtClean="0"/>
              <a:t>‹#›</a:t>
            </a:fld>
            <a:endParaRPr lang="en-DE"/>
          </a:p>
        </p:txBody>
      </p:sp>
      <p:pic>
        <p:nvPicPr>
          <p:cNvPr id="9" name="Picture 8">
            <a:extLst>
              <a:ext uri="{FF2B5EF4-FFF2-40B4-BE49-F238E27FC236}">
                <a16:creationId xmlns:a16="http://schemas.microsoft.com/office/drawing/2014/main" id="{FF0F2F07-BD8B-4E64-CD1F-BBA6263C0A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71587" cy="705919"/>
          </a:xfrm>
          <a:prstGeom prst="rect">
            <a:avLst/>
          </a:prstGeom>
        </p:spPr>
      </p:pic>
    </p:spTree>
    <p:extLst>
      <p:ext uri="{BB962C8B-B14F-4D97-AF65-F5344CB8AC3E}">
        <p14:creationId xmlns:p14="http://schemas.microsoft.com/office/powerpoint/2010/main" val="3576692382"/>
      </p:ext>
    </p:extLst>
  </p:cSld>
  <p:clrMap bg1="lt1" tx1="dk1" bg2="lt2" tx2="dk2" accent1="accent1" accent2="accent2" accent3="accent3" accent4="accent4" accent5="accent5" accent6="accent6" hlink="hlink" folHlink="folHlink"/>
  <p:hf hdr="0"/>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1725268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r>
              <a:rPr lang="de-DE"/>
              <a:t>20.05.26</a:t>
            </a:r>
            <a:endParaRPr lang="en-DE"/>
          </a:p>
        </p:txBody>
      </p:sp>
      <p:sp>
        <p:nvSpPr>
          <p:cNvPr id="5" name="Footer Placeholder 4"/>
          <p:cNvSpPr>
            <a:spLocks noGrp="1"/>
          </p:cNvSpPr>
          <p:nvPr>
            <p:ph type="ftr" sz="quarter" idx="4"/>
          </p:nvPr>
        </p:nvSpPr>
        <p:spPr/>
        <p:txBody>
          <a:bodyPr/>
          <a:lstStyle/>
          <a:p>
            <a:r>
              <a:rPr lang="en-GB"/>
              <a:t>EBA Academy</a:t>
            </a:r>
            <a:endParaRPr lang="en-DE" dirty="0"/>
          </a:p>
        </p:txBody>
      </p:sp>
      <p:sp>
        <p:nvSpPr>
          <p:cNvPr id="6" name="Slide Number Placeholder 5"/>
          <p:cNvSpPr>
            <a:spLocks noGrp="1"/>
          </p:cNvSpPr>
          <p:nvPr>
            <p:ph type="sldNum" sz="quarter" idx="5"/>
          </p:nvPr>
        </p:nvSpPr>
        <p:spPr/>
        <p:txBody>
          <a:bodyPr/>
          <a:lstStyle/>
          <a:p>
            <a:fld id="{4251CE54-7C7E-054E-82D5-C1E43BF6FD78}" type="slidenum">
              <a:rPr lang="en-DE" smtClean="0"/>
              <a:t>3</a:t>
            </a:fld>
            <a:endParaRPr lang="en-DE"/>
          </a:p>
        </p:txBody>
      </p:sp>
    </p:spTree>
    <p:extLst>
      <p:ext uri="{BB962C8B-B14F-4D97-AF65-F5344CB8AC3E}">
        <p14:creationId xmlns:p14="http://schemas.microsoft.com/office/powerpoint/2010/main" val="3398098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Date Placeholder 3"/>
          <p:cNvSpPr>
            <a:spLocks noGrp="1"/>
          </p:cNvSpPr>
          <p:nvPr>
            <p:ph type="dt" idx="1"/>
          </p:nvPr>
        </p:nvSpPr>
        <p:spPr/>
        <p:txBody>
          <a:bodyPr/>
          <a:lstStyle/>
          <a:p>
            <a:r>
              <a:rPr lang="de-DE"/>
              <a:t>20.05.26</a:t>
            </a:r>
            <a:endParaRPr lang="en-DE"/>
          </a:p>
        </p:txBody>
      </p:sp>
      <p:sp>
        <p:nvSpPr>
          <p:cNvPr id="5" name="Footer Placeholder 4"/>
          <p:cNvSpPr>
            <a:spLocks noGrp="1"/>
          </p:cNvSpPr>
          <p:nvPr>
            <p:ph type="ftr" sz="quarter" idx="4"/>
          </p:nvPr>
        </p:nvSpPr>
        <p:spPr/>
        <p:txBody>
          <a:bodyPr/>
          <a:lstStyle/>
          <a:p>
            <a:r>
              <a:rPr lang="en-GB"/>
              <a:t>EBA Academy</a:t>
            </a:r>
            <a:endParaRPr lang="en-DE" dirty="0"/>
          </a:p>
        </p:txBody>
      </p:sp>
      <p:sp>
        <p:nvSpPr>
          <p:cNvPr id="6" name="Slide Number Placeholder 5"/>
          <p:cNvSpPr>
            <a:spLocks noGrp="1"/>
          </p:cNvSpPr>
          <p:nvPr>
            <p:ph type="sldNum" sz="quarter" idx="5"/>
          </p:nvPr>
        </p:nvSpPr>
        <p:spPr/>
        <p:txBody>
          <a:bodyPr/>
          <a:lstStyle/>
          <a:p>
            <a:fld id="{4251CE54-7C7E-054E-82D5-C1E43BF6FD78}" type="slidenum">
              <a:rPr lang="en-DE" smtClean="0"/>
              <a:t>4</a:t>
            </a:fld>
            <a:endParaRPr lang="en-DE"/>
          </a:p>
        </p:txBody>
      </p:sp>
    </p:spTree>
    <p:extLst>
      <p:ext uri="{BB962C8B-B14F-4D97-AF65-F5344CB8AC3E}">
        <p14:creationId xmlns:p14="http://schemas.microsoft.com/office/powerpoint/2010/main" val="3124969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AC08E-D849-48E9-289D-90D5E108B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997BC-DF24-DD97-BDF4-CC074E316A71}"/>
              </a:ext>
            </a:extLst>
          </p:cNvPr>
          <p:cNvSpPr>
            <a:spLocks noGrp="1" noRot="1" noChangeAspect="1"/>
          </p:cNvSpPr>
          <p:nvPr>
            <p:ph type="sldImg"/>
          </p:nvPr>
        </p:nvSpPr>
        <p:spPr>
          <a:xfrm>
            <a:off x="2286000" y="514350"/>
            <a:ext cx="4572000" cy="2571750"/>
          </a:xfrm>
        </p:spPr>
      </p:sp>
      <p:sp>
        <p:nvSpPr>
          <p:cNvPr id="3" name="Notes Placeholder 2">
            <a:extLst>
              <a:ext uri="{FF2B5EF4-FFF2-40B4-BE49-F238E27FC236}">
                <a16:creationId xmlns:a16="http://schemas.microsoft.com/office/drawing/2014/main" id="{9AACB5AF-AF8D-63CD-EFEC-8D431384910C}"/>
              </a:ext>
            </a:extLst>
          </p:cNvPr>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1523296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dirty="0">
              <a:effectLst/>
              <a:latin typeface="+mn-lt"/>
              <a:ea typeface="+mn-ea"/>
              <a:cs typeface="+mn-cs"/>
              <a:sym typeface="Calibri"/>
            </a:endParaRPr>
          </a:p>
        </p:txBody>
      </p:sp>
      <p:sp>
        <p:nvSpPr>
          <p:cNvPr id="4" name="Date Placeholder 3"/>
          <p:cNvSpPr>
            <a:spLocks noGrp="1"/>
          </p:cNvSpPr>
          <p:nvPr>
            <p:ph type="dt" idx="1"/>
          </p:nvPr>
        </p:nvSpPr>
        <p:spPr/>
        <p:txBody>
          <a:bodyPr/>
          <a:lstStyle/>
          <a:p>
            <a:r>
              <a:rPr lang="de-DE"/>
              <a:t>20.05.26</a:t>
            </a:r>
            <a:endParaRPr lang="en-DE"/>
          </a:p>
        </p:txBody>
      </p:sp>
      <p:sp>
        <p:nvSpPr>
          <p:cNvPr id="5" name="Footer Placeholder 4"/>
          <p:cNvSpPr>
            <a:spLocks noGrp="1"/>
          </p:cNvSpPr>
          <p:nvPr>
            <p:ph type="ftr" sz="quarter" idx="4"/>
          </p:nvPr>
        </p:nvSpPr>
        <p:spPr/>
        <p:txBody>
          <a:bodyPr/>
          <a:lstStyle/>
          <a:p>
            <a:r>
              <a:rPr lang="en-GB"/>
              <a:t>EBA Academy</a:t>
            </a:r>
            <a:endParaRPr lang="en-DE" dirty="0"/>
          </a:p>
        </p:txBody>
      </p:sp>
      <p:sp>
        <p:nvSpPr>
          <p:cNvPr id="6" name="Slide Number Placeholder 5"/>
          <p:cNvSpPr>
            <a:spLocks noGrp="1"/>
          </p:cNvSpPr>
          <p:nvPr>
            <p:ph type="sldNum" sz="quarter" idx="5"/>
          </p:nvPr>
        </p:nvSpPr>
        <p:spPr/>
        <p:txBody>
          <a:bodyPr/>
          <a:lstStyle/>
          <a:p>
            <a:fld id="{4251CE54-7C7E-054E-82D5-C1E43BF6FD78}" type="slidenum">
              <a:rPr lang="en-DE" smtClean="0"/>
              <a:t>6</a:t>
            </a:fld>
            <a:endParaRPr lang="en-DE"/>
          </a:p>
        </p:txBody>
      </p:sp>
    </p:spTree>
    <p:extLst>
      <p:ext uri="{BB962C8B-B14F-4D97-AF65-F5344CB8AC3E}">
        <p14:creationId xmlns:p14="http://schemas.microsoft.com/office/powerpoint/2010/main" val="676221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Date Placeholder 3"/>
          <p:cNvSpPr>
            <a:spLocks noGrp="1"/>
          </p:cNvSpPr>
          <p:nvPr>
            <p:ph type="dt" idx="1"/>
          </p:nvPr>
        </p:nvSpPr>
        <p:spPr/>
        <p:txBody>
          <a:bodyPr/>
          <a:lstStyle/>
          <a:p>
            <a:r>
              <a:rPr lang="de-DE"/>
              <a:t>20.05.26</a:t>
            </a:r>
            <a:endParaRPr lang="en-DE"/>
          </a:p>
        </p:txBody>
      </p:sp>
      <p:sp>
        <p:nvSpPr>
          <p:cNvPr id="5" name="Footer Placeholder 4"/>
          <p:cNvSpPr>
            <a:spLocks noGrp="1"/>
          </p:cNvSpPr>
          <p:nvPr>
            <p:ph type="ftr" sz="quarter" idx="4"/>
          </p:nvPr>
        </p:nvSpPr>
        <p:spPr/>
        <p:txBody>
          <a:bodyPr/>
          <a:lstStyle/>
          <a:p>
            <a:r>
              <a:rPr lang="en-GB"/>
              <a:t>EBA Academy</a:t>
            </a:r>
            <a:endParaRPr lang="en-DE" dirty="0"/>
          </a:p>
        </p:txBody>
      </p:sp>
      <p:sp>
        <p:nvSpPr>
          <p:cNvPr id="6" name="Slide Number Placeholder 5"/>
          <p:cNvSpPr>
            <a:spLocks noGrp="1"/>
          </p:cNvSpPr>
          <p:nvPr>
            <p:ph type="sldNum" sz="quarter" idx="5"/>
          </p:nvPr>
        </p:nvSpPr>
        <p:spPr/>
        <p:txBody>
          <a:bodyPr/>
          <a:lstStyle/>
          <a:p>
            <a:fld id="{4251CE54-7C7E-054E-82D5-C1E43BF6FD78}" type="slidenum">
              <a:rPr lang="en-DE" smtClean="0"/>
              <a:t>7</a:t>
            </a:fld>
            <a:endParaRPr lang="en-DE"/>
          </a:p>
        </p:txBody>
      </p:sp>
    </p:spTree>
    <p:extLst>
      <p:ext uri="{BB962C8B-B14F-4D97-AF65-F5344CB8AC3E}">
        <p14:creationId xmlns:p14="http://schemas.microsoft.com/office/powerpoint/2010/main" val="2881885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E8949-72EE-6DB6-E2FE-BF822B9550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D4B3D-841B-B53F-D27A-BF45EC49FB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494EC38-5C73-51AD-55CE-C4954475F98C}"/>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4230298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2" name="Shape 12"/>
          <p:cNvSpPr>
            <a:spLocks noGrp="1"/>
          </p:cNvSpPr>
          <p:nvPr>
            <p:ph type="title"/>
          </p:nvPr>
        </p:nvSpPr>
        <p:spPr>
          <a:xfrm>
            <a:off x="1143000" y="841771"/>
            <a:ext cx="6858000" cy="1790701"/>
          </a:xfrm>
          <a:prstGeom prst="rect">
            <a:avLst/>
          </a:prstGeom>
        </p:spPr>
        <p:txBody>
          <a:bodyPr anchor="b">
            <a:normAutofit/>
          </a:bodyPr>
          <a:lstStyle>
            <a:lvl1pPr algn="ctr">
              <a:defRPr sz="2800"/>
            </a:lvl1pPr>
          </a:lstStyle>
          <a:p>
            <a:r>
              <a:rPr lang="en-GB"/>
              <a:t>Click to edit Master title style</a:t>
            </a:r>
            <a:endParaRPr dirty="0"/>
          </a:p>
        </p:txBody>
      </p:sp>
      <p:sp>
        <p:nvSpPr>
          <p:cNvPr id="13" name="Shape 13"/>
          <p:cNvSpPr>
            <a:spLocks noGrp="1"/>
          </p:cNvSpPr>
          <p:nvPr>
            <p:ph type="body" sz="quarter" idx="1" hasCustomPrompt="1"/>
          </p:nvPr>
        </p:nvSpPr>
        <p:spPr>
          <a:xfrm>
            <a:off x="1143000" y="2701526"/>
            <a:ext cx="6858000" cy="1241824"/>
          </a:xfrm>
          <a:prstGeom prst="rect">
            <a:avLst/>
          </a:prstGeom>
        </p:spPr>
        <p:txBody>
          <a:bodyPr>
            <a:noAutofit/>
          </a:bodyPr>
          <a:lstStyle>
            <a:lvl1pPr marL="0" indent="0" algn="ctr">
              <a:lnSpc>
                <a:spcPct val="90000"/>
              </a:lnSpc>
              <a:buSzTx/>
              <a:buFontTx/>
              <a:buNone/>
              <a:defRPr sz="1600"/>
            </a:lvl1pPr>
            <a:lvl2pPr marL="0" indent="0" algn="ctr">
              <a:lnSpc>
                <a:spcPct val="90000"/>
              </a:lnSpc>
              <a:buSzTx/>
              <a:buFontTx/>
              <a:buNone/>
              <a:defRPr sz="1600"/>
            </a:lvl2pPr>
            <a:lvl3pPr marL="0" indent="0" algn="ctr">
              <a:lnSpc>
                <a:spcPct val="90000"/>
              </a:lnSpc>
              <a:buSzTx/>
              <a:buFontTx/>
              <a:buNone/>
              <a:defRPr sz="1600"/>
            </a:lvl3pPr>
            <a:lvl4pPr marL="0" indent="0" algn="ctr">
              <a:lnSpc>
                <a:spcPct val="90000"/>
              </a:lnSpc>
              <a:buSzTx/>
              <a:buFontTx/>
              <a:buNone/>
              <a:defRPr sz="1600"/>
            </a:lvl4pPr>
            <a:lvl5pPr marL="0" indent="0" algn="ctr">
              <a:lnSpc>
                <a:spcPct val="90000"/>
              </a:lnSpc>
              <a:buSzTx/>
              <a:buFontTx/>
              <a:buNone/>
              <a:defRPr sz="1600"/>
            </a:lvl5pPr>
          </a:lstStyle>
          <a:p>
            <a:r>
              <a:rPr dirty="0"/>
              <a:t>Body Level One</a:t>
            </a:r>
          </a:p>
          <a:p>
            <a:pPr lvl="1"/>
            <a:r>
              <a:rPr dirty="0"/>
              <a:t>Body Level Two</a:t>
            </a:r>
          </a:p>
          <a:p>
            <a:pPr lvl="2"/>
            <a:r>
              <a:rPr dirty="0"/>
              <a:t>Body Level Three</a:t>
            </a:r>
          </a:p>
        </p:txBody>
      </p:sp>
      <p:sp>
        <p:nvSpPr>
          <p:cNvPr id="14" name="Shape 14"/>
          <p:cNvSpPr>
            <a:spLocks noGrp="1"/>
          </p:cNvSpPr>
          <p:nvPr>
            <p:ph type="sldNum" sz="quarter" idx="2"/>
          </p:nvPr>
        </p:nvSpPr>
        <p:spPr>
          <a:prstGeom prst="rect">
            <a:avLst/>
          </a:prstGeom>
        </p:spPr>
        <p:txBody>
          <a:bodyPr/>
          <a:lstStyle/>
          <a:p>
            <a:fld id="{86CB4B4D-7CA3-9044-876B-883B54F8677D}" type="slidenum">
              <a:rPr/>
              <a:t>‹#›</a:t>
            </a:fld>
            <a:endParaRPr/>
          </a:p>
        </p:txBody>
      </p:sp>
      <p:sp>
        <p:nvSpPr>
          <p:cNvPr id="5" name="Footer Placeholder 5"/>
          <p:cNvSpPr>
            <a:spLocks noGrp="1"/>
          </p:cNvSpPr>
          <p:nvPr>
            <p:ph type="ftr" sz="quarter" idx="3"/>
          </p:nvPr>
        </p:nvSpPr>
        <p:spPr>
          <a:xfrm>
            <a:off x="2791909" y="4767263"/>
            <a:ext cx="3528405" cy="274637"/>
          </a:xfrm>
          <a:prstGeom prst="rect">
            <a:avLst/>
          </a:prstGeom>
        </p:spPr>
        <p:txBody>
          <a:bodyPr vert="horz" lIns="91440" tIns="45720" rIns="91440" bIns="45720" rtlCol="0" anchor="ctr"/>
          <a:lstStyle>
            <a:lvl1pPr algn="ctr">
              <a:defRPr sz="1200">
                <a:solidFill>
                  <a:schemeClr val="tx1">
                    <a:tint val="75000"/>
                  </a:schemeClr>
                </a:solidFill>
                <a:latin typeface="Sackers Gothic Medium"/>
                <a:cs typeface="Sackers Gothic Medium"/>
              </a:defRPr>
            </a:lvl1pPr>
          </a:lstStyle>
          <a:p>
            <a:r>
              <a:rPr lang="en-US"/>
              <a:t>Payments Innovation Consulting</a:t>
            </a:r>
          </a:p>
        </p:txBody>
      </p:sp>
      <p:sp>
        <p:nvSpPr>
          <p:cNvPr id="6" name="Rectangle 5">
            <a:extLst>
              <a:ext uri="{FF2B5EF4-FFF2-40B4-BE49-F238E27FC236}">
                <a16:creationId xmlns:a16="http://schemas.microsoft.com/office/drawing/2014/main" id="{F7A1C2B0-92E2-49BC-AF39-1DA615A8BACD}"/>
              </a:ext>
            </a:extLst>
          </p:cNvPr>
          <p:cNvSpPr/>
          <p:nvPr userDrawn="1"/>
        </p:nvSpPr>
        <p:spPr>
          <a:xfrm>
            <a:off x="2856929" y="2509378"/>
            <a:ext cx="3398363" cy="89554"/>
          </a:xfrm>
          <a:prstGeom prst="rect">
            <a:avLst/>
          </a:prstGeom>
          <a:solidFill>
            <a:schemeClr val="accent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Helvetica"/>
            </a:endParaRPr>
          </a:p>
        </p:txBody>
      </p:sp>
    </p:spTree>
    <p:extLst>
      <p:ext uri="{BB962C8B-B14F-4D97-AF65-F5344CB8AC3E}">
        <p14:creationId xmlns:p14="http://schemas.microsoft.com/office/powerpoint/2010/main" val="92495534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8" name="Shape 58"/>
          <p:cNvSpPr>
            <a:spLocks noGrp="1"/>
          </p:cNvSpPr>
          <p:nvPr>
            <p:ph type="title"/>
          </p:nvPr>
        </p:nvSpPr>
        <p:spPr>
          <a:prstGeom prst="rect">
            <a:avLst/>
          </a:prstGeom>
        </p:spPr>
        <p:txBody>
          <a:bodyPr/>
          <a:lstStyle/>
          <a:p>
            <a:r>
              <a:rPr lang="en-GB"/>
              <a:t>Click to edit Master title style</a:t>
            </a:r>
            <a:endParaRPr dirty="0"/>
          </a:p>
        </p:txBody>
      </p:sp>
      <p:sp>
        <p:nvSpPr>
          <p:cNvPr id="59" name="Shape 59"/>
          <p:cNvSpPr>
            <a:spLocks noGrp="1"/>
          </p:cNvSpPr>
          <p:nvPr>
            <p:ph type="sldNum" sz="quarter" idx="2"/>
          </p:nvPr>
        </p:nvSpPr>
        <p:spPr>
          <a:prstGeom prst="rect">
            <a:avLst/>
          </a:prstGeom>
        </p:spPr>
        <p:txBody>
          <a:bodyPr/>
          <a:lstStyle/>
          <a:p>
            <a:fld id="{86CB4B4D-7CA3-9044-876B-883B54F8677D}" type="slidenum">
              <a:rPr/>
              <a:t>‹#›</a:t>
            </a:fld>
            <a:endParaRPr/>
          </a:p>
        </p:txBody>
      </p:sp>
      <p:sp>
        <p:nvSpPr>
          <p:cNvPr id="4" name="Footer Placeholder 5"/>
          <p:cNvSpPr>
            <a:spLocks noGrp="1"/>
          </p:cNvSpPr>
          <p:nvPr>
            <p:ph type="ftr" sz="quarter" idx="3"/>
          </p:nvPr>
        </p:nvSpPr>
        <p:spPr>
          <a:xfrm>
            <a:off x="2791909" y="4767263"/>
            <a:ext cx="3528405" cy="274637"/>
          </a:xfrm>
          <a:prstGeom prst="rect">
            <a:avLst/>
          </a:prstGeom>
        </p:spPr>
        <p:txBody>
          <a:bodyPr vert="horz" lIns="91440" tIns="45720" rIns="91440" bIns="45720" rtlCol="0" anchor="ctr"/>
          <a:lstStyle>
            <a:lvl1pPr algn="ctr">
              <a:defRPr sz="1200">
                <a:solidFill>
                  <a:schemeClr val="tx1">
                    <a:tint val="75000"/>
                  </a:schemeClr>
                </a:solidFill>
                <a:latin typeface="Sackers Gothic Medium"/>
                <a:cs typeface="Sackers Gothic Medium"/>
              </a:defRPr>
            </a:lvl1pPr>
          </a:lstStyle>
          <a:p>
            <a:r>
              <a:rPr lang="en-US"/>
              <a:t>Payments Innovation Consulting</a:t>
            </a:r>
          </a:p>
        </p:txBody>
      </p:sp>
      <p:sp>
        <p:nvSpPr>
          <p:cNvPr id="5" name="Rectangle 4">
            <a:extLst>
              <a:ext uri="{FF2B5EF4-FFF2-40B4-BE49-F238E27FC236}">
                <a16:creationId xmlns:a16="http://schemas.microsoft.com/office/drawing/2014/main" id="{7F2B733E-CE5B-4169-92F8-DD3FFE799D8B}"/>
              </a:ext>
            </a:extLst>
          </p:cNvPr>
          <p:cNvSpPr/>
          <p:nvPr userDrawn="1"/>
        </p:nvSpPr>
        <p:spPr>
          <a:xfrm>
            <a:off x="681498" y="701837"/>
            <a:ext cx="3398363" cy="89554"/>
          </a:xfrm>
          <a:prstGeom prst="rect">
            <a:avLst/>
          </a:prstGeom>
          <a:solidFill>
            <a:schemeClr val="accent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Helvetica"/>
            </a:endParaRPr>
          </a:p>
        </p:txBody>
      </p:sp>
    </p:spTree>
    <p:extLst>
      <p:ext uri="{BB962C8B-B14F-4D97-AF65-F5344CB8AC3E}">
        <p14:creationId xmlns:p14="http://schemas.microsoft.com/office/powerpoint/2010/main" val="282285176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3" name="Shape 83"/>
          <p:cNvSpPr>
            <a:spLocks noGrp="1"/>
          </p:cNvSpPr>
          <p:nvPr>
            <p:ph type="title"/>
          </p:nvPr>
        </p:nvSpPr>
        <p:spPr>
          <a:xfrm>
            <a:off x="629841" y="342900"/>
            <a:ext cx="2949178" cy="1200150"/>
          </a:xfrm>
          <a:prstGeom prst="rect">
            <a:avLst/>
          </a:prstGeom>
        </p:spPr>
        <p:txBody>
          <a:bodyPr anchor="b">
            <a:normAutofit/>
          </a:bodyPr>
          <a:lstStyle>
            <a:lvl1pPr>
              <a:defRPr sz="2800"/>
            </a:lvl1pPr>
          </a:lstStyle>
          <a:p>
            <a:r>
              <a:rPr lang="en-GB"/>
              <a:t>Click to edit Master title style</a:t>
            </a:r>
            <a:endParaRPr dirty="0"/>
          </a:p>
        </p:txBody>
      </p:sp>
      <p:sp>
        <p:nvSpPr>
          <p:cNvPr id="84" name="Shape 84"/>
          <p:cNvSpPr>
            <a:spLocks noGrp="1"/>
          </p:cNvSpPr>
          <p:nvPr>
            <p:ph type="pic" sz="half" idx="13"/>
          </p:nvPr>
        </p:nvSpPr>
        <p:spPr>
          <a:xfrm>
            <a:off x="3887391" y="740568"/>
            <a:ext cx="4629152" cy="3655222"/>
          </a:xfrm>
          <a:prstGeom prst="rect">
            <a:avLst/>
          </a:prstGeom>
        </p:spPr>
        <p:txBody>
          <a:bodyPr lIns="91439" tIns="45719" rIns="91439" bIns="45719">
            <a:noAutofit/>
          </a:bodyPr>
          <a:lstStyle/>
          <a:p>
            <a:r>
              <a:rPr lang="en-GB"/>
              <a:t>Click icon to add picture</a:t>
            </a:r>
            <a:endParaRPr/>
          </a:p>
        </p:txBody>
      </p:sp>
      <p:sp>
        <p:nvSpPr>
          <p:cNvPr id="85" name="Shape 85"/>
          <p:cNvSpPr>
            <a:spLocks noGrp="1"/>
          </p:cNvSpPr>
          <p:nvPr>
            <p:ph type="body" sz="quarter" idx="1"/>
          </p:nvPr>
        </p:nvSpPr>
        <p:spPr>
          <a:xfrm>
            <a:off x="629841" y="1543050"/>
            <a:ext cx="2949178" cy="2858692"/>
          </a:xfrm>
          <a:prstGeom prst="rect">
            <a:avLst/>
          </a:prstGeom>
        </p:spPr>
        <p:txBody>
          <a:bodyPr>
            <a:normAutofit/>
          </a:bodyPr>
          <a:lstStyle>
            <a:lvl1pPr marL="0" indent="0">
              <a:lnSpc>
                <a:spcPct val="90000"/>
              </a:lnSpc>
              <a:buSzTx/>
              <a:buFontTx/>
              <a:buNone/>
              <a:defRPr sz="1600"/>
            </a:lvl1pPr>
            <a:lvl2pPr marL="0" indent="0">
              <a:lnSpc>
                <a:spcPct val="90000"/>
              </a:lnSpc>
              <a:buSzTx/>
              <a:buFontTx/>
              <a:buNone/>
              <a:defRPr sz="1600"/>
            </a:lvl2pPr>
            <a:lvl3pPr marL="0" indent="0">
              <a:lnSpc>
                <a:spcPct val="90000"/>
              </a:lnSpc>
              <a:buSzTx/>
              <a:buFontTx/>
              <a:buNone/>
              <a:defRPr sz="1600"/>
            </a:lvl3pPr>
            <a:lvl4pPr marL="0" indent="0">
              <a:lnSpc>
                <a:spcPct val="90000"/>
              </a:lnSpc>
              <a:buSzTx/>
              <a:buFontTx/>
              <a:buNone/>
              <a:defRPr sz="1600"/>
            </a:lvl4pPr>
            <a:lvl5pPr marL="0" indent="0">
              <a:lnSpc>
                <a:spcPct val="90000"/>
              </a:lnSpc>
              <a:buSzTx/>
              <a:buFontTx/>
              <a:buNone/>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86" name="Shape 86"/>
          <p:cNvSpPr>
            <a:spLocks noGrp="1"/>
          </p:cNvSpPr>
          <p:nvPr>
            <p:ph type="sldNum" sz="quarter" idx="2"/>
          </p:nvPr>
        </p:nvSpPr>
        <p:spPr>
          <a:prstGeom prst="rect">
            <a:avLst/>
          </a:prstGeom>
        </p:spPr>
        <p:txBody>
          <a:bodyPr/>
          <a:lstStyle/>
          <a:p>
            <a:fld id="{86CB4B4D-7CA3-9044-876B-883B54F8677D}" type="slidenum">
              <a:rPr/>
              <a:t>‹#›</a:t>
            </a:fld>
            <a:endParaRPr/>
          </a:p>
        </p:txBody>
      </p:sp>
      <p:sp>
        <p:nvSpPr>
          <p:cNvPr id="6" name="Footer Placeholder 5"/>
          <p:cNvSpPr>
            <a:spLocks noGrp="1"/>
          </p:cNvSpPr>
          <p:nvPr>
            <p:ph type="ftr" sz="quarter" idx="3"/>
          </p:nvPr>
        </p:nvSpPr>
        <p:spPr>
          <a:xfrm>
            <a:off x="2791909" y="4767263"/>
            <a:ext cx="3528405" cy="274637"/>
          </a:xfrm>
          <a:prstGeom prst="rect">
            <a:avLst/>
          </a:prstGeom>
        </p:spPr>
        <p:txBody>
          <a:bodyPr vert="horz" lIns="91440" tIns="45720" rIns="91440" bIns="45720" rtlCol="0" anchor="ctr"/>
          <a:lstStyle>
            <a:lvl1pPr algn="ctr">
              <a:defRPr sz="1200">
                <a:solidFill>
                  <a:schemeClr val="tx1">
                    <a:tint val="75000"/>
                  </a:schemeClr>
                </a:solidFill>
                <a:latin typeface="Sackers Gothic Medium"/>
                <a:cs typeface="Sackers Gothic Medium"/>
              </a:defRPr>
            </a:lvl1pPr>
          </a:lstStyle>
          <a:p>
            <a:r>
              <a:rPr lang="en-US"/>
              <a:t>Payments Innovation Consulting</a:t>
            </a:r>
          </a:p>
        </p:txBody>
      </p:sp>
      <p:sp>
        <p:nvSpPr>
          <p:cNvPr id="8" name="Rectangle 7">
            <a:extLst>
              <a:ext uri="{FF2B5EF4-FFF2-40B4-BE49-F238E27FC236}">
                <a16:creationId xmlns:a16="http://schemas.microsoft.com/office/drawing/2014/main" id="{73C9DB84-2E1D-1D99-8786-A0921C8E4A9B}"/>
              </a:ext>
            </a:extLst>
          </p:cNvPr>
          <p:cNvSpPr/>
          <p:nvPr userDrawn="1"/>
        </p:nvSpPr>
        <p:spPr>
          <a:xfrm>
            <a:off x="681499" y="1453496"/>
            <a:ext cx="2949178" cy="89554"/>
          </a:xfrm>
          <a:prstGeom prst="rect">
            <a:avLst/>
          </a:prstGeom>
          <a:solidFill>
            <a:schemeClr val="accent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Helvetica"/>
            </a:endParaRPr>
          </a:p>
        </p:txBody>
      </p:sp>
    </p:spTree>
    <p:extLst>
      <p:ext uri="{BB962C8B-B14F-4D97-AF65-F5344CB8AC3E}">
        <p14:creationId xmlns:p14="http://schemas.microsoft.com/office/powerpoint/2010/main" val="87624047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PIC Blank">
    <p:spTree>
      <p:nvGrpSpPr>
        <p:cNvPr id="1" name=""/>
        <p:cNvGrpSpPr/>
        <p:nvPr/>
      </p:nvGrpSpPr>
      <p:grpSpPr>
        <a:xfrm>
          <a:off x="0" y="0"/>
          <a:ext cx="0" cy="0"/>
          <a:chOff x="0" y="0"/>
          <a:chExt cx="0" cy="0"/>
        </a:xfrm>
      </p:grpSpPr>
      <p:sp>
        <p:nvSpPr>
          <p:cNvPr id="2" name="Shape 104">
            <a:extLst>
              <a:ext uri="{FF2B5EF4-FFF2-40B4-BE49-F238E27FC236}">
                <a16:creationId xmlns:a16="http://schemas.microsoft.com/office/drawing/2014/main" id="{9C814DA1-899D-19C4-7AD2-8F544C200E39}"/>
              </a:ext>
            </a:extLst>
          </p:cNvPr>
          <p:cNvSpPr>
            <a:spLocks noGrp="1"/>
          </p:cNvSpPr>
          <p:nvPr>
            <p:ph type="sldNum" sz="quarter" idx="2"/>
          </p:nvPr>
        </p:nvSpPr>
        <p:spPr>
          <a:xfrm>
            <a:off x="8291331" y="4794965"/>
            <a:ext cx="224020" cy="218439"/>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850813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r>
              <a:rPr dirty="0"/>
              <a:t>Title Text</a:t>
            </a:r>
          </a:p>
        </p:txBody>
      </p:sp>
      <p:sp>
        <p:nvSpPr>
          <p:cNvPr id="22" name="Shape 22"/>
          <p:cNvSpPr>
            <a:spLocks noGrp="1"/>
          </p:cNvSpPr>
          <p:nvPr>
            <p:ph type="body" idx="1"/>
          </p:nvPr>
        </p:nvSpPr>
        <p:spPr>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rPr/>
              <a:t>‹#›</a:t>
            </a:fld>
            <a:endParaRPr/>
          </a:p>
        </p:txBody>
      </p:sp>
      <p:sp>
        <p:nvSpPr>
          <p:cNvPr id="5" name="Footer Placeholder 5"/>
          <p:cNvSpPr>
            <a:spLocks noGrp="1"/>
          </p:cNvSpPr>
          <p:nvPr>
            <p:ph type="ftr" sz="quarter" idx="3"/>
          </p:nvPr>
        </p:nvSpPr>
        <p:spPr>
          <a:xfrm>
            <a:off x="2791909" y="4767263"/>
            <a:ext cx="3528405" cy="274637"/>
          </a:xfrm>
          <a:prstGeom prst="rect">
            <a:avLst/>
          </a:prstGeom>
        </p:spPr>
        <p:txBody>
          <a:bodyPr vert="horz" lIns="91440" tIns="45720" rIns="91440" bIns="45720" rtlCol="0" anchor="ctr"/>
          <a:lstStyle>
            <a:lvl1pPr algn="ctr">
              <a:defRPr sz="1200">
                <a:solidFill>
                  <a:schemeClr val="tx1">
                    <a:tint val="75000"/>
                  </a:schemeClr>
                </a:solidFill>
                <a:latin typeface="Sackers Gothic Medium"/>
                <a:cs typeface="Sackers Gothic Medium"/>
              </a:defRPr>
            </a:lvl1pPr>
          </a:lstStyle>
          <a:p>
            <a:r>
              <a:rPr lang="en-US"/>
              <a:t>Payments Innovation Consulting</a:t>
            </a:r>
          </a:p>
        </p:txBody>
      </p:sp>
      <p:sp>
        <p:nvSpPr>
          <p:cNvPr id="6" name="Rectangle 5">
            <a:extLst>
              <a:ext uri="{FF2B5EF4-FFF2-40B4-BE49-F238E27FC236}">
                <a16:creationId xmlns:a16="http://schemas.microsoft.com/office/drawing/2014/main" id="{EB062369-AD6C-42D5-9239-F8B6BF56C160}"/>
              </a:ext>
            </a:extLst>
          </p:cNvPr>
          <p:cNvSpPr/>
          <p:nvPr userDrawn="1"/>
        </p:nvSpPr>
        <p:spPr>
          <a:xfrm>
            <a:off x="681498" y="701837"/>
            <a:ext cx="3398363" cy="89554"/>
          </a:xfrm>
          <a:prstGeom prst="rect">
            <a:avLst/>
          </a:prstGeom>
          <a:solidFill>
            <a:schemeClr val="accent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Helvetica"/>
            </a:endParaRPr>
          </a:p>
        </p:txBody>
      </p:sp>
    </p:spTree>
    <p:extLst>
      <p:ext uri="{BB962C8B-B14F-4D97-AF65-F5344CB8AC3E}">
        <p14:creationId xmlns:p14="http://schemas.microsoft.com/office/powerpoint/2010/main" val="60184069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6" name="Shape 66"/>
          <p:cNvSpPr>
            <a:spLocks noGrp="1"/>
          </p:cNvSpPr>
          <p:nvPr>
            <p:ph type="sldNum" sz="quarter" idx="2"/>
          </p:nvPr>
        </p:nvSpPr>
        <p:spPr>
          <a:prstGeom prst="rect">
            <a:avLst/>
          </a:prstGeom>
        </p:spPr>
        <p:txBody>
          <a:bodyPr/>
          <a:lstStyle/>
          <a:p>
            <a:fld id="{86CB4B4D-7CA3-9044-876B-883B54F8677D}" type="slidenum">
              <a:rPr/>
              <a:t>‹#›</a:t>
            </a:fld>
            <a:endParaRPr/>
          </a:p>
        </p:txBody>
      </p:sp>
      <p:sp>
        <p:nvSpPr>
          <p:cNvPr id="3" name="Footer Placeholder 5"/>
          <p:cNvSpPr>
            <a:spLocks noGrp="1"/>
          </p:cNvSpPr>
          <p:nvPr>
            <p:ph type="ftr" sz="quarter" idx="3"/>
          </p:nvPr>
        </p:nvSpPr>
        <p:spPr>
          <a:xfrm>
            <a:off x="2791909" y="4767263"/>
            <a:ext cx="3528405" cy="274637"/>
          </a:xfrm>
          <a:prstGeom prst="rect">
            <a:avLst/>
          </a:prstGeom>
        </p:spPr>
        <p:txBody>
          <a:bodyPr vert="horz" lIns="91440" tIns="45720" rIns="91440" bIns="45720" rtlCol="0" anchor="ctr"/>
          <a:lstStyle>
            <a:lvl1pPr algn="ctr">
              <a:defRPr sz="1200">
                <a:solidFill>
                  <a:schemeClr val="tx1">
                    <a:tint val="75000"/>
                  </a:schemeClr>
                </a:solidFill>
                <a:latin typeface="Sackers Gothic Medium"/>
                <a:cs typeface="Sackers Gothic Medium"/>
              </a:defRPr>
            </a:lvl1pPr>
          </a:lstStyle>
          <a:p>
            <a:r>
              <a:rPr lang="en-US"/>
              <a:t>Payments Innovation Consulting</a:t>
            </a:r>
          </a:p>
        </p:txBody>
      </p:sp>
    </p:spTree>
    <p:extLst>
      <p:ext uri="{BB962C8B-B14F-4D97-AF65-F5344CB8AC3E}">
        <p14:creationId xmlns:p14="http://schemas.microsoft.com/office/powerpoint/2010/main" val="1394337795"/>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a:spLocks noGrp="1"/>
          </p:cNvSpPr>
          <p:nvPr>
            <p:ph type="title"/>
          </p:nvPr>
        </p:nvSpPr>
        <p:spPr>
          <a:xfrm>
            <a:off x="628650" y="273842"/>
            <a:ext cx="7886700" cy="569717"/>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nchor="ctr">
            <a:normAutofit/>
          </a:bodyPr>
          <a:lstStyle/>
          <a:p>
            <a:r>
              <a:rPr dirty="0"/>
              <a:t>Title Text</a:t>
            </a:r>
          </a:p>
        </p:txBody>
      </p:sp>
      <p:sp>
        <p:nvSpPr>
          <p:cNvPr id="4" name="Shape 4"/>
          <p:cNvSpPr>
            <a:spLocks noGrp="1"/>
          </p:cNvSpPr>
          <p:nvPr>
            <p:ph type="body" idx="1"/>
          </p:nvPr>
        </p:nvSpPr>
        <p:spPr>
          <a:xfrm>
            <a:off x="628650" y="1369219"/>
            <a:ext cx="7886700" cy="3263504"/>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5" name="Shape 5"/>
          <p:cNvSpPr>
            <a:spLocks noGrp="1"/>
          </p:cNvSpPr>
          <p:nvPr>
            <p:ph type="sldNum" sz="quarter" idx="2"/>
          </p:nvPr>
        </p:nvSpPr>
        <p:spPr>
          <a:xfrm>
            <a:off x="8291331" y="4794965"/>
            <a:ext cx="224020" cy="218439"/>
          </a:xfrm>
          <a:prstGeom prst="rect">
            <a:avLst/>
          </a:prstGeom>
          <a:ln w="12700">
            <a:miter lim="400000"/>
          </a:ln>
        </p:spPr>
        <p:txBody>
          <a:bodyPr wrap="none" lIns="45718" tIns="45718" rIns="45718" bIns="45718" anchor="ctr">
            <a:spAutoFit/>
          </a:bodyPr>
          <a:lstStyle>
            <a:lvl1pPr algn="r">
              <a:defRPr sz="900">
                <a:solidFill>
                  <a:srgbClr val="888888"/>
                </a:solidFill>
                <a:latin typeface="+mn-lt"/>
                <a:ea typeface="+mn-ea"/>
                <a:cs typeface="+mn-cs"/>
                <a:sym typeface="Calibri"/>
              </a:defRPr>
            </a:lvl1pPr>
          </a:lstStyle>
          <a:p>
            <a:fld id="{86CB4B4D-7CA3-9044-876B-883B54F8677D}" type="slidenum">
              <a:rPr/>
              <a:t>‹#›</a:t>
            </a:fld>
            <a:endParaRPr/>
          </a:p>
        </p:txBody>
      </p:sp>
      <p:sp>
        <p:nvSpPr>
          <p:cNvPr id="6" name="Footer Placeholder 5"/>
          <p:cNvSpPr>
            <a:spLocks noGrp="1"/>
          </p:cNvSpPr>
          <p:nvPr>
            <p:ph type="ftr" sz="quarter" idx="3"/>
          </p:nvPr>
        </p:nvSpPr>
        <p:spPr>
          <a:xfrm>
            <a:off x="2791909" y="4767263"/>
            <a:ext cx="3528405" cy="274637"/>
          </a:xfrm>
          <a:prstGeom prst="rect">
            <a:avLst/>
          </a:prstGeom>
        </p:spPr>
        <p:txBody>
          <a:bodyPr vert="horz" lIns="91440" tIns="45720" rIns="91440" bIns="45720" rtlCol="0" anchor="ctr"/>
          <a:lstStyle>
            <a:lvl1pPr algn="ctr">
              <a:defRPr sz="1200">
                <a:solidFill>
                  <a:schemeClr val="tx1">
                    <a:tint val="75000"/>
                  </a:schemeClr>
                </a:solidFill>
                <a:latin typeface="Sackers Gothic Medium"/>
                <a:cs typeface="Sackers Gothic Medium"/>
              </a:defRPr>
            </a:lvl1pPr>
          </a:lstStyle>
          <a:p>
            <a:r>
              <a:rPr lang="en-US"/>
              <a:t>Payments Innovation Consulting</a:t>
            </a:r>
          </a:p>
        </p:txBody>
      </p:sp>
    </p:spTree>
    <p:extLst>
      <p:ext uri="{BB962C8B-B14F-4D97-AF65-F5344CB8AC3E}">
        <p14:creationId xmlns:p14="http://schemas.microsoft.com/office/powerpoint/2010/main" val="1036114439"/>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670" r:id="rId3"/>
    <p:sldLayoutId id="2147483674" r:id="rId4"/>
    <p:sldLayoutId id="2147483676" r:id="rId5"/>
    <p:sldLayoutId id="2147483677" r:id="rId6"/>
  </p:sldLayoutIdLst>
  <p:transition spd="med"/>
  <p:hf hdr="0" dt="0"/>
  <p:txStyles>
    <p:titleStyle>
      <a:lvl1pPr marL="0" marR="0" indent="0" algn="l" defTabSz="685800" rtl="0" eaLnBrk="1" latinLnBrk="0" hangingPunct="1">
        <a:lnSpc>
          <a:spcPct val="90000"/>
        </a:lnSpc>
        <a:spcBef>
          <a:spcPts val="0"/>
        </a:spcBef>
        <a:spcAft>
          <a:spcPts val="0"/>
        </a:spcAft>
        <a:buClrTx/>
        <a:buSzTx/>
        <a:buFontTx/>
        <a:buNone/>
        <a:tabLst/>
        <a:defRPr sz="2800" b="0" i="0" u="none" strike="noStrike" cap="none" spc="0" baseline="0">
          <a:ln>
            <a:noFill/>
          </a:ln>
          <a:solidFill>
            <a:srgbClr val="000000"/>
          </a:solidFill>
          <a:uFillTx/>
          <a:latin typeface="Brandon Grotesque Black" panose="020B0A03020203060202" pitchFamily="34" charset="0"/>
          <a:ea typeface="Brandon Grotesque Black" panose="020B0A03020203060202" pitchFamily="34" charset="0"/>
          <a:cs typeface="Calibri Light"/>
          <a:sym typeface="Calibri Light"/>
        </a:defRPr>
      </a:lvl1pPr>
      <a:lvl2pPr marL="0" marR="0" indent="0" algn="l" defTabSz="685800" rtl="0" eaLnBrk="1" latinLnBrk="0" hangingPunct="1">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685800" rtl="0" eaLnBrk="1" latinLnBrk="0" hangingPunct="1">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685800" rtl="0" eaLnBrk="1" latinLnBrk="0" hangingPunct="1">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685800" rtl="0" eaLnBrk="1" latinLnBrk="0" hangingPunct="1">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685800" rtl="0" eaLnBrk="1" latinLnBrk="0" hangingPunct="1">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685800" rtl="0" eaLnBrk="1" latinLnBrk="0" hangingPunct="1">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685800" rtl="0" eaLnBrk="1" latinLnBrk="0" hangingPunct="1">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685800" rtl="0" eaLnBrk="1" latinLnBrk="0" hangingPunct="1">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9pPr>
    </p:titleStyle>
    <p:bodyStyle>
      <a:lvl1pPr marL="138792" marR="0" indent="-138792" algn="l" defTabSz="685800" rtl="0" eaLnBrk="1" latinLnBrk="0" hangingPunct="1">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1pPr>
      <a:lvl2pPr marL="504825" marR="0" indent="-161925" algn="l" defTabSz="685800" rtl="0" eaLnBrk="1" latinLnBrk="0" hangingPunct="1">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2pPr>
      <a:lvl3pPr marL="880110" marR="0" indent="-194309" algn="l" defTabSz="685800" rtl="0" eaLnBrk="1" latinLnBrk="0" hangingPunct="1">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3pPr>
      <a:lvl4pPr marL="1252902" marR="0" indent="-224202" algn="l" defTabSz="685800" rtl="0" eaLnBrk="1" latinLnBrk="0" hangingPunct="1">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4pPr>
      <a:lvl5pPr marL="1595802" marR="0" indent="-224202" algn="l" defTabSz="685800" rtl="0" eaLnBrk="1" latinLnBrk="0" hangingPunct="1">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5pPr>
      <a:lvl6pPr marL="19387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p:bodyStyle>
    <p:otherStyle>
      <a:lvl1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1pPr>
      <a:lvl2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2pPr>
      <a:lvl3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3pPr>
      <a:lvl4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4pPr>
      <a:lvl5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5pPr>
      <a:lvl6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6pPr>
      <a:lvl7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7pPr>
      <a:lvl8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8pPr>
      <a:lvl9pPr marL="0" marR="0" indent="0" algn="r" defTabSz="914400" rtl="0" eaLnBrk="1" latinLnBrk="0" hangingPunct="1">
        <a:lnSpc>
          <a:spcPct val="100000"/>
        </a:lnSpc>
        <a:spcBef>
          <a:spcPts val="0"/>
        </a:spcBef>
        <a:spcAft>
          <a:spcPts val="0"/>
        </a:spcAft>
        <a:buClrTx/>
        <a:buSzTx/>
        <a:buFontTx/>
        <a:buNone/>
        <a:tabLst/>
        <a:defRPr sz="9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C8DF4-C7A9-AE4E-B5EB-0CE5A62C098F}"/>
              </a:ext>
            </a:extLst>
          </p:cNvPr>
          <p:cNvSpPr>
            <a:spLocks noGrp="1"/>
          </p:cNvSpPr>
          <p:nvPr>
            <p:ph type="title"/>
          </p:nvPr>
        </p:nvSpPr>
        <p:spPr/>
        <p:txBody>
          <a:bodyPr>
            <a:normAutofit/>
          </a:bodyPr>
          <a:lstStyle/>
          <a:p>
            <a:br>
              <a:rPr lang="en-GB" noProof="0" dirty="0"/>
            </a:br>
            <a:br>
              <a:rPr lang="en-GB" noProof="0" dirty="0"/>
            </a:br>
            <a:r>
              <a:rPr lang="en-GB" noProof="0" dirty="0"/>
              <a:t>Kick-Off Tokenised Money Workshop</a:t>
            </a:r>
          </a:p>
        </p:txBody>
      </p:sp>
      <p:sp>
        <p:nvSpPr>
          <p:cNvPr id="3" name="Text Placeholder 2">
            <a:extLst>
              <a:ext uri="{FF2B5EF4-FFF2-40B4-BE49-F238E27FC236}">
                <a16:creationId xmlns:a16="http://schemas.microsoft.com/office/drawing/2014/main" id="{BE3E98B8-51CC-514F-BD35-F9CD642A8E60}"/>
              </a:ext>
            </a:extLst>
          </p:cNvPr>
          <p:cNvSpPr>
            <a:spLocks noGrp="1"/>
          </p:cNvSpPr>
          <p:nvPr>
            <p:ph type="body" sz="quarter" idx="1"/>
          </p:nvPr>
        </p:nvSpPr>
        <p:spPr>
          <a:xfrm>
            <a:off x="1143000" y="2701526"/>
            <a:ext cx="6858000" cy="1687594"/>
          </a:xfrm>
        </p:spPr>
        <p:txBody>
          <a:bodyPr/>
          <a:lstStyle/>
          <a:p>
            <a:endParaRPr lang="en-GB" noProof="0" dirty="0"/>
          </a:p>
          <a:p>
            <a:r>
              <a:rPr lang="en-GB" noProof="0" dirty="0"/>
              <a:t>Michael Salmony</a:t>
            </a:r>
          </a:p>
          <a:p>
            <a:r>
              <a:rPr lang="en-GB" noProof="0" dirty="0"/>
              <a:t>Frankfurt</a:t>
            </a:r>
          </a:p>
          <a:p>
            <a:r>
              <a:rPr lang="en-GB" dirty="0"/>
              <a:t>27</a:t>
            </a:r>
            <a:r>
              <a:rPr lang="en-GB" noProof="0" dirty="0" err="1"/>
              <a:t>th</a:t>
            </a:r>
            <a:r>
              <a:rPr lang="en-GB" noProof="0" dirty="0"/>
              <a:t> May 2026</a:t>
            </a:r>
            <a:br>
              <a:rPr lang="en-GB" noProof="0" dirty="0"/>
            </a:br>
            <a:br>
              <a:rPr lang="en-GB" noProof="0" dirty="0"/>
            </a:br>
            <a:endParaRPr lang="en-GB" noProof="0" dirty="0"/>
          </a:p>
        </p:txBody>
      </p:sp>
      <p:pic>
        <p:nvPicPr>
          <p:cNvPr id="8" name="Picture 7">
            <a:extLst>
              <a:ext uri="{FF2B5EF4-FFF2-40B4-BE49-F238E27FC236}">
                <a16:creationId xmlns:a16="http://schemas.microsoft.com/office/drawing/2014/main" id="{4ADC7613-46A3-C444-93F2-8BFD2BC01CC5}"/>
              </a:ext>
            </a:extLst>
          </p:cNvPr>
          <p:cNvPicPr>
            <a:picLocks noChangeAspect="1"/>
          </p:cNvPicPr>
          <p:nvPr/>
        </p:nvPicPr>
        <p:blipFill>
          <a:blip r:embed="rId3"/>
          <a:stretch>
            <a:fillRect/>
          </a:stretch>
        </p:blipFill>
        <p:spPr>
          <a:xfrm>
            <a:off x="7990245" y="253874"/>
            <a:ext cx="826192" cy="459332"/>
          </a:xfrm>
          <a:prstGeom prst="rect">
            <a:avLst/>
          </a:prstGeom>
        </p:spPr>
      </p:pic>
      <p:pic>
        <p:nvPicPr>
          <p:cNvPr id="4" name="Picture 3">
            <a:extLst>
              <a:ext uri="{FF2B5EF4-FFF2-40B4-BE49-F238E27FC236}">
                <a16:creationId xmlns:a16="http://schemas.microsoft.com/office/drawing/2014/main" id="{A8461AF4-3B37-6176-3196-F4C25A983CE3}"/>
              </a:ext>
            </a:extLst>
          </p:cNvPr>
          <p:cNvPicPr>
            <a:picLocks noChangeAspect="1"/>
          </p:cNvPicPr>
          <p:nvPr/>
        </p:nvPicPr>
        <p:blipFill>
          <a:blip r:embed="rId4"/>
          <a:stretch>
            <a:fillRect/>
          </a:stretch>
        </p:blipFill>
        <p:spPr>
          <a:xfrm>
            <a:off x="193813" y="231901"/>
            <a:ext cx="844739" cy="481305"/>
          </a:xfrm>
          <a:prstGeom prst="rect">
            <a:avLst/>
          </a:prstGeom>
        </p:spPr>
      </p:pic>
    </p:spTree>
    <p:extLst>
      <p:ext uri="{BB962C8B-B14F-4D97-AF65-F5344CB8AC3E}">
        <p14:creationId xmlns:p14="http://schemas.microsoft.com/office/powerpoint/2010/main" val="351674078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46F0-4CCD-59C3-11ED-9D0735247D19}"/>
              </a:ext>
            </a:extLst>
          </p:cNvPr>
          <p:cNvSpPr>
            <a:spLocks noGrp="1"/>
          </p:cNvSpPr>
          <p:nvPr>
            <p:ph type="title"/>
          </p:nvPr>
        </p:nvSpPr>
        <p:spPr/>
        <p:txBody>
          <a:bodyPr/>
          <a:lstStyle/>
          <a:p>
            <a:r>
              <a:rPr lang="en-GB" dirty="0"/>
              <a:t>2024 ⇢ </a:t>
            </a:r>
            <a:r>
              <a:rPr lang="en-GB" dirty="0" err="1"/>
              <a:t>heute</a:t>
            </a:r>
            <a:endParaRPr lang="en-GB" dirty="0"/>
          </a:p>
        </p:txBody>
      </p:sp>
      <p:sp>
        <p:nvSpPr>
          <p:cNvPr id="3" name="Slide Number Placeholder 2">
            <a:extLst>
              <a:ext uri="{FF2B5EF4-FFF2-40B4-BE49-F238E27FC236}">
                <a16:creationId xmlns:a16="http://schemas.microsoft.com/office/drawing/2014/main" id="{2705CADC-DB6E-66ED-365C-F6F12FF69052}"/>
              </a:ext>
            </a:extLst>
          </p:cNvPr>
          <p:cNvSpPr>
            <a:spLocks noGrp="1"/>
          </p:cNvSpPr>
          <p:nvPr>
            <p:ph type="sldNum" sz="quarter" idx="2"/>
          </p:nvPr>
        </p:nvSpPr>
        <p:spPr/>
        <p:txBody>
          <a:bodyPr/>
          <a:lstStyle/>
          <a:p>
            <a:fld id="{86CB4B4D-7CA3-9044-876B-883B54F8677D}" type="slidenum">
              <a:rPr lang="en-DE" smtClean="0"/>
              <a:t>2</a:t>
            </a:fld>
            <a:endParaRPr lang="en-DE"/>
          </a:p>
        </p:txBody>
      </p:sp>
      <p:sp>
        <p:nvSpPr>
          <p:cNvPr id="4" name="Footer Placeholder 3">
            <a:extLst>
              <a:ext uri="{FF2B5EF4-FFF2-40B4-BE49-F238E27FC236}">
                <a16:creationId xmlns:a16="http://schemas.microsoft.com/office/drawing/2014/main" id="{840E3CF8-2BEF-DFFF-2624-23DB7F31F05C}"/>
              </a:ext>
            </a:extLst>
          </p:cNvPr>
          <p:cNvSpPr>
            <a:spLocks noGrp="1"/>
          </p:cNvSpPr>
          <p:nvPr>
            <p:ph type="ftr" sz="quarter" idx="3"/>
          </p:nvPr>
        </p:nvSpPr>
        <p:spPr/>
        <p:txBody>
          <a:bodyPr/>
          <a:lstStyle/>
          <a:p>
            <a:r>
              <a:rPr lang="en-US"/>
              <a:t>Payments Innovation Consulting</a:t>
            </a:r>
          </a:p>
        </p:txBody>
      </p:sp>
      <p:pic>
        <p:nvPicPr>
          <p:cNvPr id="5" name="Picture 4">
            <a:extLst>
              <a:ext uri="{FF2B5EF4-FFF2-40B4-BE49-F238E27FC236}">
                <a16:creationId xmlns:a16="http://schemas.microsoft.com/office/drawing/2014/main" id="{3736CD4B-53B5-A453-A1E6-7062084E8BCD}"/>
              </a:ext>
            </a:extLst>
          </p:cNvPr>
          <p:cNvPicPr>
            <a:picLocks noChangeAspect="1"/>
          </p:cNvPicPr>
          <p:nvPr/>
        </p:nvPicPr>
        <p:blipFill>
          <a:blip r:embed="rId2"/>
          <a:stretch>
            <a:fillRect/>
          </a:stretch>
        </p:blipFill>
        <p:spPr>
          <a:xfrm>
            <a:off x="1126509" y="1001403"/>
            <a:ext cx="3236773" cy="3608016"/>
          </a:xfrm>
          <a:prstGeom prst="rect">
            <a:avLst/>
          </a:prstGeom>
        </p:spPr>
      </p:pic>
      <p:pic>
        <p:nvPicPr>
          <p:cNvPr id="6" name="Picture 5">
            <a:extLst>
              <a:ext uri="{FF2B5EF4-FFF2-40B4-BE49-F238E27FC236}">
                <a16:creationId xmlns:a16="http://schemas.microsoft.com/office/drawing/2014/main" id="{B43EC247-7E95-B8A4-ADA9-C8F5A19F664F}"/>
              </a:ext>
            </a:extLst>
          </p:cNvPr>
          <p:cNvPicPr>
            <a:picLocks noChangeAspect="1"/>
          </p:cNvPicPr>
          <p:nvPr/>
        </p:nvPicPr>
        <p:blipFill>
          <a:blip r:embed="rId3"/>
          <a:stretch>
            <a:fillRect/>
          </a:stretch>
        </p:blipFill>
        <p:spPr>
          <a:xfrm>
            <a:off x="5976231" y="558700"/>
            <a:ext cx="2041260" cy="3921369"/>
          </a:xfrm>
          <a:prstGeom prst="rect">
            <a:avLst/>
          </a:prstGeom>
        </p:spPr>
      </p:pic>
    </p:spTree>
    <p:extLst>
      <p:ext uri="{BB962C8B-B14F-4D97-AF65-F5344CB8AC3E}">
        <p14:creationId xmlns:p14="http://schemas.microsoft.com/office/powerpoint/2010/main" val="19208128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78F5-6A7E-E1DD-7CA0-0BF99070A75D}"/>
              </a:ext>
            </a:extLst>
          </p:cNvPr>
          <p:cNvSpPr>
            <a:spLocks noGrp="1"/>
          </p:cNvSpPr>
          <p:nvPr>
            <p:ph type="title"/>
          </p:nvPr>
        </p:nvSpPr>
        <p:spPr>
          <a:xfrm>
            <a:off x="628650" y="273842"/>
            <a:ext cx="7886700" cy="569717"/>
          </a:xfrm>
        </p:spPr>
        <p:txBody>
          <a:bodyPr>
            <a:normAutofit/>
          </a:bodyPr>
          <a:lstStyle/>
          <a:p>
            <a:r>
              <a:rPr lang="en-US" dirty="0"/>
              <a:t>Tokenisation of Money - a good idea</a:t>
            </a:r>
          </a:p>
        </p:txBody>
      </p:sp>
      <p:sp>
        <p:nvSpPr>
          <p:cNvPr id="3" name="Slide Number Placeholder 2">
            <a:extLst>
              <a:ext uri="{FF2B5EF4-FFF2-40B4-BE49-F238E27FC236}">
                <a16:creationId xmlns:a16="http://schemas.microsoft.com/office/drawing/2014/main" id="{AD66B231-7A74-A406-D59F-FC17CB425C78}"/>
              </a:ext>
            </a:extLst>
          </p:cNvPr>
          <p:cNvSpPr>
            <a:spLocks noGrp="1"/>
          </p:cNvSpPr>
          <p:nvPr>
            <p:ph type="sldNum" sz="quarter" idx="2"/>
          </p:nvPr>
        </p:nvSpPr>
        <p:spPr/>
        <p:txBody>
          <a:bodyPr/>
          <a:lstStyle/>
          <a:p>
            <a:fld id="{86CB4B4D-7CA3-9044-876B-883B54F8677D}" type="slidenum">
              <a:rPr lang="en-UA" smtClean="0"/>
              <a:t>3</a:t>
            </a:fld>
            <a:endParaRPr lang="en-UA"/>
          </a:p>
        </p:txBody>
      </p:sp>
      <p:sp>
        <p:nvSpPr>
          <p:cNvPr id="4" name="Footer Placeholder 3">
            <a:extLst>
              <a:ext uri="{FF2B5EF4-FFF2-40B4-BE49-F238E27FC236}">
                <a16:creationId xmlns:a16="http://schemas.microsoft.com/office/drawing/2014/main" id="{77E8E733-0D09-D1F3-F3B3-7419D68EEA18}"/>
              </a:ext>
            </a:extLst>
          </p:cNvPr>
          <p:cNvSpPr>
            <a:spLocks noGrp="1"/>
          </p:cNvSpPr>
          <p:nvPr>
            <p:ph type="ftr" sz="quarter" idx="3"/>
          </p:nvPr>
        </p:nvSpPr>
        <p:spPr/>
        <p:txBody>
          <a:bodyPr/>
          <a:lstStyle/>
          <a:p>
            <a:r>
              <a:rPr lang="en-US" dirty="0"/>
              <a:t>Payments Innovation Consulting</a:t>
            </a:r>
          </a:p>
        </p:txBody>
      </p:sp>
      <p:pic>
        <p:nvPicPr>
          <p:cNvPr id="38" name="Picture 37">
            <a:extLst>
              <a:ext uri="{FF2B5EF4-FFF2-40B4-BE49-F238E27FC236}">
                <a16:creationId xmlns:a16="http://schemas.microsoft.com/office/drawing/2014/main" id="{A0B6F364-8F3F-41B1-54B8-5CE18242D007}"/>
              </a:ext>
            </a:extLst>
          </p:cNvPr>
          <p:cNvPicPr>
            <a:picLocks noChangeAspect="1"/>
          </p:cNvPicPr>
          <p:nvPr/>
        </p:nvPicPr>
        <p:blipFill>
          <a:blip r:embed="rId3"/>
          <a:stretch>
            <a:fillRect/>
          </a:stretch>
        </p:blipFill>
        <p:spPr>
          <a:xfrm>
            <a:off x="6302319" y="3348662"/>
            <a:ext cx="406400" cy="355600"/>
          </a:xfrm>
          <a:prstGeom prst="rect">
            <a:avLst/>
          </a:prstGeom>
        </p:spPr>
      </p:pic>
      <p:sp>
        <p:nvSpPr>
          <p:cNvPr id="39" name="TextBox 38">
            <a:extLst>
              <a:ext uri="{FF2B5EF4-FFF2-40B4-BE49-F238E27FC236}">
                <a16:creationId xmlns:a16="http://schemas.microsoft.com/office/drawing/2014/main" id="{9B097D03-89E9-A5F8-3693-5DF2E580B26D}"/>
              </a:ext>
            </a:extLst>
          </p:cNvPr>
          <p:cNvSpPr txBox="1"/>
          <p:nvPr/>
        </p:nvSpPr>
        <p:spPr>
          <a:xfrm>
            <a:off x="7502215" y="4080297"/>
            <a:ext cx="0" cy="0"/>
          </a:xfrm>
          <a:prstGeom prst="rect">
            <a:avLst/>
          </a:prstGeom>
        </p:spPr>
        <p:txBody>
          <a:bodyPr vert="horz" wrap="none" lIns="0" tIns="0" rIns="0" bIns="0" rtlCol="0">
            <a:noAutofit/>
          </a:bodyPr>
          <a:lstStyle/>
          <a:p>
            <a:pPr marL="0" indent="0" algn="ctr">
              <a:buFont typeface="Arial" panose="020B0604020202020204" pitchFamily="34" charset="0"/>
              <a:buNone/>
            </a:pPr>
            <a:endParaRPr lang="en-GB" sz="1400" b="1" dirty="0"/>
          </a:p>
        </p:txBody>
      </p:sp>
      <p:pic>
        <p:nvPicPr>
          <p:cNvPr id="40" name="Picture 39">
            <a:extLst>
              <a:ext uri="{FF2B5EF4-FFF2-40B4-BE49-F238E27FC236}">
                <a16:creationId xmlns:a16="http://schemas.microsoft.com/office/drawing/2014/main" id="{A4B37FD8-1DC8-4DCF-F664-4FFF1E92EC30}"/>
              </a:ext>
            </a:extLst>
          </p:cNvPr>
          <p:cNvPicPr>
            <a:picLocks noChangeAspect="1"/>
          </p:cNvPicPr>
          <p:nvPr/>
        </p:nvPicPr>
        <p:blipFill>
          <a:blip r:embed="rId4"/>
          <a:stretch>
            <a:fillRect/>
          </a:stretch>
        </p:blipFill>
        <p:spPr>
          <a:xfrm>
            <a:off x="7776923" y="3361362"/>
            <a:ext cx="381000" cy="342900"/>
          </a:xfrm>
          <a:prstGeom prst="rect">
            <a:avLst/>
          </a:prstGeom>
        </p:spPr>
      </p:pic>
      <p:cxnSp>
        <p:nvCxnSpPr>
          <p:cNvPr id="41" name="Curved Connector 40">
            <a:extLst>
              <a:ext uri="{FF2B5EF4-FFF2-40B4-BE49-F238E27FC236}">
                <a16:creationId xmlns:a16="http://schemas.microsoft.com/office/drawing/2014/main" id="{EAD40D71-060E-8683-2643-05E8BC06513D}"/>
              </a:ext>
            </a:extLst>
          </p:cNvPr>
          <p:cNvCxnSpPr>
            <a:cxnSpLocks/>
          </p:cNvCxnSpPr>
          <p:nvPr/>
        </p:nvCxnSpPr>
        <p:spPr>
          <a:xfrm>
            <a:off x="6818583" y="3567463"/>
            <a:ext cx="847127" cy="12700"/>
          </a:xfrm>
          <a:prstGeom prst="curvedConnector3">
            <a:avLst>
              <a:gd name="adj1" fmla="val 50000"/>
            </a:avLst>
          </a:prstGeom>
          <a:noFill/>
          <a:ln w="25400" cap="flat">
            <a:solidFill>
              <a:schemeClr val="accent1"/>
            </a:solidFill>
            <a:prstDash val="solid"/>
            <a:round/>
            <a:tailEnd type="triangle"/>
          </a:ln>
          <a:effectLst/>
          <a:sp3d/>
        </p:spPr>
        <p:style>
          <a:lnRef idx="0">
            <a:scrgbClr r="0" g="0" b="0"/>
          </a:lnRef>
          <a:fillRef idx="0">
            <a:scrgbClr r="0" g="0" b="0"/>
          </a:fillRef>
          <a:effectRef idx="0">
            <a:scrgbClr r="0" g="0" b="0"/>
          </a:effectRef>
          <a:fontRef idx="none"/>
        </p:style>
      </p:cxnSp>
      <p:sp>
        <p:nvSpPr>
          <p:cNvPr id="42" name="Text Placeholder 2">
            <a:extLst>
              <a:ext uri="{FF2B5EF4-FFF2-40B4-BE49-F238E27FC236}">
                <a16:creationId xmlns:a16="http://schemas.microsoft.com/office/drawing/2014/main" id="{E2FA9118-D899-E752-7523-38E706D5D710}"/>
              </a:ext>
            </a:extLst>
          </p:cNvPr>
          <p:cNvSpPr txBox="1">
            <a:spLocks/>
          </p:cNvSpPr>
          <p:nvPr/>
        </p:nvSpPr>
        <p:spPr>
          <a:xfrm>
            <a:off x="6954510" y="3246990"/>
            <a:ext cx="766064" cy="307773"/>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lvl1pPr marL="171450" marR="0" indent="-171450"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1pPr>
            <a:lvl2pPr marL="538842" marR="0" indent="-195942"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2pPr>
            <a:lvl3pPr marL="914400" marR="0" indent="-228600"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3pPr>
            <a:lvl4pPr marL="1303019" marR="0" indent="-274319"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4pPr>
            <a:lvl5pPr marL="1645920" marR="0" indent="-274319"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5pPr>
            <a:lvl6pPr marL="19387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a:lstStyle>
          <a:p>
            <a:pPr marL="0" indent="0">
              <a:lnSpc>
                <a:spcPct val="100000"/>
              </a:lnSpc>
              <a:spcBef>
                <a:spcPts val="1500"/>
              </a:spcBef>
              <a:buNone/>
            </a:pPr>
            <a:r>
              <a:rPr lang="en-US" b="1" dirty="0"/>
              <a:t>Money</a:t>
            </a:r>
          </a:p>
        </p:txBody>
      </p:sp>
      <p:sp>
        <p:nvSpPr>
          <p:cNvPr id="46" name="Text Placeholder 2">
            <a:extLst>
              <a:ext uri="{FF2B5EF4-FFF2-40B4-BE49-F238E27FC236}">
                <a16:creationId xmlns:a16="http://schemas.microsoft.com/office/drawing/2014/main" id="{1111F5FD-DD02-3088-CC87-4DDD7AD7CDD7}"/>
              </a:ext>
            </a:extLst>
          </p:cNvPr>
          <p:cNvSpPr txBox="1">
            <a:spLocks/>
          </p:cNvSpPr>
          <p:nvPr/>
        </p:nvSpPr>
        <p:spPr>
          <a:xfrm>
            <a:off x="554477" y="1771805"/>
            <a:ext cx="1105558" cy="931020"/>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lvl1pPr marL="171450" marR="0" indent="-171450"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1pPr>
            <a:lvl2pPr marL="538842" marR="0" indent="-195942"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2pPr>
            <a:lvl3pPr marL="914400" marR="0" indent="-228600"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3pPr>
            <a:lvl4pPr marL="1303019" marR="0" indent="-274319"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4pPr>
            <a:lvl5pPr marL="1645920" marR="0" indent="-274319"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5pPr>
            <a:lvl6pPr marL="19387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a:lstStyle>
          <a:p>
            <a:pPr marL="0" indent="0">
              <a:lnSpc>
                <a:spcPct val="100000"/>
              </a:lnSpc>
              <a:spcBef>
                <a:spcPts val="1500"/>
              </a:spcBef>
              <a:buNone/>
            </a:pPr>
            <a:r>
              <a:rPr lang="en-US" b="1" dirty="0"/>
              <a:t>Today</a:t>
            </a:r>
          </a:p>
          <a:p>
            <a:pPr marL="0" indent="0">
              <a:lnSpc>
                <a:spcPct val="100000"/>
              </a:lnSpc>
              <a:spcBef>
                <a:spcPts val="1500"/>
              </a:spcBef>
              <a:buNone/>
            </a:pPr>
            <a:r>
              <a:rPr lang="en-US" dirty="0"/>
              <a:t>account-</a:t>
            </a:r>
            <a:br>
              <a:rPr lang="en-US" dirty="0"/>
            </a:br>
            <a:r>
              <a:rPr lang="en-US" dirty="0"/>
              <a:t>to-account</a:t>
            </a:r>
          </a:p>
        </p:txBody>
      </p:sp>
      <p:sp>
        <p:nvSpPr>
          <p:cNvPr id="47" name="Text Placeholder 2">
            <a:extLst>
              <a:ext uri="{FF2B5EF4-FFF2-40B4-BE49-F238E27FC236}">
                <a16:creationId xmlns:a16="http://schemas.microsoft.com/office/drawing/2014/main" id="{36EC1110-6593-301C-D543-6C2E27D96DCC}"/>
              </a:ext>
            </a:extLst>
          </p:cNvPr>
          <p:cNvSpPr txBox="1">
            <a:spLocks/>
          </p:cNvSpPr>
          <p:nvPr/>
        </p:nvSpPr>
        <p:spPr>
          <a:xfrm>
            <a:off x="4932612" y="3694011"/>
            <a:ext cx="1021082" cy="931020"/>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lvl1pPr marL="171450" marR="0" indent="-171450"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1pPr>
            <a:lvl2pPr marL="538842" marR="0" indent="-195942"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2pPr>
            <a:lvl3pPr marL="914400" marR="0" indent="-228600"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3pPr>
            <a:lvl4pPr marL="1303019" marR="0" indent="-274319"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4pPr>
            <a:lvl5pPr marL="1645920" marR="0" indent="-274319" algn="l" defTabSz="685800" rtl="0" eaLnBrk="1" latinLnBrk="0" hangingPunct="1">
              <a:lnSpc>
                <a:spcPct val="90000"/>
              </a:lnSpc>
              <a:spcBef>
                <a:spcPts val="700"/>
              </a:spcBef>
              <a:spcAft>
                <a:spcPts val="0"/>
              </a:spcAft>
              <a:buClrTx/>
              <a:buSzPct val="100000"/>
              <a:buFont typeface="Arial"/>
              <a:buChar char="•"/>
              <a:tabLst/>
              <a:defRPr sz="1400" b="0" i="0" u="none" strike="noStrike" cap="none" spc="0" baseline="0">
                <a:ln>
                  <a:noFill/>
                </a:ln>
                <a:solidFill>
                  <a:srgbClr val="000000"/>
                </a:solidFill>
                <a:uFillTx/>
                <a:latin typeface="Brandon Grotesque Light" panose="020B0303020203060202" pitchFamily="34" charset="0"/>
                <a:ea typeface="+mn-ea"/>
                <a:cs typeface="+mn-cs"/>
                <a:sym typeface="Calibri"/>
              </a:defRPr>
            </a:lvl5pPr>
            <a:lvl6pPr marL="19387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eaLnBrk="1" latinLnBrk="0" hangingPunct="1">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a:lstStyle>
          <a:p>
            <a:pPr marL="0" indent="0">
              <a:lnSpc>
                <a:spcPct val="100000"/>
              </a:lnSpc>
              <a:spcBef>
                <a:spcPts val="1500"/>
              </a:spcBef>
              <a:buNone/>
            </a:pPr>
            <a:r>
              <a:rPr lang="en-US" b="1" dirty="0" err="1"/>
              <a:t>Tokenised</a:t>
            </a:r>
            <a:endParaRPr lang="en-US" b="1" dirty="0"/>
          </a:p>
          <a:p>
            <a:pPr marL="0" indent="0">
              <a:lnSpc>
                <a:spcPct val="100000"/>
              </a:lnSpc>
              <a:spcBef>
                <a:spcPts val="1500"/>
              </a:spcBef>
              <a:buNone/>
            </a:pPr>
            <a:r>
              <a:rPr lang="en-US" dirty="0"/>
              <a:t>phone-</a:t>
            </a:r>
            <a:br>
              <a:rPr lang="en-US" dirty="0"/>
            </a:br>
            <a:r>
              <a:rPr lang="en-US" dirty="0"/>
              <a:t>to-phone</a:t>
            </a:r>
          </a:p>
        </p:txBody>
      </p:sp>
      <p:sp>
        <p:nvSpPr>
          <p:cNvPr id="49" name="Rectangle 48">
            <a:extLst>
              <a:ext uri="{FF2B5EF4-FFF2-40B4-BE49-F238E27FC236}">
                <a16:creationId xmlns:a16="http://schemas.microsoft.com/office/drawing/2014/main" id="{E4B5D285-3E81-EE23-2C16-D864A75E5246}"/>
              </a:ext>
            </a:extLst>
          </p:cNvPr>
          <p:cNvSpPr/>
          <p:nvPr/>
        </p:nvSpPr>
        <p:spPr>
          <a:xfrm>
            <a:off x="6103351" y="2450404"/>
            <a:ext cx="2189514" cy="2242739"/>
          </a:xfrm>
          <a:prstGeom prst="rect">
            <a:avLst/>
          </a:prstGeom>
          <a:noFill/>
          <a:ln w="25400" cap="flat">
            <a:solidFill>
              <a:schemeClr val="accent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000000"/>
              </a:solidFill>
              <a:effectLst/>
              <a:uFillTx/>
              <a:latin typeface="+mj-lt"/>
              <a:ea typeface="+mj-ea"/>
              <a:cs typeface="+mj-cs"/>
              <a:sym typeface="Helvetica"/>
            </a:endParaRPr>
          </a:p>
        </p:txBody>
      </p:sp>
      <p:sp>
        <p:nvSpPr>
          <p:cNvPr id="5" name="Text Placeholder 10">
            <a:extLst>
              <a:ext uri="{FF2B5EF4-FFF2-40B4-BE49-F238E27FC236}">
                <a16:creationId xmlns:a16="http://schemas.microsoft.com/office/drawing/2014/main" id="{11F26615-3D57-A877-2CFC-AD4F8B72762B}"/>
              </a:ext>
            </a:extLst>
          </p:cNvPr>
          <p:cNvSpPr txBox="1">
            <a:spLocks/>
          </p:cNvSpPr>
          <p:nvPr/>
        </p:nvSpPr>
        <p:spPr>
          <a:xfrm>
            <a:off x="628649" y="789624"/>
            <a:ext cx="8293677" cy="264688"/>
          </a:xfrm>
          <a:prstGeom prst="rect">
            <a:avLst/>
          </a:prstGeom>
        </p:spPr>
        <p:txBody>
          <a:bodyPr wrap="square" lIns="60960" tIns="0" rIns="60960" bIns="0">
            <a:spAutoFit/>
          </a:bodyPr>
          <a:lstStyle>
            <a:lvl1pPr marL="138792" marR="0" indent="-13879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1pPr>
            <a:lvl2pPr marL="504825" marR="0" indent="-161925"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2pPr>
            <a:lvl3pPr marL="880110" marR="0" indent="-194309"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3pPr>
            <a:lvl4pPr marL="1252902" marR="0" indent="-22420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4pPr>
            <a:lvl5pPr marL="1595802" marR="0" indent="-22420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5pPr>
            <a:lvl6pPr marL="19387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a:lstStyle>
          <a:p>
            <a:pPr marL="0" indent="0">
              <a:lnSpc>
                <a:spcPct val="110000"/>
              </a:lnSpc>
              <a:spcBef>
                <a:spcPts val="0"/>
              </a:spcBef>
              <a:buNone/>
            </a:pPr>
            <a:r>
              <a:rPr lang="en-US" dirty="0">
                <a:latin typeface="Brandon Grotesque Light" panose="020B0303020203060202" pitchFamily="34" charset="77"/>
                <a:cs typeface="Arial" panose="020B0604020202020204" pitchFamily="34" charset="0"/>
              </a:rPr>
              <a:t>Removing the separation of messaging and money transfer: “Immediate Settlement Finality”</a:t>
            </a:r>
          </a:p>
        </p:txBody>
      </p:sp>
      <p:pic>
        <p:nvPicPr>
          <p:cNvPr id="7" name="Picture 6">
            <a:extLst>
              <a:ext uri="{FF2B5EF4-FFF2-40B4-BE49-F238E27FC236}">
                <a16:creationId xmlns:a16="http://schemas.microsoft.com/office/drawing/2014/main" id="{4323DB46-1CA9-910E-E2AE-F93DFCC7FDB6}"/>
              </a:ext>
            </a:extLst>
          </p:cNvPr>
          <p:cNvPicPr>
            <a:picLocks noChangeAspect="1"/>
          </p:cNvPicPr>
          <p:nvPr/>
        </p:nvPicPr>
        <p:blipFill>
          <a:blip r:embed="rId5"/>
          <a:stretch>
            <a:fillRect/>
          </a:stretch>
        </p:blipFill>
        <p:spPr>
          <a:xfrm>
            <a:off x="7149836" y="3657385"/>
            <a:ext cx="260758" cy="252400"/>
          </a:xfrm>
          <a:prstGeom prst="rect">
            <a:avLst/>
          </a:prstGeom>
        </p:spPr>
      </p:pic>
      <p:sp>
        <p:nvSpPr>
          <p:cNvPr id="9" name="Text Placeholder 10">
            <a:extLst>
              <a:ext uri="{FF2B5EF4-FFF2-40B4-BE49-F238E27FC236}">
                <a16:creationId xmlns:a16="http://schemas.microsoft.com/office/drawing/2014/main" id="{B7CB6E00-E459-719E-CE27-129068644F59}"/>
              </a:ext>
            </a:extLst>
          </p:cNvPr>
          <p:cNvSpPr txBox="1">
            <a:spLocks/>
          </p:cNvSpPr>
          <p:nvPr/>
        </p:nvSpPr>
        <p:spPr>
          <a:xfrm>
            <a:off x="6198821" y="2162982"/>
            <a:ext cx="2423545" cy="231602"/>
          </a:xfrm>
          <a:prstGeom prst="rect">
            <a:avLst/>
          </a:prstGeom>
        </p:spPr>
        <p:txBody>
          <a:bodyPr wrap="square" lIns="60960" tIns="0" rIns="60960" bIns="0">
            <a:spAutoFit/>
          </a:bodyPr>
          <a:lstStyle>
            <a:lvl1pPr marL="138792" marR="0" indent="-13879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1pPr>
            <a:lvl2pPr marL="504825" marR="0" indent="-161925"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2pPr>
            <a:lvl3pPr marL="880110" marR="0" indent="-194309"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3pPr>
            <a:lvl4pPr marL="1252902" marR="0" indent="-22420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4pPr>
            <a:lvl5pPr marL="1595802" marR="0" indent="-22420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5pPr>
            <a:lvl6pPr marL="19387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a:lstStyle>
          <a:p>
            <a:pPr marL="0" indent="0">
              <a:lnSpc>
                <a:spcPct val="110000"/>
              </a:lnSpc>
              <a:spcBef>
                <a:spcPts val="0"/>
              </a:spcBef>
              <a:buNone/>
            </a:pPr>
            <a:r>
              <a:rPr lang="en-US" sz="1400" dirty="0">
                <a:latin typeface="Brandon Grotesque Light" panose="020B0303020203060202" pitchFamily="34" charset="77"/>
                <a:cs typeface="Arial" panose="020B0604020202020204" pitchFamily="34" charset="0"/>
              </a:rPr>
              <a:t>“Digital Bearer Instrument”</a:t>
            </a:r>
          </a:p>
        </p:txBody>
      </p:sp>
      <p:pic>
        <p:nvPicPr>
          <p:cNvPr id="10" name="Picture 9">
            <a:extLst>
              <a:ext uri="{FF2B5EF4-FFF2-40B4-BE49-F238E27FC236}">
                <a16:creationId xmlns:a16="http://schemas.microsoft.com/office/drawing/2014/main" id="{B5FDC8E0-5292-0E7D-F21E-D21737714D60}"/>
              </a:ext>
            </a:extLst>
          </p:cNvPr>
          <p:cNvPicPr>
            <a:picLocks noChangeAspect="1"/>
          </p:cNvPicPr>
          <p:nvPr/>
        </p:nvPicPr>
        <p:blipFill>
          <a:blip r:embed="rId6"/>
          <a:srcRect t="11801"/>
          <a:stretch>
            <a:fillRect/>
          </a:stretch>
        </p:blipFill>
        <p:spPr>
          <a:xfrm>
            <a:off x="1660035" y="1510018"/>
            <a:ext cx="3528405" cy="1429980"/>
          </a:xfrm>
          <a:prstGeom prst="rect">
            <a:avLst/>
          </a:prstGeom>
          <a:noFill/>
          <a:ln w="25400" cap="flat">
            <a:solidFill>
              <a:schemeClr val="accent4"/>
            </a:solidFill>
            <a:prstDash val="solid"/>
            <a:round/>
          </a:ln>
          <a:effectLst/>
          <a:sp3d/>
        </p:spPr>
      </p:pic>
    </p:spTree>
    <p:extLst>
      <p:ext uri="{BB962C8B-B14F-4D97-AF65-F5344CB8AC3E}">
        <p14:creationId xmlns:p14="http://schemas.microsoft.com/office/powerpoint/2010/main" val="159577400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78F5-6A7E-E1DD-7CA0-0BF99070A75D}"/>
              </a:ext>
            </a:extLst>
          </p:cNvPr>
          <p:cNvSpPr>
            <a:spLocks noGrp="1"/>
          </p:cNvSpPr>
          <p:nvPr>
            <p:ph type="title"/>
          </p:nvPr>
        </p:nvSpPr>
        <p:spPr>
          <a:xfrm>
            <a:off x="628650" y="273842"/>
            <a:ext cx="7886700" cy="569717"/>
          </a:xfrm>
        </p:spPr>
        <p:txBody>
          <a:bodyPr>
            <a:normAutofit/>
          </a:bodyPr>
          <a:lstStyle/>
          <a:p>
            <a:r>
              <a:rPr lang="en-US" dirty="0"/>
              <a:t>The Money Format Wars</a:t>
            </a:r>
          </a:p>
        </p:txBody>
      </p:sp>
      <p:sp>
        <p:nvSpPr>
          <p:cNvPr id="3" name="Slide Number Placeholder 2">
            <a:extLst>
              <a:ext uri="{FF2B5EF4-FFF2-40B4-BE49-F238E27FC236}">
                <a16:creationId xmlns:a16="http://schemas.microsoft.com/office/drawing/2014/main" id="{AD66B231-7A74-A406-D59F-FC17CB425C78}"/>
              </a:ext>
            </a:extLst>
          </p:cNvPr>
          <p:cNvSpPr>
            <a:spLocks noGrp="1"/>
          </p:cNvSpPr>
          <p:nvPr>
            <p:ph type="sldNum" sz="quarter" idx="2"/>
          </p:nvPr>
        </p:nvSpPr>
        <p:spPr/>
        <p:txBody>
          <a:bodyPr/>
          <a:lstStyle/>
          <a:p>
            <a:fld id="{86CB4B4D-7CA3-9044-876B-883B54F8677D}" type="slidenum">
              <a:rPr lang="en-UA" smtClean="0"/>
              <a:t>4</a:t>
            </a:fld>
            <a:endParaRPr lang="en-UA"/>
          </a:p>
        </p:txBody>
      </p:sp>
      <p:sp>
        <p:nvSpPr>
          <p:cNvPr id="4" name="Footer Placeholder 3">
            <a:extLst>
              <a:ext uri="{FF2B5EF4-FFF2-40B4-BE49-F238E27FC236}">
                <a16:creationId xmlns:a16="http://schemas.microsoft.com/office/drawing/2014/main" id="{77E8E733-0D09-D1F3-F3B3-7419D68EEA18}"/>
              </a:ext>
            </a:extLst>
          </p:cNvPr>
          <p:cNvSpPr>
            <a:spLocks noGrp="1"/>
          </p:cNvSpPr>
          <p:nvPr>
            <p:ph type="ftr" sz="quarter" idx="3"/>
          </p:nvPr>
        </p:nvSpPr>
        <p:spPr/>
        <p:txBody>
          <a:bodyPr/>
          <a:lstStyle/>
          <a:p>
            <a:r>
              <a:rPr lang="en-US" dirty="0"/>
              <a:t>Payments Innovation Consulting</a:t>
            </a:r>
          </a:p>
        </p:txBody>
      </p:sp>
      <p:graphicFrame>
        <p:nvGraphicFramePr>
          <p:cNvPr id="11" name="Table 8">
            <a:extLst>
              <a:ext uri="{FF2B5EF4-FFF2-40B4-BE49-F238E27FC236}">
                <a16:creationId xmlns:a16="http://schemas.microsoft.com/office/drawing/2014/main" id="{5ACB253B-9682-20B9-B11F-B4BF8390B6AA}"/>
              </a:ext>
            </a:extLst>
          </p:cNvPr>
          <p:cNvGraphicFramePr>
            <a:graphicFrameLocks noGrp="1"/>
          </p:cNvGraphicFramePr>
          <p:nvPr>
            <p:extLst>
              <p:ext uri="{D42A27DB-BD31-4B8C-83A1-F6EECF244321}">
                <p14:modId xmlns:p14="http://schemas.microsoft.com/office/powerpoint/2010/main" val="3145231736"/>
              </p:ext>
            </p:extLst>
          </p:nvPr>
        </p:nvGraphicFramePr>
        <p:xfrm>
          <a:off x="653702" y="1012410"/>
          <a:ext cx="7886700" cy="3597912"/>
        </p:xfrm>
        <a:graphic>
          <a:graphicData uri="http://schemas.openxmlformats.org/drawingml/2006/table">
            <a:tbl>
              <a:tblPr firstRow="1" firstCol="1" bandRow="1">
                <a:tableStyleId>{5C22544A-7EE6-4342-B048-85BDC9FD1C3A}</a:tableStyleId>
              </a:tblPr>
              <a:tblGrid>
                <a:gridCol w="717625">
                  <a:extLst>
                    <a:ext uri="{9D8B030D-6E8A-4147-A177-3AD203B41FA5}">
                      <a16:colId xmlns:a16="http://schemas.microsoft.com/office/drawing/2014/main" val="992167940"/>
                    </a:ext>
                  </a:extLst>
                </a:gridCol>
                <a:gridCol w="1433815">
                  <a:extLst>
                    <a:ext uri="{9D8B030D-6E8A-4147-A177-3AD203B41FA5}">
                      <a16:colId xmlns:a16="http://schemas.microsoft.com/office/drawing/2014/main" val="2899876197"/>
                    </a:ext>
                  </a:extLst>
                </a:gridCol>
                <a:gridCol w="1433815">
                  <a:extLst>
                    <a:ext uri="{9D8B030D-6E8A-4147-A177-3AD203B41FA5}">
                      <a16:colId xmlns:a16="http://schemas.microsoft.com/office/drawing/2014/main" val="1306211459"/>
                    </a:ext>
                  </a:extLst>
                </a:gridCol>
                <a:gridCol w="1433815">
                  <a:extLst>
                    <a:ext uri="{9D8B030D-6E8A-4147-A177-3AD203B41FA5}">
                      <a16:colId xmlns:a16="http://schemas.microsoft.com/office/drawing/2014/main" val="1958432476"/>
                    </a:ext>
                  </a:extLst>
                </a:gridCol>
                <a:gridCol w="1433815">
                  <a:extLst>
                    <a:ext uri="{9D8B030D-6E8A-4147-A177-3AD203B41FA5}">
                      <a16:colId xmlns:a16="http://schemas.microsoft.com/office/drawing/2014/main" val="2602039761"/>
                    </a:ext>
                  </a:extLst>
                </a:gridCol>
                <a:gridCol w="1433815">
                  <a:extLst>
                    <a:ext uri="{9D8B030D-6E8A-4147-A177-3AD203B41FA5}">
                      <a16:colId xmlns:a16="http://schemas.microsoft.com/office/drawing/2014/main" val="3189314741"/>
                    </a:ext>
                  </a:extLst>
                </a:gridCol>
              </a:tblGrid>
              <a:tr h="328132">
                <a:tc>
                  <a:txBody>
                    <a:bodyPr/>
                    <a:lstStyle/>
                    <a:p>
                      <a:pPr algn="ctr"/>
                      <a:endParaRPr lang="en-DE" sz="900" b="1" i="0" dirty="0">
                        <a:latin typeface="Brandon Grotesque Bold" panose="020B0503020203060202" pitchFamily="34" charset="77"/>
                      </a:endParaRPr>
                    </a:p>
                  </a:txBody>
                  <a:tcPr anchor="ct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r>
                        <a:rPr lang="en-DE" sz="900" b="1" i="0" dirty="0">
                          <a:latin typeface="Brandon Grotesque Bold" panose="020B0503020203060202" pitchFamily="34" charset="77"/>
                        </a:rPr>
                        <a:t>Crypto</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a:r>
                        <a:rPr lang="en-DE" sz="900" b="1" i="0" dirty="0">
                          <a:latin typeface="Brandon Grotesque Bold" panose="020B0503020203060202" pitchFamily="34" charset="77"/>
                        </a:rPr>
                        <a:t>Stablecoin</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a:r>
                        <a:rPr lang="en-DE" sz="900" b="1" i="0" dirty="0">
                          <a:latin typeface="Brandon Grotesque Bold" panose="020B0503020203060202" pitchFamily="34" charset="77"/>
                        </a:rPr>
                        <a:t>Electronic Money</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a:r>
                        <a:rPr lang="en-DE" sz="900" b="1" i="0" dirty="0">
                          <a:latin typeface="Brandon Grotesque Bold" panose="020B0503020203060202" pitchFamily="34" charset="77"/>
                        </a:rPr>
                        <a:t>Commercial Bank Money</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a:r>
                        <a:rPr lang="en-DE" sz="900" b="1" i="0" dirty="0">
                          <a:latin typeface="Brandon Grotesque Bold" panose="020B0503020203060202" pitchFamily="34" charset="77"/>
                        </a:rPr>
                        <a:t>Central Bank Money</a:t>
                      </a: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2566483102"/>
                  </a:ext>
                </a:extLst>
              </a:tr>
              <a:tr h="506907">
                <a:tc>
                  <a:txBody>
                    <a:bodyPr/>
                    <a:lstStyle/>
                    <a:p>
                      <a:pPr algn="l"/>
                      <a:r>
                        <a:rPr lang="en-DE" sz="900" b="1" i="0" kern="1200" dirty="0">
                          <a:solidFill>
                            <a:schemeClr val="lt1"/>
                          </a:solidFill>
                          <a:latin typeface="Brandon Grotesque Bold" panose="020B0503020203060202" pitchFamily="34" charset="77"/>
                          <a:ea typeface="+mn-ea"/>
                          <a:cs typeface="+mn-cs"/>
                        </a:rPr>
                        <a:t>Form</a:t>
                      </a: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l">
                        <a:spcAft>
                          <a:spcPts val="600"/>
                        </a:spcAft>
                      </a:pPr>
                      <a:r>
                        <a:rPr lang="en-DE" sz="700" b="1" kern="1200" dirty="0">
                          <a:solidFill>
                            <a:schemeClr val="dk1"/>
                          </a:solidFill>
                          <a:latin typeface="Brandon Grotesque Regular" panose="020B0503020203060202" pitchFamily="34" charset="77"/>
                          <a:ea typeface="+mn-ea"/>
                          <a:cs typeface="+mn-cs"/>
                        </a:rPr>
                        <a:t>Bitcoin</a:t>
                      </a:r>
                      <a:r>
                        <a:rPr lang="en-DE" sz="700" kern="1200" dirty="0">
                          <a:solidFill>
                            <a:schemeClr val="dk1"/>
                          </a:solidFill>
                          <a:latin typeface="Brandon Grotesque Regular" panose="020B0503020203060202" pitchFamily="34" charset="77"/>
                          <a:ea typeface="+mn-ea"/>
                          <a:cs typeface="+mn-cs"/>
                        </a:rPr>
                        <a:t> and 10,000 more</a:t>
                      </a:r>
                    </a:p>
                    <a:p>
                      <a:pPr algn="l">
                        <a:spcAft>
                          <a:spcPts val="600"/>
                        </a:spcAft>
                      </a:pPr>
                      <a:endParaRPr lang="en-DE" sz="700" kern="1200" dirty="0">
                        <a:solidFill>
                          <a:schemeClr val="dk1"/>
                        </a:solidFill>
                        <a:latin typeface="Brandon Grotesque Regular" panose="020B0503020203060202" pitchFamily="34" charset="77"/>
                        <a:ea typeface="+mn-ea"/>
                        <a:cs typeface="+mn-cs"/>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600"/>
                        </a:spcAft>
                        <a:buClrTx/>
                        <a:buSzTx/>
                        <a:buFontTx/>
                        <a:buNone/>
                        <a:tabLst/>
                        <a:defRPr/>
                      </a:pPr>
                      <a:r>
                        <a:rPr lang="en-DE" sz="700" kern="1200" dirty="0">
                          <a:solidFill>
                            <a:schemeClr val="dk1"/>
                          </a:solidFill>
                          <a:latin typeface="Brandon Grotesque Regular" panose="020B0503020203060202" pitchFamily="34" charset="77"/>
                          <a:ea typeface="+mn-ea"/>
                          <a:cs typeface="+mn-cs"/>
                        </a:rPr>
                        <a:t>Tether (USDT, </a:t>
                      </a:r>
                      <a:r>
                        <a:rPr lang="en-GB" sz="700" kern="1200" dirty="0">
                          <a:solidFill>
                            <a:schemeClr val="dk1"/>
                          </a:solidFill>
                          <a:latin typeface="Brandon Grotesque Regular" panose="020B0503020203060202" pitchFamily="34" charset="77"/>
                          <a:ea typeface="+mn-ea"/>
                          <a:cs typeface="+mn-cs"/>
                        </a:rPr>
                        <a:t>USA₮</a:t>
                      </a:r>
                      <a:r>
                        <a:rPr lang="en-DE" sz="700" kern="1200" dirty="0">
                          <a:solidFill>
                            <a:schemeClr val="dk1"/>
                          </a:solidFill>
                          <a:latin typeface="Brandon Grotesque Regular" panose="020B0503020203060202" pitchFamily="34" charset="77"/>
                          <a:ea typeface="+mn-ea"/>
                          <a:cs typeface="+mn-cs"/>
                        </a:rPr>
                        <a:t>), </a:t>
                      </a:r>
                      <a:br>
                        <a:rPr lang="en-DE" sz="700" kern="1200" dirty="0">
                          <a:solidFill>
                            <a:schemeClr val="dk1"/>
                          </a:solidFill>
                          <a:latin typeface="Brandon Grotesque Regular" panose="020B0503020203060202" pitchFamily="34" charset="77"/>
                          <a:ea typeface="+mn-ea"/>
                          <a:cs typeface="+mn-cs"/>
                        </a:rPr>
                      </a:br>
                      <a:r>
                        <a:rPr lang="en-DE" sz="700" kern="1200" dirty="0">
                          <a:solidFill>
                            <a:schemeClr val="dk1"/>
                          </a:solidFill>
                          <a:latin typeface="Brandon Grotesque Regular" panose="020B0503020203060202" pitchFamily="34" charset="77"/>
                          <a:ea typeface="+mn-ea"/>
                          <a:cs typeface="+mn-cs"/>
                        </a:rPr>
                        <a:t>Circle (USDC), …</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PayPal (400M), paytm (300M), Alipay/WeChatPay (1bn), GrabPay, MercadoPago, M-Pesa, Starbucks, Telco minutes, WoW gold … </a:t>
                      </a:r>
                      <a:r>
                        <a:rPr lang="en-DE" sz="700" b="1" kern="1200" dirty="0">
                          <a:solidFill>
                            <a:schemeClr val="dk1"/>
                          </a:solidFill>
                          <a:latin typeface="Brandon Grotesque Regular" panose="020B0503020203060202" pitchFamily="34" charset="77"/>
                          <a:ea typeface="+mn-ea"/>
                          <a:cs typeface="+mn-cs"/>
                        </a:rPr>
                        <a:t>wallets</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Account at Deutsche, BBVA, …</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US" sz="700" b="1" dirty="0">
                          <a:latin typeface="Brandon Grotesque Regular" panose="020B0503020203060202" pitchFamily="34" charset="77"/>
                        </a:rPr>
                        <a:t>Reserves</a:t>
                      </a:r>
                      <a:r>
                        <a:rPr lang="en-US" sz="700" dirty="0">
                          <a:latin typeface="Brandon Grotesque Regular" panose="020B0503020203060202" pitchFamily="34" charset="77"/>
                        </a:rPr>
                        <a:t> – for commercial banks</a:t>
                      </a:r>
                    </a:p>
                    <a:p>
                      <a:pPr algn="l">
                        <a:spcAft>
                          <a:spcPts val="600"/>
                        </a:spcAft>
                      </a:pPr>
                      <a:r>
                        <a:rPr lang="en-US" sz="700" b="1" dirty="0">
                          <a:latin typeface="Brandon Grotesque Regular" panose="020B0503020203060202" pitchFamily="34" charset="77"/>
                        </a:rPr>
                        <a:t>Cash </a:t>
                      </a:r>
                      <a:r>
                        <a:rPr lang="en-US" sz="700" b="0" dirty="0">
                          <a:latin typeface="Brandon Grotesque Regular" panose="020B0503020203060202" pitchFamily="34" charset="77"/>
                        </a:rPr>
                        <a:t>(&gt;1000 years)/Coins (&gt;2000 years) </a:t>
                      </a:r>
                      <a:r>
                        <a:rPr lang="en-US" sz="700" dirty="0">
                          <a:latin typeface="Brandon Grotesque Regular" panose="020B0503020203060202" pitchFamily="34" charset="77"/>
                        </a:rPr>
                        <a:t>- for everybody</a:t>
                      </a:r>
                      <a:endParaRPr lang="en-DE" sz="700" dirty="0">
                        <a:latin typeface="Brandon Grotesque Regular" panose="020B0503020203060202" pitchFamily="34" charset="77"/>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85954551"/>
                  </a:ext>
                </a:extLst>
              </a:tr>
              <a:tr h="298181">
                <a:tc>
                  <a:txBody>
                    <a:bodyPr/>
                    <a:lstStyle/>
                    <a:p>
                      <a:pPr algn="l"/>
                      <a:r>
                        <a:rPr lang="en-DE" sz="900" b="1" i="0" kern="1200" dirty="0">
                          <a:solidFill>
                            <a:schemeClr val="lt1"/>
                          </a:solidFill>
                          <a:latin typeface="Brandon Grotesque Bold" panose="020B0503020203060202" pitchFamily="34" charset="77"/>
                          <a:ea typeface="+mn-ea"/>
                          <a:cs typeface="+mn-cs"/>
                        </a:rPr>
                        <a:t>Liability</a:t>
                      </a: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l">
                        <a:spcAft>
                          <a:spcPts val="600"/>
                        </a:spcAft>
                      </a:pPr>
                      <a:r>
                        <a:rPr lang="en-DE" sz="700" b="1" kern="1200" dirty="0">
                          <a:solidFill>
                            <a:schemeClr val="dk1"/>
                          </a:solidFill>
                          <a:latin typeface="Brandon Grotesque Regular" panose="020B0503020203060202" pitchFamily="34" charset="77"/>
                          <a:ea typeface="+mn-ea"/>
                          <a:cs typeface="+mn-cs"/>
                        </a:rPr>
                        <a:t>None</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True, regulated  stablecoins: </a:t>
                      </a:r>
                      <a:br>
                        <a:rPr lang="en-DE" sz="700" kern="1200" dirty="0">
                          <a:solidFill>
                            <a:schemeClr val="dk1"/>
                          </a:solidFill>
                          <a:latin typeface="Brandon Grotesque Regular" panose="020B0503020203060202" pitchFamily="34" charset="77"/>
                          <a:ea typeface="+mn-ea"/>
                          <a:cs typeface="+mn-cs"/>
                        </a:rPr>
                      </a:br>
                      <a:r>
                        <a:rPr lang="en-DE" sz="700" kern="1200" dirty="0">
                          <a:solidFill>
                            <a:schemeClr val="dk1"/>
                          </a:solidFill>
                          <a:latin typeface="Brandon Grotesque Regular" panose="020B0503020203060202" pitchFamily="34" charset="77"/>
                          <a:ea typeface="+mn-ea"/>
                          <a:cs typeface="+mn-cs"/>
                        </a:rPr>
                        <a:t>on commercial banks, treasuries, ….</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rowSpan="2">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On non-bank company</a:t>
                      </a:r>
                    </a:p>
                    <a:p>
                      <a:pPr algn="l">
                        <a:spcAft>
                          <a:spcPts val="600"/>
                        </a:spcAft>
                      </a:pPr>
                      <a:br>
                        <a:rPr lang="en-DE" sz="700" kern="1200" dirty="0">
                          <a:solidFill>
                            <a:schemeClr val="dk1"/>
                          </a:solidFill>
                          <a:latin typeface="Brandon Grotesque Regular" panose="020B0503020203060202" pitchFamily="34" charset="77"/>
                          <a:ea typeface="+mn-ea"/>
                          <a:cs typeface="+mn-cs"/>
                        </a:rPr>
                      </a:br>
                      <a:endParaRPr lang="en-DE" sz="700" kern="1200" dirty="0">
                        <a:solidFill>
                          <a:schemeClr val="dk1"/>
                        </a:solidFill>
                        <a:latin typeface="Brandon Grotesque Regular" panose="020B0503020203060202" pitchFamily="34" charset="77"/>
                        <a:ea typeface="+mn-ea"/>
                        <a:cs typeface="+mn-cs"/>
                      </a:endParaRPr>
                    </a:p>
                  </a:txBody>
                  <a:tcPr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On commercial bank</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GB" sz="700" dirty="0">
                          <a:latin typeface="Brandon Grotesque Regular" panose="020B0503020203060202" pitchFamily="34" charset="77"/>
                        </a:rPr>
                        <a:t>O</a:t>
                      </a:r>
                      <a:r>
                        <a:rPr lang="en-DE" sz="700" dirty="0">
                          <a:latin typeface="Brandon Grotesque Regular" panose="020B0503020203060202" pitchFamily="34" charset="77"/>
                        </a:rPr>
                        <a:t>n central bank</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7474141"/>
                  </a:ext>
                </a:extLst>
              </a:tr>
              <a:tr h="477089">
                <a:tc>
                  <a:txBody>
                    <a:bodyPr/>
                    <a:lstStyle/>
                    <a:p>
                      <a:pPr algn="l"/>
                      <a:r>
                        <a:rPr lang="en-DE" sz="900" b="1" i="0" kern="1200" dirty="0">
                          <a:solidFill>
                            <a:schemeClr val="lt1"/>
                          </a:solidFill>
                          <a:latin typeface="Brandon Grotesque Bold" panose="020B0503020203060202" pitchFamily="34" charset="77"/>
                          <a:ea typeface="+mn-ea"/>
                          <a:cs typeface="+mn-cs"/>
                        </a:rPr>
                        <a:t>Backing</a:t>
                      </a: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l">
                        <a:spcAft>
                          <a:spcPts val="600"/>
                        </a:spcAft>
                      </a:pPr>
                      <a:r>
                        <a:rPr lang="en-DE" sz="700" b="1" kern="1200" dirty="0">
                          <a:solidFill>
                            <a:schemeClr val="dk1"/>
                          </a:solidFill>
                          <a:latin typeface="Brandon Grotesque Regular" panose="020B0503020203060202" pitchFamily="34" charset="77"/>
                          <a:ea typeface="+mn-ea"/>
                          <a:cs typeface="+mn-cs"/>
                        </a:rPr>
                        <a:t>None</a:t>
                      </a:r>
                      <a:endParaRPr lang="en-DE" sz="700" kern="1200" dirty="0">
                        <a:solidFill>
                          <a:schemeClr val="dk1"/>
                        </a:solidFill>
                        <a:latin typeface="Brandon Grotesque Regular" panose="020B0503020203060202" pitchFamily="34" charset="77"/>
                        <a:ea typeface="+mn-ea"/>
                        <a:cs typeface="+mn-cs"/>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b="1" kern="1200" dirty="0">
                          <a:solidFill>
                            <a:schemeClr val="dk1"/>
                          </a:solidFill>
                          <a:latin typeface="Brandon Grotesque Regular" panose="020B0503020203060202" pitchFamily="34" charset="77"/>
                          <a:ea typeface="+mn-ea"/>
                          <a:cs typeface="+mn-cs"/>
                        </a:rPr>
                        <a:t>1:1 fiat</a:t>
                      </a:r>
                      <a:r>
                        <a:rPr lang="en-DE" sz="700" kern="1200" dirty="0">
                          <a:solidFill>
                            <a:schemeClr val="dk1"/>
                          </a:solidFill>
                          <a:latin typeface="Brandon Grotesque Regular" panose="020B0503020203060202" pitchFamily="34" charset="77"/>
                          <a:ea typeface="+mn-ea"/>
                          <a:cs typeface="+mn-cs"/>
                        </a:rPr>
                        <a:t>, Gold, …</a:t>
                      </a:r>
                      <a:br>
                        <a:rPr lang="en-US" sz="700" kern="1200" dirty="0">
                          <a:solidFill>
                            <a:schemeClr val="dk1"/>
                          </a:solidFill>
                          <a:latin typeface="Brandon Grotesque Regular" panose="020B0503020203060202" pitchFamily="34" charset="77"/>
                          <a:ea typeface="+mn-ea"/>
                          <a:cs typeface="+mn-cs"/>
                        </a:rPr>
                      </a:br>
                      <a:r>
                        <a:rPr lang="en-DE" sz="700" kern="1200" dirty="0">
                          <a:solidFill>
                            <a:schemeClr val="dk1"/>
                          </a:solidFill>
                          <a:latin typeface="Brandon Grotesque Regular" panose="020B0503020203060202" pitchFamily="34" charset="77"/>
                          <a:ea typeface="+mn-ea"/>
                          <a:cs typeface="+mn-cs"/>
                        </a:rPr>
                        <a:t>(hence “stable”)</a:t>
                      </a:r>
                      <a:br>
                        <a:rPr lang="en-US" sz="700" kern="1200" dirty="0">
                          <a:solidFill>
                            <a:schemeClr val="dk1"/>
                          </a:solidFill>
                          <a:latin typeface="Brandon Grotesque Regular" panose="020B0503020203060202" pitchFamily="34" charset="77"/>
                          <a:ea typeface="+mn-ea"/>
                          <a:cs typeface="+mn-cs"/>
                        </a:rPr>
                      </a:br>
                      <a:r>
                        <a:rPr lang="en-US" sz="700" kern="1200" dirty="0">
                          <a:solidFill>
                            <a:schemeClr val="dk1"/>
                          </a:solidFill>
                          <a:latin typeface="Brandon Grotesque Regular" panose="020B0503020203060202" pitchFamily="34" charset="77"/>
                          <a:ea typeface="+mn-ea"/>
                          <a:cs typeface="+mn-cs"/>
                        </a:rPr>
                        <a:t>Beware fake “</a:t>
                      </a:r>
                      <a:r>
                        <a:rPr lang="en-US" sz="700" kern="1200" dirty="0" err="1">
                          <a:solidFill>
                            <a:schemeClr val="dk1"/>
                          </a:solidFill>
                          <a:latin typeface="Brandon Grotesque Regular" panose="020B0503020203060202" pitchFamily="34" charset="77"/>
                          <a:ea typeface="+mn-ea"/>
                          <a:cs typeface="+mn-cs"/>
                        </a:rPr>
                        <a:t>Stable”coins</a:t>
                      </a:r>
                      <a:r>
                        <a:rPr lang="en-US" sz="700" kern="1200" dirty="0">
                          <a:solidFill>
                            <a:schemeClr val="dk1"/>
                          </a:solidFill>
                          <a:latin typeface="Brandon Grotesque Regular" panose="020B0503020203060202" pitchFamily="34" charset="77"/>
                          <a:ea typeface="+mn-ea"/>
                          <a:cs typeface="+mn-cs"/>
                        </a:rPr>
                        <a:t> </a:t>
                      </a:r>
                      <a:r>
                        <a:rPr lang="en-DE" sz="700" kern="1200" dirty="0">
                          <a:solidFill>
                            <a:schemeClr val="dk1"/>
                          </a:solidFill>
                          <a:latin typeface="Brandon Grotesque Regular" panose="020B0503020203060202" pitchFamily="34" charset="77"/>
                          <a:ea typeface="+mn-ea"/>
                          <a:cs typeface="+mn-cs"/>
                        </a:rPr>
                        <a:t>– see Terra, Luna</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vMerge="1">
                  <a:txBody>
                    <a:bodyPr/>
                    <a:lstStyle/>
                    <a:p>
                      <a:endParaRPr dirty="0"/>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Insured up to 100k€ (EU)</a:t>
                      </a:r>
                      <a:br>
                        <a:rPr lang="en-US" sz="700" kern="1200" dirty="0">
                          <a:solidFill>
                            <a:schemeClr val="dk1"/>
                          </a:solidFill>
                          <a:latin typeface="Brandon Grotesque Regular" panose="020B0503020203060202" pitchFamily="34" charset="77"/>
                          <a:ea typeface="+mn-ea"/>
                          <a:cs typeface="+mn-cs"/>
                        </a:rPr>
                      </a:br>
                      <a:r>
                        <a:rPr lang="en-GB" sz="700" kern="1200" dirty="0">
                          <a:solidFill>
                            <a:schemeClr val="dk1"/>
                          </a:solidFill>
                          <a:latin typeface="Brandon Grotesque Regular" panose="020B0503020203060202" pitchFamily="34" charset="77"/>
                          <a:ea typeface="+mn-ea"/>
                          <a:cs typeface="+mn-cs"/>
                        </a:rPr>
                        <a:t>B</a:t>
                      </a:r>
                      <a:r>
                        <a:rPr lang="en-DE" sz="700" kern="1200" dirty="0">
                          <a:solidFill>
                            <a:schemeClr val="dk1"/>
                          </a:solidFill>
                          <a:latin typeface="Brandon Grotesque Regular" panose="020B0503020203060202" pitchFamily="34" charset="77"/>
                          <a:ea typeface="+mn-ea"/>
                          <a:cs typeface="+mn-cs"/>
                        </a:rPr>
                        <a:t>eyond that: counterparty risk</a:t>
                      </a:r>
                      <a:br>
                        <a:rPr lang="en-US" sz="700" kern="1200" dirty="0">
                          <a:solidFill>
                            <a:schemeClr val="dk1"/>
                          </a:solidFill>
                          <a:latin typeface="Brandon Grotesque Regular" panose="020B0503020203060202" pitchFamily="34" charset="77"/>
                          <a:ea typeface="+mn-ea"/>
                          <a:cs typeface="+mn-cs"/>
                        </a:rPr>
                      </a:br>
                      <a:r>
                        <a:rPr lang="en-GB" sz="700" kern="1200" dirty="0">
                          <a:solidFill>
                            <a:schemeClr val="dk1"/>
                          </a:solidFill>
                          <a:latin typeface="Brandon Grotesque Regular" panose="020B0503020203060202" pitchFamily="34" charset="77"/>
                          <a:ea typeface="+mn-ea"/>
                          <a:cs typeface="+mn-cs"/>
                        </a:rPr>
                        <a:t>a</a:t>
                      </a:r>
                      <a:r>
                        <a:rPr lang="en-DE" sz="700" kern="1200" dirty="0">
                          <a:solidFill>
                            <a:schemeClr val="dk1"/>
                          </a:solidFill>
                          <a:latin typeface="Brandon Grotesque Regular" panose="020B0503020203060202" pitchFamily="34" charset="77"/>
                          <a:ea typeface="+mn-ea"/>
                          <a:cs typeface="+mn-cs"/>
                        </a:rPr>
                        <a:t>lso: some settlement risk</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dirty="0">
                          <a:latin typeface="Brandon Grotesque Regular" panose="020B0503020203060202" pitchFamily="34" charset="77"/>
                        </a:rPr>
                        <a:t>Sovereign/Nation State i.e. free of counterparty risk</a:t>
                      </a:r>
                    </a:p>
                    <a:p>
                      <a:pPr algn="l">
                        <a:spcAft>
                          <a:spcPts val="600"/>
                        </a:spcAft>
                      </a:pPr>
                      <a:r>
                        <a:rPr lang="en-DE" sz="700" dirty="0">
                          <a:latin typeface="Brandon Grotesque Regular" panose="020B0503020203060202" pitchFamily="34" charset="77"/>
                        </a:rPr>
                        <a:t>The ultimate settlement asset</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26304610"/>
                  </a:ext>
                </a:extLst>
              </a:tr>
              <a:tr h="298181">
                <a:tc>
                  <a:txBody>
                    <a:bodyPr/>
                    <a:lstStyle/>
                    <a:p>
                      <a:pPr algn="l"/>
                      <a:r>
                        <a:rPr lang="en-DE" sz="900" b="1" i="0" kern="1200" dirty="0">
                          <a:solidFill>
                            <a:schemeClr val="lt1"/>
                          </a:solidFill>
                          <a:latin typeface="Brandon Grotesque Bold" panose="020B0503020203060202" pitchFamily="34" charset="77"/>
                          <a:ea typeface="+mn-ea"/>
                          <a:cs typeface="+mn-cs"/>
                        </a:rPr>
                        <a:t>Regulated</a:t>
                      </a: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a:txBody>
                    <a:bodyPr/>
                    <a:lstStyle/>
                    <a:p>
                      <a:pPr algn="l">
                        <a:spcAft>
                          <a:spcPts val="600"/>
                        </a:spcAft>
                      </a:pPr>
                      <a:endParaRPr lang="en-DE" sz="700" kern="1200" dirty="0">
                        <a:solidFill>
                          <a:schemeClr val="dk1"/>
                        </a:solidFill>
                        <a:latin typeface="Brandon Grotesque Regular" panose="020B0503020203060202" pitchFamily="34" charset="77"/>
                        <a:ea typeface="+mn-ea"/>
                        <a:cs typeface="+mn-cs"/>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MiCA (EU)</a:t>
                      </a:r>
                      <a:br>
                        <a:rPr lang="en-DE" sz="700" kern="1200" dirty="0">
                          <a:solidFill>
                            <a:schemeClr val="dk1"/>
                          </a:solidFill>
                          <a:latin typeface="Brandon Grotesque Regular" panose="020B0503020203060202" pitchFamily="34" charset="77"/>
                          <a:ea typeface="+mn-ea"/>
                          <a:cs typeface="+mn-cs"/>
                        </a:rPr>
                      </a:br>
                      <a:r>
                        <a:rPr lang="en-DE" sz="700" kern="1200" dirty="0">
                          <a:solidFill>
                            <a:schemeClr val="dk1"/>
                          </a:solidFill>
                          <a:latin typeface="Brandon Grotesque Regular" panose="020B0503020203060202" pitchFamily="34" charset="77"/>
                          <a:ea typeface="+mn-ea"/>
                          <a:cs typeface="+mn-cs"/>
                        </a:rPr>
                        <a:t>GENIUS (US), etc </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gridSpan="3">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DE" sz="700" kern="1200" dirty="0">
                          <a:solidFill>
                            <a:schemeClr val="dk1"/>
                          </a:solidFill>
                          <a:latin typeface="Brandon Grotesque Regular" panose="020B0503020203060202" pitchFamily="34" charset="77"/>
                          <a:ea typeface="+mn-ea"/>
                          <a:cs typeface="+mn-cs"/>
                        </a:rPr>
                        <a:t>Yes – with promise to redeem 1:1 in fiat</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hMerge="1">
                  <a:txBody>
                    <a:bodyPr/>
                    <a:lstStyle/>
                    <a:p>
                      <a:r>
                        <a:rPr lang="en-DE" sz="1100" kern="1200" dirty="0">
                          <a:solidFill>
                            <a:schemeClr val="dk1"/>
                          </a:solidFill>
                          <a:latin typeface="+mn-lt"/>
                          <a:ea typeface="+mn-ea"/>
                          <a:cs typeface="+mn-cs"/>
                        </a:rPr>
                        <a:t>Yes</a:t>
                      </a:r>
                    </a:p>
                  </a:txBody>
                  <a:tcPr/>
                </a:tc>
                <a:tc hMerge="1">
                  <a:txBody>
                    <a:bodyPr/>
                    <a:lstStyle/>
                    <a:p>
                      <a:r>
                        <a:rPr lang="en-DE" sz="1100" dirty="0"/>
                        <a:t>Yes</a:t>
                      </a:r>
                    </a:p>
                  </a:txBody>
                  <a:tcPr/>
                </a:tc>
                <a:extLst>
                  <a:ext uri="{0D108BD9-81ED-4DB2-BD59-A6C34878D82A}">
                    <a16:rowId xmlns:a16="http://schemas.microsoft.com/office/drawing/2014/main" val="3475138482"/>
                  </a:ext>
                </a:extLst>
              </a:tr>
              <a:tr h="511340">
                <a:tc>
                  <a:txBody>
                    <a:bodyPr/>
                    <a:lstStyle/>
                    <a:p>
                      <a:pPr algn="l"/>
                      <a:r>
                        <a:rPr lang="en-DE" sz="900" b="1" i="0" kern="1200" dirty="0">
                          <a:solidFill>
                            <a:schemeClr val="lt1"/>
                          </a:solidFill>
                          <a:latin typeface="Brandon Grotesque Bold" panose="020B0503020203060202" pitchFamily="34" charset="77"/>
                          <a:ea typeface="+mn-ea"/>
                          <a:cs typeface="+mn-cs"/>
                        </a:rPr>
                        <a:t>Acct/Token</a:t>
                      </a: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gridSpan="2">
                  <a:txBody>
                    <a:bodyPr/>
                    <a:lstStyle/>
                    <a:p>
                      <a:pPr algn="ctr">
                        <a:spcAft>
                          <a:spcPts val="600"/>
                        </a:spcAft>
                      </a:pPr>
                      <a:r>
                        <a:rPr lang="en-DE" sz="700" kern="1200" dirty="0">
                          <a:solidFill>
                            <a:schemeClr val="dk1"/>
                          </a:solidFill>
                          <a:latin typeface="Brandon Grotesque Regular" panose="020B0503020203060202" pitchFamily="34" charset="77"/>
                          <a:ea typeface="+mn-ea"/>
                          <a:cs typeface="+mn-cs"/>
                        </a:rPr>
                        <a:t>Tokenised</a:t>
                      </a:r>
                    </a:p>
                    <a:p>
                      <a:pPr algn="ctr">
                        <a:spcAft>
                          <a:spcPts val="600"/>
                        </a:spcAft>
                      </a:pPr>
                      <a:r>
                        <a:rPr lang="en-GB" sz="700" kern="1200" dirty="0">
                          <a:solidFill>
                            <a:schemeClr val="dk1"/>
                          </a:solidFill>
                          <a:latin typeface="Brandon Grotesque Regular" panose="020B0503020203060202" pitchFamily="34" charset="77"/>
                          <a:ea typeface="+mn-ea"/>
                          <a:cs typeface="+mn-cs"/>
                        </a:rPr>
                        <a:t>S</a:t>
                      </a:r>
                      <a:r>
                        <a:rPr lang="en-DE" sz="700" kern="1200" dirty="0">
                          <a:solidFill>
                            <a:schemeClr val="dk1"/>
                          </a:solidFill>
                          <a:latin typeface="Brandon Grotesque Regular" panose="020B0503020203060202" pitchFamily="34" charset="77"/>
                          <a:ea typeface="+mn-ea"/>
                          <a:cs typeface="+mn-cs"/>
                        </a:rPr>
                        <a:t>tored in Crypto-Wallets</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lang="en-DE" sz="700" kern="1200" dirty="0">
                        <a:solidFill>
                          <a:schemeClr val="dk1"/>
                        </a:solidFill>
                        <a:latin typeface="Brandon Grotesque Regular" panose="020B0503020203060202" pitchFamily="34" charset="77"/>
                        <a:ea typeface="+mn-ea"/>
                        <a:cs typeface="+mn-cs"/>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E-Wallet</a:t>
                      </a:r>
                    </a:p>
                    <a:p>
                      <a:pPr algn="l">
                        <a:spcAft>
                          <a:spcPts val="600"/>
                        </a:spcAft>
                      </a:pPr>
                      <a:r>
                        <a:rPr lang="en-DE" sz="700" kern="1200" dirty="0">
                          <a:solidFill>
                            <a:schemeClr val="dk1"/>
                          </a:solidFill>
                          <a:latin typeface="Brandon Grotesque Regular" panose="020B0503020203060202" pitchFamily="34" charset="77"/>
                          <a:ea typeface="+mn-ea"/>
                          <a:cs typeface="+mn-cs"/>
                        </a:rPr>
                        <a:t>Money not lent out,</a:t>
                      </a:r>
                      <a:br>
                        <a:rPr lang="en-DE" sz="700" kern="1200" dirty="0">
                          <a:solidFill>
                            <a:schemeClr val="dk1"/>
                          </a:solidFill>
                          <a:latin typeface="Brandon Grotesque Regular" panose="020B0503020203060202" pitchFamily="34" charset="77"/>
                          <a:ea typeface="+mn-ea"/>
                          <a:cs typeface="+mn-cs"/>
                        </a:rPr>
                      </a:br>
                      <a:r>
                        <a:rPr lang="en-DE" sz="700" kern="1200" dirty="0">
                          <a:solidFill>
                            <a:schemeClr val="dk1"/>
                          </a:solidFill>
                          <a:latin typeface="Brandon Grotesque Regular" panose="020B0503020203060202" pitchFamily="34" charset="77"/>
                          <a:ea typeface="+mn-ea"/>
                          <a:cs typeface="+mn-cs"/>
                        </a:rPr>
                        <a:t>pays no interest</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Account</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dirty="0">
                          <a:latin typeface="Brandon Grotesque Regular" panose="020B0503020203060202" pitchFamily="34" charset="77"/>
                        </a:rPr>
                        <a:t>Account</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63312889"/>
                  </a:ext>
                </a:extLst>
              </a:tr>
              <a:tr h="298181">
                <a:tc>
                  <a:txBody>
                    <a:bodyPr/>
                    <a:lstStyle/>
                    <a:p>
                      <a:pPr algn="l"/>
                      <a:r>
                        <a:rPr lang="en-DE" sz="900" b="1" i="0" kern="1200">
                          <a:solidFill>
                            <a:schemeClr val="lt1"/>
                          </a:solidFill>
                          <a:latin typeface="Brandon Grotesque Bold" panose="020B0503020203060202" pitchFamily="34" charset="77"/>
                          <a:ea typeface="+mn-ea"/>
                          <a:cs typeface="+mn-cs"/>
                        </a:rPr>
                        <a:t>Networks</a:t>
                      </a:r>
                      <a:endParaRPr lang="en-DE" sz="900" b="1" i="0" kern="1200" dirty="0">
                        <a:solidFill>
                          <a:schemeClr val="lt1"/>
                        </a:solidFill>
                        <a:latin typeface="Brandon Grotesque Bold" panose="020B0503020203060202" pitchFamily="34" charset="77"/>
                        <a:ea typeface="+mn-ea"/>
                        <a:cs typeface="+mn-cs"/>
                      </a:endParaRP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4"/>
                    </a:solidFill>
                  </a:tcPr>
                </a:tc>
                <a:tc gridSpan="2">
                  <a:txBody>
                    <a:bodyPr/>
                    <a:lstStyle/>
                    <a:p>
                      <a:pPr algn="ctr">
                        <a:spcAft>
                          <a:spcPts val="600"/>
                        </a:spcAft>
                      </a:pPr>
                      <a:r>
                        <a:rPr lang="en-GB" sz="700" kern="1200" dirty="0">
                          <a:solidFill>
                            <a:schemeClr val="dk1"/>
                          </a:solidFill>
                          <a:latin typeface="Brandon Grotesque Regular" panose="020B0503020203060202" pitchFamily="34" charset="77"/>
                          <a:ea typeface="+mn-ea"/>
                          <a:cs typeface="+mn-cs"/>
                        </a:rPr>
                        <a:t>t</a:t>
                      </a:r>
                      <a:r>
                        <a:rPr lang="en-DE" sz="700" kern="1200" dirty="0">
                          <a:solidFill>
                            <a:schemeClr val="dk1"/>
                          </a:solidFill>
                          <a:latin typeface="Brandon Grotesque Regular" panose="020B0503020203060202" pitchFamily="34" charset="77"/>
                          <a:ea typeface="+mn-ea"/>
                          <a:cs typeface="+mn-cs"/>
                        </a:rPr>
                        <a:t>yp. DLT, enhanced: Lightning</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l"/>
                      <a:endParaRPr lang="en-DE" dirty="0"/>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GB" sz="700" kern="1200" dirty="0">
                          <a:solidFill>
                            <a:schemeClr val="dk1"/>
                          </a:solidFill>
                          <a:latin typeface="Brandon Grotesque Regular" panose="020B0503020203060202" pitchFamily="34" charset="77"/>
                          <a:ea typeface="+mn-ea"/>
                          <a:cs typeface="+mn-cs"/>
                        </a:rPr>
                        <a:t>Own </a:t>
                      </a:r>
                      <a:r>
                        <a:rPr lang="en-DE" sz="700" kern="1200" dirty="0">
                          <a:solidFill>
                            <a:schemeClr val="dk1"/>
                          </a:solidFill>
                          <a:latin typeface="Brandon Grotesque Regular" panose="020B0503020203060202" pitchFamily="34" charset="77"/>
                          <a:ea typeface="+mn-ea"/>
                          <a:cs typeface="+mn-cs"/>
                        </a:rPr>
                        <a:t>FinTech network</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SWIFT, VISA/MC, SEPA, Instant, …</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dirty="0">
                          <a:latin typeface="Brandon Grotesque Regular" panose="020B0503020203060202" pitchFamily="34" charset="77"/>
                        </a:rPr>
                        <a:t>RTGS, TARGET with finality of settlement</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87476935"/>
                  </a:ext>
                </a:extLst>
              </a:tr>
              <a:tr h="643483">
                <a:tc>
                  <a:txBody>
                    <a:bodyPr/>
                    <a:lstStyle/>
                    <a:p>
                      <a:pPr algn="l"/>
                      <a:r>
                        <a:rPr lang="en-DE" sz="900" b="1" i="0" kern="1200" dirty="0">
                          <a:solidFill>
                            <a:schemeClr val="lt1"/>
                          </a:solidFill>
                          <a:latin typeface="Brandon Grotesque Bold" panose="020B0503020203060202" pitchFamily="34" charset="77"/>
                          <a:ea typeface="+mn-ea"/>
                          <a:cs typeface="+mn-cs"/>
                        </a:rPr>
                        <a:t>Digital</a:t>
                      </a:r>
                    </a:p>
                  </a:txBody>
                  <a:tcPr>
                    <a:lnL w="635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solidFill>
                      <a:schemeClr val="accent4"/>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100% digital</a:t>
                      </a:r>
                    </a:p>
                    <a:p>
                      <a:pPr marL="0" marR="0" lvl="0" indent="0" algn="l" defTabSz="914400" rtl="0" eaLnBrk="1" fontAlgn="auto" latinLnBrk="0" hangingPunct="1">
                        <a:lnSpc>
                          <a:spcPct val="100000"/>
                        </a:lnSpc>
                        <a:spcBef>
                          <a:spcPts val="0"/>
                        </a:spcBef>
                        <a:spcAft>
                          <a:spcPts val="600"/>
                        </a:spcAft>
                        <a:buClrTx/>
                        <a:buSzTx/>
                        <a:buFontTx/>
                        <a:buNone/>
                        <a:tabLst/>
                        <a:defRPr/>
                      </a:pPr>
                      <a:r>
                        <a:rPr lang="en-DE" sz="700" b="1" kern="1200" dirty="0">
                          <a:solidFill>
                            <a:schemeClr val="dk1"/>
                          </a:solidFill>
                          <a:latin typeface="Brandon Grotesque Regular" panose="020B0503020203060202" pitchFamily="34" charset="77"/>
                          <a:ea typeface="+mn-ea"/>
                          <a:cs typeface="+mn-cs"/>
                        </a:rPr>
                        <a:t>Where the hype was</a:t>
                      </a:r>
                      <a:endParaRPr lang="en-DE" sz="700" kern="1200" dirty="0">
                        <a:solidFill>
                          <a:schemeClr val="dk1"/>
                        </a:solidFill>
                        <a:latin typeface="Brandon Grotesque Regular" panose="020B0503020203060202" pitchFamily="34" charset="77"/>
                        <a:ea typeface="+mn-ea"/>
                        <a:cs typeface="+mn-cs"/>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100% digital</a:t>
                      </a:r>
                    </a:p>
                    <a:p>
                      <a:pPr marL="0" marR="0" lvl="0" indent="0" algn="l" defTabSz="914400" rtl="0" eaLnBrk="1" fontAlgn="auto" latinLnBrk="0" hangingPunct="1">
                        <a:lnSpc>
                          <a:spcPct val="100000"/>
                        </a:lnSpc>
                        <a:spcBef>
                          <a:spcPts val="0"/>
                        </a:spcBef>
                        <a:spcAft>
                          <a:spcPts val="600"/>
                        </a:spcAft>
                        <a:buClrTx/>
                        <a:buSzTx/>
                        <a:buFontTx/>
                        <a:buNone/>
                        <a:tabLst/>
                        <a:defRPr/>
                      </a:pPr>
                      <a:r>
                        <a:rPr lang="en-DE" sz="700" b="1" kern="1200" dirty="0">
                          <a:solidFill>
                            <a:schemeClr val="dk1"/>
                          </a:solidFill>
                          <a:latin typeface="Brandon Grotesque Regular" panose="020B0503020203060202" pitchFamily="34" charset="77"/>
                          <a:ea typeface="+mn-ea"/>
                          <a:cs typeface="+mn-cs"/>
                        </a:rPr>
                        <a:t>Where the digital attention is  globally</a:t>
                      </a:r>
                    </a:p>
                    <a:p>
                      <a:pPr algn="l">
                        <a:spcAft>
                          <a:spcPts val="600"/>
                        </a:spcAft>
                      </a:pPr>
                      <a:endParaRPr lang="en-DE" sz="700" kern="1200" dirty="0">
                        <a:solidFill>
                          <a:schemeClr val="dk1"/>
                        </a:solidFill>
                        <a:latin typeface="Brandon Grotesque Regular" panose="020B0503020203060202" pitchFamily="34" charset="77"/>
                        <a:ea typeface="+mn-ea"/>
                        <a:cs typeface="+mn-cs"/>
                      </a:endParaRP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kern="1200" dirty="0">
                          <a:solidFill>
                            <a:schemeClr val="dk1"/>
                          </a:solidFill>
                          <a:latin typeface="Brandon Grotesque Regular" panose="020B0503020203060202" pitchFamily="34" charset="77"/>
                          <a:ea typeface="+mn-ea"/>
                          <a:cs typeface="+mn-cs"/>
                        </a:rPr>
                        <a:t>100% digital - used by millions/ billions of users and businesses</a:t>
                      </a:r>
                    </a:p>
                    <a:p>
                      <a:pPr marL="0" marR="0" lvl="0" indent="0" algn="l" defTabSz="914400" rtl="0" eaLnBrk="1" fontAlgn="auto" latinLnBrk="0" hangingPunct="1">
                        <a:lnSpc>
                          <a:spcPct val="100000"/>
                        </a:lnSpc>
                        <a:spcBef>
                          <a:spcPts val="0"/>
                        </a:spcBef>
                        <a:spcAft>
                          <a:spcPts val="600"/>
                        </a:spcAft>
                        <a:buClrTx/>
                        <a:buSzTx/>
                        <a:buFontTx/>
                        <a:buNone/>
                        <a:tabLst/>
                        <a:defRPr/>
                      </a:pPr>
                      <a:r>
                        <a:rPr lang="en-DE" sz="700" b="1" kern="1200" dirty="0">
                          <a:solidFill>
                            <a:schemeClr val="dk1"/>
                          </a:solidFill>
                          <a:latin typeface="Brandon Grotesque Regular" panose="020B0503020203060202" pitchFamily="34" charset="77"/>
                          <a:ea typeface="+mn-ea"/>
                          <a:cs typeface="+mn-cs"/>
                        </a:rPr>
                        <a:t>Where the digital action was globally</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b="1" kern="1200" dirty="0">
                          <a:solidFill>
                            <a:schemeClr val="dk1"/>
                          </a:solidFill>
                          <a:latin typeface="Brandon Grotesque Regular" panose="020B0503020203060202" pitchFamily="34" charset="77"/>
                          <a:ea typeface="+mn-ea"/>
                          <a:cs typeface="+mn-cs"/>
                        </a:rPr>
                        <a:t>By far the dominant form </a:t>
                      </a:r>
                      <a:br>
                        <a:rPr lang="en-DE" sz="700" b="1" kern="1200" dirty="0">
                          <a:solidFill>
                            <a:schemeClr val="dk1"/>
                          </a:solidFill>
                          <a:latin typeface="Brandon Grotesque Regular" panose="020B0503020203060202" pitchFamily="34" charset="77"/>
                          <a:ea typeface="+mn-ea"/>
                          <a:cs typeface="+mn-cs"/>
                        </a:rPr>
                      </a:br>
                      <a:r>
                        <a:rPr lang="en-DE" sz="700" b="1" kern="1200" dirty="0">
                          <a:solidFill>
                            <a:schemeClr val="dk1"/>
                          </a:solidFill>
                          <a:latin typeface="Brandon Grotesque Regular" panose="020B0503020203060202" pitchFamily="34" charset="77"/>
                          <a:ea typeface="+mn-ea"/>
                          <a:cs typeface="+mn-cs"/>
                        </a:rPr>
                        <a:t>of digital money</a:t>
                      </a:r>
                      <a:r>
                        <a:rPr lang="en-DE" sz="700" b="0" kern="1200" dirty="0">
                          <a:solidFill>
                            <a:schemeClr val="dk1"/>
                          </a:solidFill>
                          <a:latin typeface="Brandon Grotesque Regular" panose="020B0503020203060202" pitchFamily="34" charset="77"/>
                          <a:ea typeface="+mn-ea"/>
                          <a:cs typeface="+mn-cs"/>
                        </a:rPr>
                        <a:t> </a:t>
                      </a:r>
                      <a:br>
                        <a:rPr lang="en-DE" sz="700" b="0" kern="1200" dirty="0">
                          <a:solidFill>
                            <a:schemeClr val="dk1"/>
                          </a:solidFill>
                          <a:latin typeface="Brandon Grotesque Regular" panose="020B0503020203060202" pitchFamily="34" charset="77"/>
                          <a:ea typeface="+mn-ea"/>
                          <a:cs typeface="+mn-cs"/>
                        </a:rPr>
                      </a:br>
                      <a:br>
                        <a:rPr lang="en-DE" sz="700" b="0" kern="1200" dirty="0">
                          <a:solidFill>
                            <a:schemeClr val="dk1"/>
                          </a:solidFill>
                          <a:latin typeface="Brandon Grotesque Regular" panose="020B0503020203060202" pitchFamily="34" charset="77"/>
                          <a:ea typeface="+mn-ea"/>
                          <a:cs typeface="+mn-cs"/>
                        </a:rPr>
                      </a:br>
                      <a:r>
                        <a:rPr lang="en-DE" sz="700" b="0" kern="1200" dirty="0">
                          <a:solidFill>
                            <a:schemeClr val="dk1"/>
                          </a:solidFill>
                          <a:latin typeface="Brandon Grotesque Regular" panose="020B0503020203060202" pitchFamily="34" charset="77"/>
                          <a:ea typeface="+mn-ea"/>
                          <a:cs typeface="+mn-cs"/>
                        </a:rPr>
                        <a:t>(20x bigger than central bank money)</a:t>
                      </a:r>
                    </a:p>
                    <a:p>
                      <a:pPr algn="l">
                        <a:spcAft>
                          <a:spcPts val="600"/>
                        </a:spcAft>
                      </a:pPr>
                      <a:r>
                        <a:rPr lang="en-DE" sz="700" b="1" kern="1200" dirty="0">
                          <a:solidFill>
                            <a:schemeClr val="dk1"/>
                          </a:solidFill>
                          <a:latin typeface="Brandon Grotesque Regular" panose="020B0503020203060202" pitchFamily="34" charset="77"/>
                          <a:ea typeface="+mn-ea"/>
                          <a:cs typeface="+mn-cs"/>
                        </a:rPr>
                        <a:t>CBMT, Tokenised Deposit, </a:t>
                      </a:r>
                      <a:br>
                        <a:rPr lang="en-DE" sz="700" b="1" kern="1200" dirty="0">
                          <a:solidFill>
                            <a:schemeClr val="dk1"/>
                          </a:solidFill>
                          <a:latin typeface="Brandon Grotesque Regular" panose="020B0503020203060202" pitchFamily="34" charset="77"/>
                          <a:ea typeface="+mn-ea"/>
                          <a:cs typeface="+mn-cs"/>
                        </a:rPr>
                      </a:br>
                      <a:r>
                        <a:rPr lang="en-DE" sz="700" b="1" kern="1200" dirty="0">
                          <a:solidFill>
                            <a:schemeClr val="dk1"/>
                          </a:solidFill>
                          <a:latin typeface="Brandon Grotesque Regular" panose="020B0503020203060202" pitchFamily="34" charset="77"/>
                          <a:ea typeface="+mn-ea"/>
                          <a:cs typeface="+mn-cs"/>
                        </a:rPr>
                        <a:t>Deposit Token</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pPr algn="l">
                        <a:spcAft>
                          <a:spcPts val="600"/>
                        </a:spcAft>
                      </a:pPr>
                      <a:r>
                        <a:rPr lang="en-DE" sz="700" dirty="0">
                          <a:latin typeface="Brandon Grotesque Regular" panose="020B0503020203060202" pitchFamily="34" charset="77"/>
                        </a:rPr>
                        <a:t>Reserves are 100% digital</a:t>
                      </a:r>
                    </a:p>
                    <a:p>
                      <a:pPr algn="l">
                        <a:spcAft>
                          <a:spcPts val="600"/>
                        </a:spcAft>
                      </a:pPr>
                      <a:r>
                        <a:rPr lang="en-DE" sz="700" dirty="0">
                          <a:latin typeface="Brandon Grotesque Regular" panose="020B0503020203060202" pitchFamily="34" charset="77"/>
                        </a:rPr>
                        <a:t>Cash is 100% non-digital</a:t>
                      </a:r>
                    </a:p>
                    <a:p>
                      <a:pPr algn="l">
                        <a:spcAft>
                          <a:spcPts val="600"/>
                        </a:spcAft>
                      </a:pPr>
                      <a:r>
                        <a:rPr lang="en-DE" sz="700" b="1" dirty="0">
                          <a:latin typeface="Brandon Grotesque Regular" panose="020B0503020203060202" pitchFamily="34" charset="77"/>
                        </a:rPr>
                        <a:t>rCBDC</a:t>
                      </a:r>
                      <a:r>
                        <a:rPr lang="en-DE" sz="700" dirty="0">
                          <a:latin typeface="Brandon Grotesque Regular" panose="020B0503020203060202" pitchFamily="34" charset="77"/>
                        </a:rPr>
                        <a:t> (digital cash) being explored</a:t>
                      </a:r>
                    </a:p>
                    <a:p>
                      <a:pPr algn="l">
                        <a:spcAft>
                          <a:spcPts val="600"/>
                        </a:spcAft>
                      </a:pPr>
                      <a:r>
                        <a:rPr lang="en-DE" sz="700" b="1" dirty="0">
                          <a:latin typeface="Brandon Grotesque Regular" panose="020B0503020203060202" pitchFamily="34" charset="77"/>
                        </a:rPr>
                        <a:t>wCBDC</a:t>
                      </a:r>
                      <a:r>
                        <a:rPr lang="en-DE" sz="700" dirty="0">
                          <a:latin typeface="Brandon Grotesque Regular" panose="020B0503020203060202" pitchFamily="34" charset="77"/>
                        </a:rPr>
                        <a:t> (inter-CB) being explored</a:t>
                      </a:r>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1859713"/>
                  </a:ext>
                </a:extLst>
              </a:tr>
            </a:tbl>
          </a:graphicData>
        </a:graphic>
      </p:graphicFrame>
      <p:sp>
        <p:nvSpPr>
          <p:cNvPr id="18" name="Content Placeholder 1">
            <a:extLst>
              <a:ext uri="{FF2B5EF4-FFF2-40B4-BE49-F238E27FC236}">
                <a16:creationId xmlns:a16="http://schemas.microsoft.com/office/drawing/2014/main" id="{A90DB8E5-A950-C23A-9B14-D23A68341CCF}"/>
              </a:ext>
            </a:extLst>
          </p:cNvPr>
          <p:cNvSpPr txBox="1">
            <a:spLocks/>
          </p:cNvSpPr>
          <p:nvPr/>
        </p:nvSpPr>
        <p:spPr>
          <a:xfrm>
            <a:off x="594247" y="4609850"/>
            <a:ext cx="5292986" cy="224677"/>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685800" eaLnBrk="1" hangingPunct="1">
              <a:lnSpc>
                <a:spcPct val="110000"/>
              </a:lnSpc>
              <a:spcAft>
                <a:spcPts val="300"/>
              </a:spcAft>
              <a:buSzPct val="100000"/>
              <a:buFont typeface="Arial"/>
              <a:defRPr sz="800">
                <a:latin typeface="Brandon Grotesque Light" panose="020B0303020203060202" pitchFamily="34" charset="77"/>
                <a:ea typeface="+mn-ea"/>
                <a:cs typeface="+mn-cs"/>
              </a:defRPr>
            </a:lvl1pPr>
            <a:lvl2pPr marL="388275" lvl="1" indent="-171450" defTabSz="685800" eaLnBrk="1" hangingPunct="1">
              <a:spcBef>
                <a:spcPts val="400"/>
              </a:spcBef>
              <a:buSzPct val="100000"/>
              <a:buFont typeface="Monaco" pitchFamily="2" charset="77"/>
              <a:buChar char="⎼"/>
              <a:defRPr sz="1000">
                <a:latin typeface="Brandon Grotesque Light" panose="020B0303020203060202" pitchFamily="34" charset="77"/>
                <a:ea typeface="+mn-ea"/>
                <a:cs typeface="+mn-cs"/>
              </a:defRPr>
            </a:lvl2pPr>
            <a:lvl3pPr marL="880110" indent="-194309" defTabSz="685800" eaLnBrk="1" hangingPunct="1">
              <a:lnSpc>
                <a:spcPct val="72000"/>
              </a:lnSpc>
              <a:spcBef>
                <a:spcPts val="700"/>
              </a:spcBef>
              <a:buSzPct val="100000"/>
              <a:buFont typeface="Arial"/>
              <a:buChar char="•"/>
              <a:defRPr sz="1600">
                <a:latin typeface="Brandon Grotesque Light" panose="020B0303020203060202" pitchFamily="34" charset="0"/>
                <a:ea typeface="+mn-ea"/>
                <a:cs typeface="+mn-cs"/>
              </a:defRPr>
            </a:lvl3pPr>
            <a:lvl4pPr marL="1252902" indent="-224202" defTabSz="685800" eaLnBrk="1" hangingPunct="1">
              <a:lnSpc>
                <a:spcPct val="72000"/>
              </a:lnSpc>
              <a:spcBef>
                <a:spcPts val="700"/>
              </a:spcBef>
              <a:buSzPct val="100000"/>
              <a:buFont typeface="Arial"/>
              <a:buChar char="•"/>
              <a:defRPr sz="1600">
                <a:latin typeface="Brandon Grotesque Light" panose="020B0303020203060202" pitchFamily="34" charset="0"/>
                <a:ea typeface="+mn-ea"/>
                <a:cs typeface="+mn-cs"/>
              </a:defRPr>
            </a:lvl4pPr>
            <a:lvl5pPr marL="1595802" indent="-224202" defTabSz="685800" eaLnBrk="1" hangingPunct="1">
              <a:lnSpc>
                <a:spcPct val="72000"/>
              </a:lnSpc>
              <a:spcBef>
                <a:spcPts val="700"/>
              </a:spcBef>
              <a:buSzPct val="100000"/>
              <a:buFont typeface="Arial"/>
              <a:buChar char="•"/>
              <a:defRPr sz="1600">
                <a:latin typeface="Brandon Grotesque Light" panose="020B0303020203060202" pitchFamily="34" charset="0"/>
                <a:ea typeface="+mn-ea"/>
                <a:cs typeface="+mn-cs"/>
              </a:defRPr>
            </a:lvl5pPr>
            <a:lvl6pPr marL="1938702" indent="-224202" defTabSz="685800" eaLnBrk="1" hangingPunct="1">
              <a:lnSpc>
                <a:spcPct val="72000"/>
              </a:lnSpc>
              <a:spcBef>
                <a:spcPts val="700"/>
              </a:spcBef>
              <a:buSzPct val="100000"/>
              <a:buFont typeface="Arial"/>
              <a:buChar char="•"/>
              <a:defRPr sz="1700">
                <a:latin typeface="+mn-lt"/>
                <a:ea typeface="+mn-ea"/>
                <a:cs typeface="+mn-cs"/>
              </a:defRPr>
            </a:lvl6pPr>
            <a:lvl7pPr marL="2281602" indent="-224202" defTabSz="685800" eaLnBrk="1" hangingPunct="1">
              <a:lnSpc>
                <a:spcPct val="72000"/>
              </a:lnSpc>
              <a:spcBef>
                <a:spcPts val="700"/>
              </a:spcBef>
              <a:buSzPct val="100000"/>
              <a:buFont typeface="Arial"/>
              <a:buChar char="•"/>
              <a:defRPr sz="1700">
                <a:latin typeface="+mn-lt"/>
                <a:ea typeface="+mn-ea"/>
                <a:cs typeface="+mn-cs"/>
              </a:defRPr>
            </a:lvl7pPr>
            <a:lvl8pPr marL="2624502" indent="-224202" defTabSz="685800" eaLnBrk="1" hangingPunct="1">
              <a:lnSpc>
                <a:spcPct val="72000"/>
              </a:lnSpc>
              <a:spcBef>
                <a:spcPts val="700"/>
              </a:spcBef>
              <a:buSzPct val="100000"/>
              <a:buFont typeface="Arial"/>
              <a:buChar char="•"/>
              <a:defRPr sz="1700">
                <a:latin typeface="+mn-lt"/>
                <a:ea typeface="+mn-ea"/>
                <a:cs typeface="+mn-cs"/>
              </a:defRPr>
            </a:lvl8pPr>
            <a:lvl9pPr marL="2967402" indent="-224202" defTabSz="685800" eaLnBrk="1" hangingPunct="1">
              <a:lnSpc>
                <a:spcPct val="72000"/>
              </a:lnSpc>
              <a:spcBef>
                <a:spcPts val="700"/>
              </a:spcBef>
              <a:buSzPct val="100000"/>
              <a:buFont typeface="Arial"/>
              <a:buChar char="•"/>
              <a:defRPr sz="1700">
                <a:latin typeface="+mn-lt"/>
                <a:ea typeface="+mn-ea"/>
                <a:cs typeface="+mn-cs"/>
              </a:defRPr>
            </a:lvl9pPr>
          </a:lstStyle>
          <a:p>
            <a:r>
              <a:rPr lang="en-GB" dirty="0"/>
              <a:t>S</a:t>
            </a:r>
            <a:r>
              <a:rPr lang="en-DE" dirty="0"/>
              <a:t>ource: after Citi https://www.youtube.com/watch?v=ZfOPZD98H00&amp;ab_channel=MobeyForum</a:t>
            </a:r>
          </a:p>
        </p:txBody>
      </p:sp>
      <p:pic>
        <p:nvPicPr>
          <p:cNvPr id="5" name="Picture 4">
            <a:extLst>
              <a:ext uri="{FF2B5EF4-FFF2-40B4-BE49-F238E27FC236}">
                <a16:creationId xmlns:a16="http://schemas.microsoft.com/office/drawing/2014/main" id="{73F9A24C-D132-3A2F-53F0-F0A02D864376}"/>
              </a:ext>
            </a:extLst>
          </p:cNvPr>
          <p:cNvPicPr>
            <a:picLocks noChangeAspect="1"/>
          </p:cNvPicPr>
          <p:nvPr/>
        </p:nvPicPr>
        <p:blipFill>
          <a:blip r:embed="rId3"/>
          <a:stretch>
            <a:fillRect/>
          </a:stretch>
        </p:blipFill>
        <p:spPr>
          <a:xfrm>
            <a:off x="-5099936" y="-101600"/>
            <a:ext cx="4972683" cy="5143500"/>
          </a:xfrm>
          <a:prstGeom prst="rect">
            <a:avLst/>
          </a:prstGeom>
        </p:spPr>
      </p:pic>
    </p:spTree>
    <p:extLst>
      <p:ext uri="{BB962C8B-B14F-4D97-AF65-F5344CB8AC3E}">
        <p14:creationId xmlns:p14="http://schemas.microsoft.com/office/powerpoint/2010/main" val="364960339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7BCB3-D839-EC06-F8FF-09D44DDB4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A91C2-6346-373B-FB30-DB043724219D}"/>
              </a:ext>
            </a:extLst>
          </p:cNvPr>
          <p:cNvSpPr>
            <a:spLocks noGrp="1"/>
          </p:cNvSpPr>
          <p:nvPr>
            <p:ph type="title" idx="4294967295"/>
          </p:nvPr>
        </p:nvSpPr>
        <p:spPr>
          <a:xfrm>
            <a:off x="0" y="1937691"/>
            <a:ext cx="9144000" cy="569913"/>
          </a:xfrm>
        </p:spPr>
        <p:txBody>
          <a:bodyPr>
            <a:normAutofit/>
          </a:bodyPr>
          <a:lstStyle/>
          <a:p>
            <a:pPr algn="ctr"/>
            <a:r>
              <a:rPr lang="en-DE" dirty="0"/>
              <a:t>Stablecoins</a:t>
            </a:r>
          </a:p>
        </p:txBody>
      </p:sp>
      <p:sp>
        <p:nvSpPr>
          <p:cNvPr id="7" name="Rectangle 6">
            <a:extLst>
              <a:ext uri="{FF2B5EF4-FFF2-40B4-BE49-F238E27FC236}">
                <a16:creationId xmlns:a16="http://schemas.microsoft.com/office/drawing/2014/main" id="{483A3BD1-06E1-8D7D-7ED1-653787B3F7F4}"/>
              </a:ext>
            </a:extLst>
          </p:cNvPr>
          <p:cNvSpPr/>
          <p:nvPr/>
        </p:nvSpPr>
        <p:spPr>
          <a:xfrm>
            <a:off x="681498" y="1699382"/>
            <a:ext cx="7833853" cy="1056787"/>
          </a:xfrm>
          <a:prstGeom prst="rect">
            <a:avLst/>
          </a:prstGeom>
          <a:noFill/>
          <a:ln w="88900" cap="flat">
            <a:solidFill>
              <a:schemeClr val="accent4"/>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DE" sz="1800" b="0" i="0" u="none" strike="noStrike" cap="none" spc="0" normalizeH="0" baseline="0">
              <a:ln>
                <a:noFill/>
              </a:ln>
              <a:solidFill>
                <a:srgbClr val="000000"/>
              </a:solidFill>
              <a:effectLst/>
              <a:uFillTx/>
              <a:latin typeface="+mj-lt"/>
              <a:ea typeface="+mj-ea"/>
              <a:cs typeface="+mj-cs"/>
              <a:sym typeface="Helvetica"/>
            </a:endParaRPr>
          </a:p>
        </p:txBody>
      </p:sp>
      <p:sp>
        <p:nvSpPr>
          <p:cNvPr id="6" name="Title 1">
            <a:extLst>
              <a:ext uri="{FF2B5EF4-FFF2-40B4-BE49-F238E27FC236}">
                <a16:creationId xmlns:a16="http://schemas.microsoft.com/office/drawing/2014/main" id="{22031719-2412-B039-8D6F-4C5B7A0007BF}"/>
              </a:ext>
            </a:extLst>
          </p:cNvPr>
          <p:cNvSpPr txBox="1">
            <a:spLocks/>
          </p:cNvSpPr>
          <p:nvPr/>
        </p:nvSpPr>
        <p:spPr>
          <a:xfrm>
            <a:off x="1" y="3539326"/>
            <a:ext cx="9144000" cy="417079"/>
          </a:xfrm>
          <a:prstGeom prst="rect">
            <a:avLst/>
          </a:prstGeom>
        </p:spPr>
        <p:txBody>
          <a:bodyPr/>
          <a:lstStyle>
            <a:lvl1pPr marL="0" marR="0" indent="0" algn="l" defTabSz="685800" rtl="0" latinLnBrk="0">
              <a:lnSpc>
                <a:spcPct val="90000"/>
              </a:lnSpc>
              <a:spcBef>
                <a:spcPts val="0"/>
              </a:spcBef>
              <a:spcAft>
                <a:spcPts val="0"/>
              </a:spcAft>
              <a:buClrTx/>
              <a:buSzTx/>
              <a:buFontTx/>
              <a:buNone/>
              <a:tabLst/>
              <a:defRPr sz="2800" b="0" i="0" u="none" strike="noStrike" cap="none" spc="0" baseline="0">
                <a:ln>
                  <a:noFill/>
                </a:ln>
                <a:solidFill>
                  <a:srgbClr val="000000"/>
                </a:solidFill>
                <a:uFillTx/>
                <a:latin typeface="Brandon Grotesque Black" panose="020B0A03020203060202" pitchFamily="34" charset="0"/>
                <a:ea typeface="Brandon Grotesque Black" panose="020B0A03020203060202" pitchFamily="34" charset="0"/>
                <a:cs typeface="Calibri Light"/>
                <a:sym typeface="Calibri Light"/>
              </a:defRPr>
            </a:lvl1pPr>
            <a:lvl2pPr marL="0" marR="0" indent="0" algn="l" defTabSz="685800" rtl="0" latinLnBrk="0">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685800" rtl="0" latinLnBrk="0">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685800" rtl="0" latinLnBrk="0">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685800" rtl="0" latinLnBrk="0">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685800" rtl="0" latinLnBrk="0">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685800" rtl="0" latinLnBrk="0">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685800" rtl="0" latinLnBrk="0">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685800" rtl="0" latinLnBrk="0">
              <a:lnSpc>
                <a:spcPct val="90000"/>
              </a:lnSpc>
              <a:spcBef>
                <a:spcPts val="0"/>
              </a:spcBef>
              <a:spcAft>
                <a:spcPts val="0"/>
              </a:spcAft>
              <a:buClrTx/>
              <a:buSzTx/>
              <a:buFontTx/>
              <a:buNone/>
              <a:tabLst/>
              <a:defRPr sz="3300" b="0" i="0" u="none" strike="noStrike" cap="none" spc="0" baseline="0">
                <a:ln>
                  <a:noFill/>
                </a:ln>
                <a:solidFill>
                  <a:srgbClr val="000000"/>
                </a:solidFill>
                <a:uFillTx/>
                <a:latin typeface="Calibri Light"/>
                <a:ea typeface="Calibri Light"/>
                <a:cs typeface="Calibri Light"/>
                <a:sym typeface="Calibri Light"/>
              </a:defRPr>
            </a:lvl9pPr>
          </a:lstStyle>
          <a:p>
            <a:pPr algn="ctr" hangingPunct="1"/>
            <a:r>
              <a:rPr lang="en-GB" dirty="0"/>
              <a:t>The new Form Factor of Money</a:t>
            </a:r>
          </a:p>
        </p:txBody>
      </p:sp>
      <p:sp>
        <p:nvSpPr>
          <p:cNvPr id="5" name="Footer Placeholder 4">
            <a:extLst>
              <a:ext uri="{FF2B5EF4-FFF2-40B4-BE49-F238E27FC236}">
                <a16:creationId xmlns:a16="http://schemas.microsoft.com/office/drawing/2014/main" id="{48A9001A-3907-3597-0F57-15BA3E6DF622}"/>
              </a:ext>
            </a:extLst>
          </p:cNvPr>
          <p:cNvSpPr>
            <a:spLocks noGrp="1"/>
          </p:cNvSpPr>
          <p:nvPr>
            <p:ph type="ftr" sz="quarter" idx="3"/>
          </p:nvPr>
        </p:nvSpPr>
        <p:spPr/>
        <p:txBody>
          <a:bodyPr/>
          <a:lstStyle/>
          <a:p>
            <a:r>
              <a:rPr lang="en-US" dirty="0"/>
              <a:t>Payments Innovation Consulting</a:t>
            </a:r>
          </a:p>
        </p:txBody>
      </p:sp>
      <p:sp>
        <p:nvSpPr>
          <p:cNvPr id="3" name="Slide Number Placeholder 2">
            <a:extLst>
              <a:ext uri="{FF2B5EF4-FFF2-40B4-BE49-F238E27FC236}">
                <a16:creationId xmlns:a16="http://schemas.microsoft.com/office/drawing/2014/main" id="{52EE6B28-2FE5-400A-E8D4-FFE347AA1015}"/>
              </a:ext>
            </a:extLst>
          </p:cNvPr>
          <p:cNvSpPr>
            <a:spLocks noGrp="1"/>
          </p:cNvSpPr>
          <p:nvPr>
            <p:ph type="sldNum" sz="quarter" idx="2"/>
          </p:nvPr>
        </p:nvSpPr>
        <p:spPr/>
        <p:txBody>
          <a:bodyPr/>
          <a:lstStyle/>
          <a:p>
            <a:fld id="{86CB4B4D-7CA3-9044-876B-883B54F8677D}" type="slidenum">
              <a:rPr lang="en-DE" smtClean="0"/>
              <a:t>5</a:t>
            </a:fld>
            <a:endParaRPr lang="en-DE"/>
          </a:p>
        </p:txBody>
      </p:sp>
    </p:spTree>
    <p:extLst>
      <p:ext uri="{BB962C8B-B14F-4D97-AF65-F5344CB8AC3E}">
        <p14:creationId xmlns:p14="http://schemas.microsoft.com/office/powerpoint/2010/main" val="347808324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8D0A1-27D0-3E12-AFFB-F59EB773358A}"/>
              </a:ext>
            </a:extLst>
          </p:cNvPr>
          <p:cNvSpPr>
            <a:spLocks noGrp="1"/>
          </p:cNvSpPr>
          <p:nvPr>
            <p:ph type="title"/>
          </p:nvPr>
        </p:nvSpPr>
        <p:spPr/>
        <p:txBody>
          <a:bodyPr/>
          <a:lstStyle/>
          <a:p>
            <a:r>
              <a:rPr lang="en-GB" dirty="0" err="1"/>
              <a:t>Qivalis</a:t>
            </a:r>
            <a:r>
              <a:rPr lang="en-GB" dirty="0"/>
              <a:t> – EU Bank Consortium for Stablecoins </a:t>
            </a:r>
          </a:p>
        </p:txBody>
      </p:sp>
      <p:sp>
        <p:nvSpPr>
          <p:cNvPr id="4" name="Slide Number Placeholder 3">
            <a:extLst>
              <a:ext uri="{FF2B5EF4-FFF2-40B4-BE49-F238E27FC236}">
                <a16:creationId xmlns:a16="http://schemas.microsoft.com/office/drawing/2014/main" id="{32BCEDDE-B9FA-5BB8-6E43-B62D3DBC8D2C}"/>
              </a:ext>
            </a:extLst>
          </p:cNvPr>
          <p:cNvSpPr>
            <a:spLocks noGrp="1"/>
          </p:cNvSpPr>
          <p:nvPr>
            <p:ph type="sldNum" sz="quarter" idx="2"/>
          </p:nvPr>
        </p:nvSpPr>
        <p:spPr/>
        <p:txBody>
          <a:bodyPr/>
          <a:lstStyle/>
          <a:p>
            <a:fld id="{86CB4B4D-7CA3-9044-876B-883B54F8677D}" type="slidenum">
              <a:rPr lang="en-DE" smtClean="0"/>
              <a:t>6</a:t>
            </a:fld>
            <a:endParaRPr lang="en-DE"/>
          </a:p>
        </p:txBody>
      </p:sp>
      <p:sp>
        <p:nvSpPr>
          <p:cNvPr id="5" name="Footer Placeholder 4">
            <a:extLst>
              <a:ext uri="{FF2B5EF4-FFF2-40B4-BE49-F238E27FC236}">
                <a16:creationId xmlns:a16="http://schemas.microsoft.com/office/drawing/2014/main" id="{D19CEB75-5994-AB41-703B-340133233605}"/>
              </a:ext>
            </a:extLst>
          </p:cNvPr>
          <p:cNvSpPr>
            <a:spLocks noGrp="1"/>
          </p:cNvSpPr>
          <p:nvPr>
            <p:ph type="ftr" sz="quarter" idx="3"/>
          </p:nvPr>
        </p:nvSpPr>
        <p:spPr/>
        <p:txBody>
          <a:bodyPr/>
          <a:lstStyle/>
          <a:p>
            <a:r>
              <a:rPr lang="en-US"/>
              <a:t>Payments Innovation Consulting</a:t>
            </a:r>
          </a:p>
        </p:txBody>
      </p:sp>
      <p:sp>
        <p:nvSpPr>
          <p:cNvPr id="7" name="Text Placeholder 10">
            <a:extLst>
              <a:ext uri="{FF2B5EF4-FFF2-40B4-BE49-F238E27FC236}">
                <a16:creationId xmlns:a16="http://schemas.microsoft.com/office/drawing/2014/main" id="{4B45A15B-F005-B32F-E158-1FCB27E1E11A}"/>
              </a:ext>
            </a:extLst>
          </p:cNvPr>
          <p:cNvSpPr txBox="1">
            <a:spLocks/>
          </p:cNvSpPr>
          <p:nvPr/>
        </p:nvSpPr>
        <p:spPr>
          <a:xfrm>
            <a:off x="628650" y="789624"/>
            <a:ext cx="5270988" cy="264688"/>
          </a:xfrm>
          <a:prstGeom prst="rect">
            <a:avLst/>
          </a:prstGeom>
        </p:spPr>
        <p:txBody>
          <a:bodyPr wrap="square" lIns="60960" tIns="0" rIns="60960" bIns="0">
            <a:spAutoFit/>
          </a:bodyPr>
          <a:lstStyle>
            <a:lvl1pPr marL="138792" marR="0" indent="-13879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1pPr>
            <a:lvl2pPr marL="504825" marR="0" indent="-161925"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2pPr>
            <a:lvl3pPr marL="880110" marR="0" indent="-194309"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3pPr>
            <a:lvl4pPr marL="1252902" marR="0" indent="-22420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4pPr>
            <a:lvl5pPr marL="1595802" marR="0" indent="-22420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5pPr>
            <a:lvl6pPr marL="19387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a:lstStyle>
          <a:p>
            <a:pPr marL="0" indent="0">
              <a:lnSpc>
                <a:spcPct val="110000"/>
              </a:lnSpc>
              <a:spcBef>
                <a:spcPts val="0"/>
              </a:spcBef>
              <a:buNone/>
            </a:pPr>
            <a:r>
              <a:rPr lang="en-US" dirty="0">
                <a:latin typeface="Brandon Grotesque Light" panose="020B0303020203060202" pitchFamily="34" charset="77"/>
                <a:cs typeface="Arial" panose="020B0604020202020204" pitchFamily="34" charset="0"/>
              </a:rPr>
              <a:t>Status 1H26 – 37 banks in 15 countries</a:t>
            </a:r>
          </a:p>
        </p:txBody>
      </p:sp>
      <p:sp>
        <p:nvSpPr>
          <p:cNvPr id="8" name="Text Placeholder 10">
            <a:extLst>
              <a:ext uri="{FF2B5EF4-FFF2-40B4-BE49-F238E27FC236}">
                <a16:creationId xmlns:a16="http://schemas.microsoft.com/office/drawing/2014/main" id="{D0F5DC32-9E84-4241-C549-BA7834D4E598}"/>
              </a:ext>
            </a:extLst>
          </p:cNvPr>
          <p:cNvSpPr txBox="1">
            <a:spLocks/>
          </p:cNvSpPr>
          <p:nvPr/>
        </p:nvSpPr>
        <p:spPr>
          <a:xfrm>
            <a:off x="628649" y="1359341"/>
            <a:ext cx="2770784" cy="3584379"/>
          </a:xfrm>
          <a:prstGeom prst="rect">
            <a:avLst/>
          </a:prstGeom>
        </p:spPr>
        <p:txBody>
          <a:bodyPr wrap="square" lIns="60960" tIns="0" rIns="60960" bIns="0">
            <a:spAutoFit/>
          </a:bodyPr>
          <a:lstStyle>
            <a:lvl1pPr marL="138792" marR="0" indent="-13879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1pPr>
            <a:lvl2pPr marL="504825" marR="0" indent="-161925"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2pPr>
            <a:lvl3pPr marL="880110" marR="0" indent="-194309"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3pPr>
            <a:lvl4pPr marL="1252902" marR="0" indent="-22420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4pPr>
            <a:lvl5pPr marL="1595802" marR="0" indent="-224202" algn="l" defTabSz="685800" rtl="0" latinLnBrk="0">
              <a:lnSpc>
                <a:spcPct val="72000"/>
              </a:lnSpc>
              <a:spcBef>
                <a:spcPts val="700"/>
              </a:spcBef>
              <a:spcAft>
                <a:spcPts val="0"/>
              </a:spcAft>
              <a:buClrTx/>
              <a:buSzPct val="100000"/>
              <a:buFont typeface="Arial"/>
              <a:buChar char="•"/>
              <a:tabLst/>
              <a:defRPr sz="1600" b="0" i="0" u="none" strike="noStrike" cap="none" spc="0" baseline="0">
                <a:ln>
                  <a:noFill/>
                </a:ln>
                <a:solidFill>
                  <a:srgbClr val="000000"/>
                </a:solidFill>
                <a:uFillTx/>
                <a:latin typeface="Brandon Grotesque Light" panose="020B0303020203060202" pitchFamily="34" charset="0"/>
                <a:ea typeface="+mn-ea"/>
                <a:cs typeface="+mn-cs"/>
                <a:sym typeface="Calibri"/>
              </a:defRPr>
            </a:lvl5pPr>
            <a:lvl6pPr marL="19387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a:lstStyle>
          <a:p>
            <a:pPr>
              <a:lnSpc>
                <a:spcPct val="110000"/>
              </a:lnSpc>
              <a:spcBef>
                <a:spcPts val="0"/>
              </a:spcBef>
            </a:pPr>
            <a:r>
              <a:rPr lang="en-US" sz="1400" dirty="0">
                <a:latin typeface="Brandon Grotesque Light" panose="020B0303020203060202" pitchFamily="34" charset="77"/>
                <a:cs typeface="Arial" panose="020B0604020202020204" pitchFamily="34" charset="0"/>
              </a:rPr>
              <a:t>Euro stablecoin</a:t>
            </a:r>
          </a:p>
          <a:p>
            <a:pPr>
              <a:lnSpc>
                <a:spcPct val="110000"/>
              </a:lnSpc>
              <a:spcBef>
                <a:spcPts val="0"/>
              </a:spcBef>
            </a:pPr>
            <a:r>
              <a:rPr lang="en-US" sz="1400" dirty="0" err="1">
                <a:latin typeface="Brandon Grotesque Light" panose="020B0303020203060202" pitchFamily="34" charset="77"/>
                <a:cs typeface="Arial" panose="020B0604020202020204" pitchFamily="34" charset="0"/>
              </a:rPr>
              <a:t>MiCAR</a:t>
            </a:r>
            <a:r>
              <a:rPr lang="en-US" sz="1400" dirty="0">
                <a:latin typeface="Brandon Grotesque Light" panose="020B0303020203060202" pitchFamily="34" charset="77"/>
                <a:cs typeface="Arial" panose="020B0604020202020204" pitchFamily="34" charset="0"/>
              </a:rPr>
              <a:t> compliant</a:t>
            </a:r>
          </a:p>
          <a:p>
            <a:pPr>
              <a:lnSpc>
                <a:spcPct val="110000"/>
              </a:lnSpc>
              <a:spcBef>
                <a:spcPts val="0"/>
              </a:spcBef>
            </a:pPr>
            <a:r>
              <a:rPr lang="en-US" sz="1400" dirty="0">
                <a:latin typeface="Brandon Grotesque Light" panose="020B0303020203060202" pitchFamily="34" charset="77"/>
                <a:cs typeface="Arial" panose="020B0604020202020204" pitchFamily="34" charset="0"/>
              </a:rPr>
              <a:t>EMI license being</a:t>
            </a:r>
            <a:br>
              <a:rPr lang="en-US" sz="1400" dirty="0">
                <a:latin typeface="Brandon Grotesque Light" panose="020B0303020203060202" pitchFamily="34" charset="77"/>
                <a:cs typeface="Arial" panose="020B0604020202020204" pitchFamily="34" charset="0"/>
              </a:rPr>
            </a:br>
            <a:r>
              <a:rPr lang="en-US" sz="1400" dirty="0">
                <a:latin typeface="Brandon Grotesque Light" panose="020B0303020203060202" pitchFamily="34" charset="77"/>
                <a:cs typeface="Arial" panose="020B0604020202020204" pitchFamily="34" charset="0"/>
              </a:rPr>
              <a:t>sought from DNB</a:t>
            </a:r>
          </a:p>
          <a:p>
            <a:pPr>
              <a:lnSpc>
                <a:spcPct val="110000"/>
              </a:lnSpc>
              <a:spcBef>
                <a:spcPts val="0"/>
              </a:spcBef>
            </a:pPr>
            <a:r>
              <a:rPr lang="en-US" sz="1400" dirty="0">
                <a:latin typeface="Brandon Grotesque Light" panose="020B0303020203060202" pitchFamily="34" charset="77"/>
                <a:cs typeface="Arial" panose="020B0604020202020204" pitchFamily="34" charset="0"/>
              </a:rPr>
              <a:t>Planned launch 2H2026</a:t>
            </a:r>
          </a:p>
          <a:p>
            <a:pPr>
              <a:lnSpc>
                <a:spcPct val="110000"/>
              </a:lnSpc>
              <a:spcBef>
                <a:spcPts val="0"/>
              </a:spcBef>
            </a:pPr>
            <a:endParaRPr lang="en-US" sz="1400" dirty="0">
              <a:latin typeface="Brandon Grotesque Light" panose="020B0303020203060202" pitchFamily="34" charset="77"/>
              <a:cs typeface="Arial" panose="020B0604020202020204" pitchFamily="34" charset="0"/>
            </a:endParaRPr>
          </a:p>
          <a:p>
            <a:pPr>
              <a:lnSpc>
                <a:spcPct val="110000"/>
              </a:lnSpc>
              <a:spcBef>
                <a:spcPts val="0"/>
              </a:spcBef>
            </a:pPr>
            <a:r>
              <a:rPr lang="en-GB" sz="1400" dirty="0"/>
              <a:t>"We're not competing with payments in Europe because payments in Europe work."</a:t>
            </a:r>
          </a:p>
          <a:p>
            <a:r>
              <a:rPr lang="en-GB" sz="1400" dirty="0"/>
              <a:t>Goal: settle tokenised securities in tokenised Euros</a:t>
            </a:r>
            <a:br>
              <a:rPr lang="en-GB" sz="1400" dirty="0"/>
            </a:br>
            <a:br>
              <a:rPr lang="en-GB" sz="1400" dirty="0"/>
            </a:br>
            <a:r>
              <a:rPr lang="en-GB" sz="1000" dirty="0"/>
              <a:t>(Europe has 36 CSDs, 13 central counterparties, no single sovereign bond market, every MS has its own government debt, its own market conventions.</a:t>
            </a:r>
            <a:br>
              <a:rPr lang="en-GB" sz="1000" dirty="0"/>
            </a:br>
            <a:r>
              <a:rPr lang="en-GB" sz="1000" dirty="0"/>
              <a:t>(</a:t>
            </a:r>
            <a:r>
              <a:rPr lang="en-GB" sz="1000" dirty="0" err="1"/>
              <a:t>cf</a:t>
            </a:r>
            <a:r>
              <a:rPr lang="en-GB" sz="1000" dirty="0"/>
              <a:t> US: one treasury market, DTCC, settlement system - </a:t>
            </a:r>
            <a:r>
              <a:rPr lang="en-GB" sz="1000" dirty="0" err="1"/>
              <a:t>FedWIRE</a:t>
            </a:r>
            <a:r>
              <a:rPr lang="en-GB" sz="1000" dirty="0"/>
              <a:t>)</a:t>
            </a:r>
          </a:p>
          <a:p>
            <a:pPr>
              <a:lnSpc>
                <a:spcPct val="110000"/>
              </a:lnSpc>
              <a:spcBef>
                <a:spcPts val="0"/>
              </a:spcBef>
            </a:pPr>
            <a:endParaRPr lang="en-US" sz="1400" dirty="0">
              <a:latin typeface="Brandon Grotesque Light" panose="020B0303020203060202" pitchFamily="34" charset="77"/>
              <a:cs typeface="Arial" panose="020B0604020202020204" pitchFamily="34" charset="0"/>
            </a:endParaRPr>
          </a:p>
        </p:txBody>
      </p:sp>
      <p:pic>
        <p:nvPicPr>
          <p:cNvPr id="9" name="Picture 8">
            <a:extLst>
              <a:ext uri="{FF2B5EF4-FFF2-40B4-BE49-F238E27FC236}">
                <a16:creationId xmlns:a16="http://schemas.microsoft.com/office/drawing/2014/main" id="{A1A54B4A-BB8F-87C9-4532-3D1BA74B78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0337" y="1279116"/>
            <a:ext cx="4895013" cy="3263342"/>
          </a:xfrm>
          <a:prstGeom prst="rect">
            <a:avLst/>
          </a:prstGeom>
        </p:spPr>
      </p:pic>
    </p:spTree>
    <p:extLst>
      <p:ext uri="{BB962C8B-B14F-4D97-AF65-F5344CB8AC3E}">
        <p14:creationId xmlns:p14="http://schemas.microsoft.com/office/powerpoint/2010/main" val="402444635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78F5-6A7E-E1DD-7CA0-0BF99070A75D}"/>
              </a:ext>
            </a:extLst>
          </p:cNvPr>
          <p:cNvSpPr>
            <a:spLocks noGrp="1"/>
          </p:cNvSpPr>
          <p:nvPr>
            <p:ph type="title"/>
          </p:nvPr>
        </p:nvSpPr>
        <p:spPr>
          <a:xfrm>
            <a:off x="628650" y="273842"/>
            <a:ext cx="8001000" cy="569717"/>
          </a:xfrm>
        </p:spPr>
        <p:txBody>
          <a:bodyPr>
            <a:normAutofit/>
          </a:bodyPr>
          <a:lstStyle/>
          <a:p>
            <a:r>
              <a:rPr lang="en-US" dirty="0"/>
              <a:t>Summary</a:t>
            </a:r>
          </a:p>
        </p:txBody>
      </p:sp>
      <p:sp>
        <p:nvSpPr>
          <p:cNvPr id="3" name="Slide Number Placeholder 2">
            <a:extLst>
              <a:ext uri="{FF2B5EF4-FFF2-40B4-BE49-F238E27FC236}">
                <a16:creationId xmlns:a16="http://schemas.microsoft.com/office/drawing/2014/main" id="{AD66B231-7A74-A406-D59F-FC17CB425C78}"/>
              </a:ext>
            </a:extLst>
          </p:cNvPr>
          <p:cNvSpPr>
            <a:spLocks noGrp="1"/>
          </p:cNvSpPr>
          <p:nvPr>
            <p:ph type="sldNum" sz="quarter" idx="2"/>
          </p:nvPr>
        </p:nvSpPr>
        <p:spPr/>
        <p:txBody>
          <a:bodyPr/>
          <a:lstStyle/>
          <a:p>
            <a:fld id="{86CB4B4D-7CA3-9044-876B-883B54F8677D}" type="slidenum">
              <a:rPr lang="en-UA" smtClean="0"/>
              <a:t>7</a:t>
            </a:fld>
            <a:endParaRPr lang="en-UA"/>
          </a:p>
        </p:txBody>
      </p:sp>
      <p:sp>
        <p:nvSpPr>
          <p:cNvPr id="4" name="Footer Placeholder 3">
            <a:extLst>
              <a:ext uri="{FF2B5EF4-FFF2-40B4-BE49-F238E27FC236}">
                <a16:creationId xmlns:a16="http://schemas.microsoft.com/office/drawing/2014/main" id="{77E8E733-0D09-D1F3-F3B3-7419D68EEA18}"/>
              </a:ext>
            </a:extLst>
          </p:cNvPr>
          <p:cNvSpPr>
            <a:spLocks noGrp="1"/>
          </p:cNvSpPr>
          <p:nvPr>
            <p:ph type="ftr" sz="quarter" idx="3"/>
          </p:nvPr>
        </p:nvSpPr>
        <p:spPr/>
        <p:txBody>
          <a:bodyPr/>
          <a:lstStyle/>
          <a:p>
            <a:r>
              <a:rPr lang="en-US" dirty="0"/>
              <a:t>Payments Innovation Consulting</a:t>
            </a:r>
          </a:p>
        </p:txBody>
      </p:sp>
      <p:grpSp>
        <p:nvGrpSpPr>
          <p:cNvPr id="66" name="Group 65">
            <a:extLst>
              <a:ext uri="{FF2B5EF4-FFF2-40B4-BE49-F238E27FC236}">
                <a16:creationId xmlns:a16="http://schemas.microsoft.com/office/drawing/2014/main" id="{94D5DC2D-29E2-0DAF-23A3-1974F9D17E77}"/>
              </a:ext>
            </a:extLst>
          </p:cNvPr>
          <p:cNvGrpSpPr/>
          <p:nvPr/>
        </p:nvGrpSpPr>
        <p:grpSpPr>
          <a:xfrm>
            <a:off x="711365" y="1270529"/>
            <a:ext cx="8016581" cy="3004448"/>
            <a:chOff x="1125105" y="1802416"/>
            <a:chExt cx="11136454" cy="4173712"/>
          </a:xfrm>
        </p:grpSpPr>
        <p:cxnSp>
          <p:nvCxnSpPr>
            <p:cNvPr id="67" name="Google Shape;6794;p271">
              <a:extLst>
                <a:ext uri="{FF2B5EF4-FFF2-40B4-BE49-F238E27FC236}">
                  <a16:creationId xmlns:a16="http://schemas.microsoft.com/office/drawing/2014/main" id="{700DC8BD-935D-44DA-A402-80C9C957D914}"/>
                </a:ext>
              </a:extLst>
            </p:cNvPr>
            <p:cNvCxnSpPr/>
            <p:nvPr/>
          </p:nvCxnSpPr>
          <p:spPr>
            <a:xfrm>
              <a:off x="3768785" y="4216608"/>
              <a:ext cx="0" cy="0"/>
            </a:xfrm>
            <a:prstGeom prst="straightConnector1">
              <a:avLst/>
            </a:prstGeom>
            <a:noFill/>
            <a:ln>
              <a:noFill/>
            </a:ln>
          </p:spPr>
        </p:cxnSp>
        <p:cxnSp>
          <p:nvCxnSpPr>
            <p:cNvPr id="68" name="Google Shape;6795;p271">
              <a:extLst>
                <a:ext uri="{FF2B5EF4-FFF2-40B4-BE49-F238E27FC236}">
                  <a16:creationId xmlns:a16="http://schemas.microsoft.com/office/drawing/2014/main" id="{7C103050-9539-36C3-1797-E0020BE658FA}"/>
                </a:ext>
              </a:extLst>
            </p:cNvPr>
            <p:cNvCxnSpPr/>
            <p:nvPr/>
          </p:nvCxnSpPr>
          <p:spPr>
            <a:xfrm>
              <a:off x="3768785" y="4216608"/>
              <a:ext cx="0" cy="0"/>
            </a:xfrm>
            <a:prstGeom prst="straightConnector1">
              <a:avLst/>
            </a:prstGeom>
            <a:noFill/>
            <a:ln>
              <a:noFill/>
            </a:ln>
          </p:spPr>
        </p:cxnSp>
        <p:sp>
          <p:nvSpPr>
            <p:cNvPr id="69" name="Google Shape;6796;p271">
              <a:extLst>
                <a:ext uri="{FF2B5EF4-FFF2-40B4-BE49-F238E27FC236}">
                  <a16:creationId xmlns:a16="http://schemas.microsoft.com/office/drawing/2014/main" id="{693E505B-5E42-02F6-E97E-81B5E6E64636}"/>
                </a:ext>
              </a:extLst>
            </p:cNvPr>
            <p:cNvSpPr/>
            <p:nvPr/>
          </p:nvSpPr>
          <p:spPr>
            <a:xfrm>
              <a:off x="1683282" y="2807022"/>
              <a:ext cx="2474810" cy="1053591"/>
            </a:xfrm>
            <a:custGeom>
              <a:avLst/>
              <a:gdLst/>
              <a:ahLst/>
              <a:cxnLst/>
              <a:rect l="l" t="t" r="r" b="b"/>
              <a:pathLst>
                <a:path w="2722" h="1161" extrusionOk="0">
                  <a:moveTo>
                    <a:pt x="2386" y="0"/>
                  </a:moveTo>
                  <a:cubicBezTo>
                    <a:pt x="2386" y="0"/>
                    <a:pt x="1116" y="1031"/>
                    <a:pt x="25" y="971"/>
                  </a:cubicBezTo>
                  <a:cubicBezTo>
                    <a:pt x="0" y="1066"/>
                    <a:pt x="0" y="1066"/>
                    <a:pt x="0" y="1066"/>
                  </a:cubicBezTo>
                  <a:cubicBezTo>
                    <a:pt x="0" y="1066"/>
                    <a:pt x="756" y="1161"/>
                    <a:pt x="2722" y="639"/>
                  </a:cubicBezTo>
                  <a:lnTo>
                    <a:pt x="2386" y="0"/>
                  </a:lnTo>
                  <a:close/>
                </a:path>
              </a:pathLst>
            </a:custGeom>
            <a:solidFill>
              <a:schemeClr val="bg1">
                <a:lumMod val="85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70" name="Google Shape;6797;p271">
              <a:extLst>
                <a:ext uri="{FF2B5EF4-FFF2-40B4-BE49-F238E27FC236}">
                  <a16:creationId xmlns:a16="http://schemas.microsoft.com/office/drawing/2014/main" id="{C83EE6CA-9311-3072-2C44-ACCE306D5278}"/>
                </a:ext>
              </a:extLst>
            </p:cNvPr>
            <p:cNvSpPr/>
            <p:nvPr/>
          </p:nvSpPr>
          <p:spPr>
            <a:xfrm>
              <a:off x="1683282" y="3891418"/>
              <a:ext cx="2474810" cy="1053591"/>
            </a:xfrm>
            <a:custGeom>
              <a:avLst/>
              <a:gdLst/>
              <a:ahLst/>
              <a:cxnLst/>
              <a:rect l="l" t="t" r="r" b="b"/>
              <a:pathLst>
                <a:path w="2722" h="1161" extrusionOk="0">
                  <a:moveTo>
                    <a:pt x="2386" y="1161"/>
                  </a:moveTo>
                  <a:cubicBezTo>
                    <a:pt x="2386" y="1161"/>
                    <a:pt x="1116" y="131"/>
                    <a:pt x="25" y="191"/>
                  </a:cubicBezTo>
                  <a:cubicBezTo>
                    <a:pt x="0" y="95"/>
                    <a:pt x="0" y="95"/>
                    <a:pt x="0" y="95"/>
                  </a:cubicBezTo>
                  <a:cubicBezTo>
                    <a:pt x="0" y="95"/>
                    <a:pt x="756" y="0"/>
                    <a:pt x="2722" y="523"/>
                  </a:cubicBezTo>
                  <a:lnTo>
                    <a:pt x="2386" y="1161"/>
                  </a:lnTo>
                  <a:close/>
                </a:path>
              </a:pathLst>
            </a:custGeom>
            <a:solidFill>
              <a:schemeClr val="bg1">
                <a:lumMod val="85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72" name="Google Shape;6798;p271">
              <a:extLst>
                <a:ext uri="{FF2B5EF4-FFF2-40B4-BE49-F238E27FC236}">
                  <a16:creationId xmlns:a16="http://schemas.microsoft.com/office/drawing/2014/main" id="{BDF0BA70-4436-D73A-2615-EBE8CC57F57A}"/>
                </a:ext>
              </a:extLst>
            </p:cNvPr>
            <p:cNvSpPr/>
            <p:nvPr/>
          </p:nvSpPr>
          <p:spPr>
            <a:xfrm>
              <a:off x="1798292" y="3543861"/>
              <a:ext cx="2994417" cy="698285"/>
            </a:xfrm>
            <a:custGeom>
              <a:avLst/>
              <a:gdLst/>
              <a:ahLst/>
              <a:cxnLst/>
              <a:rect l="l" t="t" r="r" b="b"/>
              <a:pathLst>
                <a:path w="3293" h="769" extrusionOk="0">
                  <a:moveTo>
                    <a:pt x="3293" y="0"/>
                  </a:moveTo>
                  <a:cubicBezTo>
                    <a:pt x="3293" y="0"/>
                    <a:pt x="1091" y="438"/>
                    <a:pt x="0" y="339"/>
                  </a:cubicBezTo>
                  <a:cubicBezTo>
                    <a:pt x="0" y="424"/>
                    <a:pt x="0" y="424"/>
                    <a:pt x="0" y="424"/>
                  </a:cubicBezTo>
                  <a:cubicBezTo>
                    <a:pt x="0" y="424"/>
                    <a:pt x="1384" y="477"/>
                    <a:pt x="3293" y="769"/>
                  </a:cubicBezTo>
                  <a:lnTo>
                    <a:pt x="3293" y="0"/>
                  </a:lnTo>
                  <a:close/>
                </a:path>
              </a:pathLst>
            </a:custGeom>
            <a:solidFill>
              <a:schemeClr val="bg1">
                <a:lumMod val="85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73" name="Google Shape;6799;p271">
              <a:extLst>
                <a:ext uri="{FF2B5EF4-FFF2-40B4-BE49-F238E27FC236}">
                  <a16:creationId xmlns:a16="http://schemas.microsoft.com/office/drawing/2014/main" id="{5A2911D6-0BC0-713C-90FB-847A466D174C}"/>
                </a:ext>
              </a:extLst>
            </p:cNvPr>
            <p:cNvSpPr/>
            <p:nvPr/>
          </p:nvSpPr>
          <p:spPr>
            <a:xfrm>
              <a:off x="1705872" y="2141595"/>
              <a:ext cx="1848406" cy="1558823"/>
            </a:xfrm>
            <a:custGeom>
              <a:avLst/>
              <a:gdLst/>
              <a:ahLst/>
              <a:cxnLst/>
              <a:rect l="l" t="t" r="r" b="b"/>
              <a:pathLst>
                <a:path w="2033" h="1719" extrusionOk="0">
                  <a:moveTo>
                    <a:pt x="1281" y="0"/>
                  </a:moveTo>
                  <a:cubicBezTo>
                    <a:pt x="1281" y="0"/>
                    <a:pt x="822" y="1383"/>
                    <a:pt x="0" y="1528"/>
                  </a:cubicBezTo>
                  <a:cubicBezTo>
                    <a:pt x="0" y="1641"/>
                    <a:pt x="0" y="1641"/>
                    <a:pt x="0" y="1641"/>
                  </a:cubicBezTo>
                  <a:cubicBezTo>
                    <a:pt x="0" y="1641"/>
                    <a:pt x="1182" y="1719"/>
                    <a:pt x="2033" y="310"/>
                  </a:cubicBezTo>
                  <a:lnTo>
                    <a:pt x="1281" y="0"/>
                  </a:lnTo>
                  <a:close/>
                </a:path>
              </a:pathLst>
            </a:custGeom>
            <a:solidFill>
              <a:schemeClr val="bg1">
                <a:lumMod val="85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74" name="Google Shape;6800;p271">
              <a:extLst>
                <a:ext uri="{FF2B5EF4-FFF2-40B4-BE49-F238E27FC236}">
                  <a16:creationId xmlns:a16="http://schemas.microsoft.com/office/drawing/2014/main" id="{0795686A-9912-11AF-9121-03E0A258E71E}"/>
                </a:ext>
              </a:extLst>
            </p:cNvPr>
            <p:cNvSpPr/>
            <p:nvPr/>
          </p:nvSpPr>
          <p:spPr>
            <a:xfrm>
              <a:off x="1705872" y="4053669"/>
              <a:ext cx="1848406" cy="1557795"/>
            </a:xfrm>
            <a:custGeom>
              <a:avLst/>
              <a:gdLst/>
              <a:ahLst/>
              <a:cxnLst/>
              <a:rect l="l" t="t" r="r" b="b"/>
              <a:pathLst>
                <a:path w="2033" h="1718" extrusionOk="0">
                  <a:moveTo>
                    <a:pt x="1281" y="1718"/>
                  </a:moveTo>
                  <a:cubicBezTo>
                    <a:pt x="1281" y="1718"/>
                    <a:pt x="822" y="335"/>
                    <a:pt x="0" y="190"/>
                  </a:cubicBezTo>
                  <a:cubicBezTo>
                    <a:pt x="0" y="77"/>
                    <a:pt x="0" y="77"/>
                    <a:pt x="0" y="77"/>
                  </a:cubicBezTo>
                  <a:cubicBezTo>
                    <a:pt x="0" y="77"/>
                    <a:pt x="1182" y="0"/>
                    <a:pt x="2033" y="1408"/>
                  </a:cubicBezTo>
                  <a:lnTo>
                    <a:pt x="1281" y="1718"/>
                  </a:lnTo>
                  <a:close/>
                </a:path>
              </a:pathLst>
            </a:custGeom>
            <a:solidFill>
              <a:schemeClr val="bg1">
                <a:lumMod val="85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75" name="Google Shape;6801;p271">
              <a:extLst>
                <a:ext uri="{FF2B5EF4-FFF2-40B4-BE49-F238E27FC236}">
                  <a16:creationId xmlns:a16="http://schemas.microsoft.com/office/drawing/2014/main" id="{DE398613-772D-9C3B-22C1-7EBBF867E284}"/>
                </a:ext>
              </a:extLst>
            </p:cNvPr>
            <p:cNvSpPr/>
            <p:nvPr/>
          </p:nvSpPr>
          <p:spPr>
            <a:xfrm>
              <a:off x="2794066" y="1802416"/>
              <a:ext cx="837108" cy="837108"/>
            </a:xfrm>
            <a:prstGeom prst="ellipse">
              <a:avLst/>
            </a:prstGeom>
            <a:solidFill>
              <a:schemeClr val="accent4"/>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76" name="Google Shape;6802;p271">
              <a:extLst>
                <a:ext uri="{FF2B5EF4-FFF2-40B4-BE49-F238E27FC236}">
                  <a16:creationId xmlns:a16="http://schemas.microsoft.com/office/drawing/2014/main" id="{56203BC0-8D8F-F4A7-E1C0-AD8361765983}"/>
                </a:ext>
              </a:extLst>
            </p:cNvPr>
            <p:cNvSpPr/>
            <p:nvPr/>
          </p:nvSpPr>
          <p:spPr>
            <a:xfrm>
              <a:off x="1125105" y="3282090"/>
              <a:ext cx="1221830" cy="1221830"/>
            </a:xfrm>
            <a:prstGeom prst="ellipse">
              <a:avLst/>
            </a:prstGeom>
            <a:solidFill>
              <a:schemeClr val="tx1"/>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dirty="0">
                <a:solidFill>
                  <a:schemeClr val="tx1"/>
                </a:solidFill>
                <a:latin typeface="Brandon Grotesque Bold" panose="020B0503020203060202" pitchFamily="34" charset="77"/>
                <a:ea typeface="Montserrat"/>
                <a:cs typeface="Montserrat"/>
                <a:sym typeface="Montserrat"/>
              </a:endParaRPr>
            </a:p>
          </p:txBody>
        </p:sp>
        <p:sp>
          <p:nvSpPr>
            <p:cNvPr id="77" name="Google Shape;6803;p271">
              <a:extLst>
                <a:ext uri="{FF2B5EF4-FFF2-40B4-BE49-F238E27FC236}">
                  <a16:creationId xmlns:a16="http://schemas.microsoft.com/office/drawing/2014/main" id="{2457AC7F-1317-99DD-5469-32E031131495}"/>
                </a:ext>
              </a:extLst>
            </p:cNvPr>
            <p:cNvSpPr/>
            <p:nvPr/>
          </p:nvSpPr>
          <p:spPr>
            <a:xfrm>
              <a:off x="3690947" y="2589025"/>
              <a:ext cx="837108" cy="837108"/>
            </a:xfrm>
            <a:prstGeom prst="ellipse">
              <a:avLst/>
            </a:prstGeom>
            <a:solidFill>
              <a:schemeClr val="accent4"/>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78" name="Google Shape;6804;p271">
              <a:extLst>
                <a:ext uri="{FF2B5EF4-FFF2-40B4-BE49-F238E27FC236}">
                  <a16:creationId xmlns:a16="http://schemas.microsoft.com/office/drawing/2014/main" id="{70BB044A-D417-D769-D4E4-80329B576C75}"/>
                </a:ext>
              </a:extLst>
            </p:cNvPr>
            <p:cNvSpPr/>
            <p:nvPr/>
          </p:nvSpPr>
          <p:spPr>
            <a:xfrm>
              <a:off x="4536368" y="3474452"/>
              <a:ext cx="837108" cy="837108"/>
            </a:xfrm>
            <a:prstGeom prst="ellipse">
              <a:avLst/>
            </a:prstGeom>
            <a:solidFill>
              <a:schemeClr val="accent4"/>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79" name="Google Shape;6805;p271">
              <a:extLst>
                <a:ext uri="{FF2B5EF4-FFF2-40B4-BE49-F238E27FC236}">
                  <a16:creationId xmlns:a16="http://schemas.microsoft.com/office/drawing/2014/main" id="{DC7A59B7-C622-C014-3FF2-F651C1DC6DCE}"/>
                </a:ext>
              </a:extLst>
            </p:cNvPr>
            <p:cNvSpPr/>
            <p:nvPr/>
          </p:nvSpPr>
          <p:spPr>
            <a:xfrm>
              <a:off x="3690947" y="4338677"/>
              <a:ext cx="837108" cy="837108"/>
            </a:xfrm>
            <a:prstGeom prst="ellipse">
              <a:avLst/>
            </a:prstGeom>
            <a:solidFill>
              <a:schemeClr val="accent4"/>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80" name="Google Shape;6806;p271">
              <a:extLst>
                <a:ext uri="{FF2B5EF4-FFF2-40B4-BE49-F238E27FC236}">
                  <a16:creationId xmlns:a16="http://schemas.microsoft.com/office/drawing/2014/main" id="{72ACBE5C-F44C-821A-0E8F-81CF98DC0EB5}"/>
                </a:ext>
              </a:extLst>
            </p:cNvPr>
            <p:cNvSpPr/>
            <p:nvPr/>
          </p:nvSpPr>
          <p:spPr>
            <a:xfrm>
              <a:off x="2794066" y="5044419"/>
              <a:ext cx="837108" cy="837108"/>
            </a:xfrm>
            <a:prstGeom prst="ellipse">
              <a:avLst/>
            </a:prstGeom>
            <a:solidFill>
              <a:schemeClr val="accent4"/>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tx1"/>
                </a:solidFill>
                <a:latin typeface="Brandon Grotesque Bold" panose="020B0503020203060202" pitchFamily="34" charset="77"/>
                <a:ea typeface="Montserrat"/>
                <a:cs typeface="Montserrat"/>
                <a:sym typeface="Montserrat"/>
              </a:endParaRPr>
            </a:p>
          </p:txBody>
        </p:sp>
        <p:sp>
          <p:nvSpPr>
            <p:cNvPr id="81" name="Google Shape;6809;p271">
              <a:extLst>
                <a:ext uri="{FF2B5EF4-FFF2-40B4-BE49-F238E27FC236}">
                  <a16:creationId xmlns:a16="http://schemas.microsoft.com/office/drawing/2014/main" id="{C9E91DFF-5D06-04BD-35FE-D2A89147C333}"/>
                </a:ext>
              </a:extLst>
            </p:cNvPr>
            <p:cNvSpPr/>
            <p:nvPr/>
          </p:nvSpPr>
          <p:spPr>
            <a:xfrm>
              <a:off x="3885648" y="1873768"/>
              <a:ext cx="7620192" cy="4702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tx1"/>
                  </a:solidFill>
                  <a:latin typeface="Brandon Grotesque Bold" panose="020B0503020203060202" pitchFamily="34" charset="77"/>
                  <a:ea typeface="Lato"/>
                  <a:cs typeface="Lato"/>
                  <a:sym typeface="Lato"/>
                </a:rPr>
                <a:t>Tokenised Assets becoming reality</a:t>
              </a:r>
              <a:endParaRPr sz="1600" b="1" dirty="0">
                <a:solidFill>
                  <a:schemeClr val="tx1"/>
                </a:solidFill>
                <a:latin typeface="Brandon Grotesque Bold" panose="020B0503020203060202" pitchFamily="34" charset="77"/>
                <a:ea typeface="Lato"/>
                <a:cs typeface="Lato"/>
                <a:sym typeface="Lato"/>
              </a:endParaRPr>
            </a:p>
          </p:txBody>
        </p:sp>
        <p:sp>
          <p:nvSpPr>
            <p:cNvPr id="82" name="Google Shape;6812;p271">
              <a:extLst>
                <a:ext uri="{FF2B5EF4-FFF2-40B4-BE49-F238E27FC236}">
                  <a16:creationId xmlns:a16="http://schemas.microsoft.com/office/drawing/2014/main" id="{695A6068-6313-4914-306D-732396960201}"/>
                </a:ext>
              </a:extLst>
            </p:cNvPr>
            <p:cNvSpPr/>
            <p:nvPr/>
          </p:nvSpPr>
          <p:spPr>
            <a:xfrm>
              <a:off x="4717599" y="2469442"/>
              <a:ext cx="7182698" cy="8123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tx1"/>
                  </a:solidFill>
                  <a:latin typeface="Brandon Grotesque Bold" panose="020B0503020203060202" pitchFamily="34" charset="77"/>
                  <a:ea typeface="Lato"/>
                  <a:cs typeface="Lato"/>
                  <a:sym typeface="Lato"/>
                </a:rPr>
                <a:t>Many forms of Tokenised Money emerging</a:t>
              </a:r>
              <a:br>
                <a:rPr lang="en-US" sz="1600" b="1" dirty="0">
                  <a:solidFill>
                    <a:schemeClr val="tx1"/>
                  </a:solidFill>
                  <a:latin typeface="Brandon Grotesque Bold" panose="020B0503020203060202" pitchFamily="34" charset="77"/>
                  <a:ea typeface="Lato"/>
                  <a:cs typeface="Lato"/>
                  <a:sym typeface="Lato"/>
                </a:rPr>
              </a:br>
              <a:r>
                <a:rPr lang="en-US" sz="1600" b="1" dirty="0">
                  <a:solidFill>
                    <a:schemeClr val="tx1"/>
                  </a:solidFill>
                  <a:latin typeface="Brandon Grotesque Bold" panose="020B0503020203060202" pitchFamily="34" charset="77"/>
                  <a:ea typeface="Lato"/>
                  <a:cs typeface="Lato"/>
                  <a:sym typeface="Lato"/>
                </a:rPr>
                <a:t>(Stablecoins, Bank Tokens, CBDC, </a:t>
              </a:r>
              <a:r>
                <a:rPr lang="en-US" sz="1600" b="1" dirty="0" err="1">
                  <a:solidFill>
                    <a:schemeClr val="tx1"/>
                  </a:solidFill>
                  <a:latin typeface="Brandon Grotesque Bold" panose="020B0503020203060202" pitchFamily="34" charset="77"/>
                  <a:ea typeface="Lato"/>
                  <a:cs typeface="Lato"/>
                  <a:sym typeface="Lato"/>
                </a:rPr>
                <a:t>tMMF</a:t>
              </a:r>
              <a:r>
                <a:rPr lang="en-US" sz="1600" b="1" dirty="0">
                  <a:solidFill>
                    <a:schemeClr val="tx1"/>
                  </a:solidFill>
                  <a:latin typeface="Brandon Grotesque Bold" panose="020B0503020203060202" pitchFamily="34" charset="77"/>
                  <a:ea typeface="Lato"/>
                  <a:cs typeface="Lato"/>
                  <a:sym typeface="Lato"/>
                </a:rPr>
                <a:t>, …)</a:t>
              </a:r>
              <a:endParaRPr sz="1600" b="1" dirty="0">
                <a:solidFill>
                  <a:schemeClr val="tx1"/>
                </a:solidFill>
                <a:latin typeface="Brandon Grotesque Bold" panose="020B0503020203060202" pitchFamily="34" charset="77"/>
                <a:ea typeface="Lato"/>
                <a:cs typeface="Lato"/>
                <a:sym typeface="Lato"/>
              </a:endParaRPr>
            </a:p>
          </p:txBody>
        </p:sp>
        <p:sp>
          <p:nvSpPr>
            <p:cNvPr id="83" name="Google Shape;6815;p271">
              <a:extLst>
                <a:ext uri="{FF2B5EF4-FFF2-40B4-BE49-F238E27FC236}">
                  <a16:creationId xmlns:a16="http://schemas.microsoft.com/office/drawing/2014/main" id="{DDC6127D-56A0-8BC4-451B-24DBA123CA9D}"/>
                </a:ext>
              </a:extLst>
            </p:cNvPr>
            <p:cNvSpPr/>
            <p:nvPr/>
          </p:nvSpPr>
          <p:spPr>
            <a:xfrm>
              <a:off x="5589288" y="3689821"/>
              <a:ext cx="6672271" cy="4702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tx1"/>
                  </a:solidFill>
                  <a:latin typeface="Brandon Grotesque Bold" panose="020B0503020203060202" pitchFamily="34" charset="77"/>
                  <a:ea typeface="Lato"/>
                  <a:cs typeface="Lato"/>
                  <a:sym typeface="Lato"/>
                </a:rPr>
                <a:t>Market – especially in Europe – needs help to scale</a:t>
              </a:r>
              <a:endParaRPr sz="1600" b="1" dirty="0">
                <a:solidFill>
                  <a:schemeClr val="tx1"/>
                </a:solidFill>
                <a:latin typeface="Brandon Grotesque Bold" panose="020B0503020203060202" pitchFamily="34" charset="77"/>
                <a:ea typeface="Lato"/>
                <a:cs typeface="Lato"/>
                <a:sym typeface="Lato"/>
              </a:endParaRPr>
            </a:p>
          </p:txBody>
        </p:sp>
        <p:sp>
          <p:nvSpPr>
            <p:cNvPr id="84" name="Google Shape;6818;p271">
              <a:extLst>
                <a:ext uri="{FF2B5EF4-FFF2-40B4-BE49-F238E27FC236}">
                  <a16:creationId xmlns:a16="http://schemas.microsoft.com/office/drawing/2014/main" id="{49BA44D3-7C0A-F3B4-328B-E719BED242B6}"/>
                </a:ext>
              </a:extLst>
            </p:cNvPr>
            <p:cNvSpPr/>
            <p:nvPr/>
          </p:nvSpPr>
          <p:spPr>
            <a:xfrm>
              <a:off x="4717597" y="4597847"/>
              <a:ext cx="6793813" cy="4702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tx1"/>
                  </a:solidFill>
                  <a:latin typeface="Brandon Grotesque Bold" panose="020B0503020203060202" pitchFamily="34" charset="77"/>
                  <a:ea typeface="Lato"/>
                  <a:cs typeface="Lato"/>
                  <a:sym typeface="Lato"/>
                </a:rPr>
                <a:t>Large impacts on banks, networks</a:t>
              </a:r>
              <a:r>
                <a:rPr lang="en-US" sz="1600" b="1">
                  <a:solidFill>
                    <a:schemeClr val="tx1"/>
                  </a:solidFill>
                  <a:latin typeface="Brandon Grotesque Bold" panose="020B0503020203060202" pitchFamily="34" charset="77"/>
                  <a:ea typeface="Lato"/>
                  <a:cs typeface="Lato"/>
                  <a:sym typeface="Lato"/>
                </a:rPr>
                <a:t>, providers </a:t>
              </a:r>
              <a:r>
                <a:rPr lang="en-US" sz="1600" b="1" dirty="0">
                  <a:solidFill>
                    <a:schemeClr val="tx1"/>
                  </a:solidFill>
                  <a:latin typeface="Brandon Grotesque Bold" panose="020B0503020203060202" pitchFamily="34" charset="77"/>
                  <a:ea typeface="Lato"/>
                  <a:cs typeface="Lato"/>
                  <a:sym typeface="Lato"/>
                </a:rPr>
                <a:t>expected</a:t>
              </a:r>
              <a:endParaRPr sz="1600" b="1" dirty="0">
                <a:solidFill>
                  <a:schemeClr val="tx1"/>
                </a:solidFill>
                <a:latin typeface="Brandon Grotesque Bold" panose="020B0503020203060202" pitchFamily="34" charset="77"/>
                <a:ea typeface="Lato"/>
                <a:cs typeface="Lato"/>
                <a:sym typeface="Lato"/>
              </a:endParaRPr>
            </a:p>
          </p:txBody>
        </p:sp>
        <p:sp>
          <p:nvSpPr>
            <p:cNvPr id="85" name="Google Shape;6821;p271">
              <a:extLst>
                <a:ext uri="{FF2B5EF4-FFF2-40B4-BE49-F238E27FC236}">
                  <a16:creationId xmlns:a16="http://schemas.microsoft.com/office/drawing/2014/main" id="{21758D5B-0048-60F2-238C-C98E63D6E694}"/>
                </a:ext>
              </a:extLst>
            </p:cNvPr>
            <p:cNvSpPr/>
            <p:nvPr/>
          </p:nvSpPr>
          <p:spPr>
            <a:xfrm>
              <a:off x="3885648" y="5505872"/>
              <a:ext cx="8164627" cy="4702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tx1"/>
                  </a:solidFill>
                  <a:latin typeface="Brandon Grotesque Bold" panose="020B0503020203060202" pitchFamily="34" charset="77"/>
                  <a:ea typeface="Lato"/>
                  <a:cs typeface="Lato"/>
                  <a:sym typeface="Lato"/>
                </a:rPr>
                <a:t>Develop a Tokenisation Strategy !</a:t>
              </a:r>
              <a:endParaRPr sz="1600" b="1" dirty="0">
                <a:solidFill>
                  <a:schemeClr val="tx1"/>
                </a:solidFill>
                <a:latin typeface="Brandon Grotesque Bold" panose="020B0503020203060202" pitchFamily="34" charset="77"/>
                <a:ea typeface="Lato"/>
                <a:cs typeface="Lato"/>
                <a:sym typeface="Lato"/>
              </a:endParaRPr>
            </a:p>
          </p:txBody>
        </p:sp>
        <p:pic>
          <p:nvPicPr>
            <p:cNvPr id="86" name="Graphic 85">
              <a:extLst>
                <a:ext uri="{FF2B5EF4-FFF2-40B4-BE49-F238E27FC236}">
                  <a16:creationId xmlns:a16="http://schemas.microsoft.com/office/drawing/2014/main" id="{35D98711-9569-BDBA-CD9D-9E9C291314E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46319" y="3567682"/>
              <a:ext cx="557287" cy="698287"/>
            </a:xfrm>
            <a:prstGeom prst="rect">
              <a:avLst/>
            </a:prstGeom>
          </p:spPr>
        </p:pic>
        <p:pic>
          <p:nvPicPr>
            <p:cNvPr id="87" name="Graphic 86">
              <a:extLst>
                <a:ext uri="{FF2B5EF4-FFF2-40B4-BE49-F238E27FC236}">
                  <a16:creationId xmlns:a16="http://schemas.microsoft.com/office/drawing/2014/main" id="{CE8B2C7F-378A-18DF-9B74-1BC40F82A8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19428" y="1961730"/>
              <a:ext cx="390406" cy="474064"/>
            </a:xfrm>
            <a:prstGeom prst="rect">
              <a:avLst/>
            </a:prstGeom>
          </p:spPr>
        </p:pic>
        <p:pic>
          <p:nvPicPr>
            <p:cNvPr id="88" name="Graphic 87">
              <a:extLst>
                <a:ext uri="{FF2B5EF4-FFF2-40B4-BE49-F238E27FC236}">
                  <a16:creationId xmlns:a16="http://schemas.microsoft.com/office/drawing/2014/main" id="{D27FC2B1-75B7-89E6-71CF-7F57E112D6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02920" y="2721603"/>
              <a:ext cx="377654" cy="578863"/>
            </a:xfrm>
            <a:prstGeom prst="rect">
              <a:avLst/>
            </a:prstGeom>
          </p:spPr>
        </p:pic>
        <p:grpSp>
          <p:nvGrpSpPr>
            <p:cNvPr id="94" name="Group 93">
              <a:extLst>
                <a:ext uri="{FF2B5EF4-FFF2-40B4-BE49-F238E27FC236}">
                  <a16:creationId xmlns:a16="http://schemas.microsoft.com/office/drawing/2014/main" id="{3C3B1E0E-AFB7-3AA6-9D03-4596292045C2}"/>
                </a:ext>
              </a:extLst>
            </p:cNvPr>
            <p:cNvGrpSpPr/>
            <p:nvPr/>
          </p:nvGrpSpPr>
          <p:grpSpPr>
            <a:xfrm>
              <a:off x="2995613" y="5212910"/>
              <a:ext cx="470732" cy="470044"/>
              <a:chOff x="-2479675" y="1973263"/>
              <a:chExt cx="2171700" cy="2168525"/>
            </a:xfrm>
            <a:solidFill>
              <a:schemeClr val="bg1"/>
            </a:solidFill>
          </p:grpSpPr>
          <p:sp>
            <p:nvSpPr>
              <p:cNvPr id="111" name="Freeform 6">
                <a:extLst>
                  <a:ext uri="{FF2B5EF4-FFF2-40B4-BE49-F238E27FC236}">
                    <a16:creationId xmlns:a16="http://schemas.microsoft.com/office/drawing/2014/main" id="{EA284CB4-A47B-63AA-7E3A-99F55C9D5042}"/>
                  </a:ext>
                </a:extLst>
              </p:cNvPr>
              <p:cNvSpPr>
                <a:spLocks/>
              </p:cNvSpPr>
              <p:nvPr/>
            </p:nvSpPr>
            <p:spPr bwMode="auto">
              <a:xfrm>
                <a:off x="-1473200" y="2246313"/>
                <a:ext cx="714375" cy="733425"/>
              </a:xfrm>
              <a:custGeom>
                <a:avLst/>
                <a:gdLst>
                  <a:gd name="T0" fmla="*/ 59 w 189"/>
                  <a:gd name="T1" fmla="*/ 167 h 194"/>
                  <a:gd name="T2" fmla="*/ 57 w 189"/>
                  <a:gd name="T3" fmla="*/ 180 h 194"/>
                  <a:gd name="T4" fmla="*/ 60 w 189"/>
                  <a:gd name="T5" fmla="*/ 187 h 194"/>
                  <a:gd name="T6" fmla="*/ 112 w 189"/>
                  <a:gd name="T7" fmla="*/ 190 h 194"/>
                  <a:gd name="T8" fmla="*/ 186 w 189"/>
                  <a:gd name="T9" fmla="*/ 91 h 194"/>
                  <a:gd name="T10" fmla="*/ 100 w 189"/>
                  <a:gd name="T11" fmla="*/ 4 h 194"/>
                  <a:gd name="T12" fmla="*/ 1 w 189"/>
                  <a:gd name="T13" fmla="*/ 76 h 194"/>
                  <a:gd name="T14" fmla="*/ 0 w 189"/>
                  <a:gd name="T15" fmla="*/ 80 h 194"/>
                  <a:gd name="T16" fmla="*/ 17 w 189"/>
                  <a:gd name="T17" fmla="*/ 83 h 194"/>
                  <a:gd name="T18" fmla="*/ 116 w 189"/>
                  <a:gd name="T19" fmla="*/ 25 h 194"/>
                  <a:gd name="T20" fmla="*/ 166 w 189"/>
                  <a:gd name="T21" fmla="*/ 120 h 194"/>
                  <a:gd name="T22" fmla="*/ 59 w 189"/>
                  <a:gd name="T23" fmla="*/ 167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94">
                    <a:moveTo>
                      <a:pt x="59" y="167"/>
                    </a:moveTo>
                    <a:cubicBezTo>
                      <a:pt x="58" y="172"/>
                      <a:pt x="58" y="176"/>
                      <a:pt x="57" y="180"/>
                    </a:cubicBezTo>
                    <a:cubicBezTo>
                      <a:pt x="56" y="184"/>
                      <a:pt x="57" y="185"/>
                      <a:pt x="60" y="187"/>
                    </a:cubicBezTo>
                    <a:cubicBezTo>
                      <a:pt x="77" y="192"/>
                      <a:pt x="95" y="194"/>
                      <a:pt x="112" y="190"/>
                    </a:cubicBezTo>
                    <a:cubicBezTo>
                      <a:pt x="158" y="180"/>
                      <a:pt x="189" y="138"/>
                      <a:pt x="186" y="91"/>
                    </a:cubicBezTo>
                    <a:cubicBezTo>
                      <a:pt x="183" y="45"/>
                      <a:pt x="146" y="8"/>
                      <a:pt x="100" y="4"/>
                    </a:cubicBezTo>
                    <a:cubicBezTo>
                      <a:pt x="54" y="0"/>
                      <a:pt x="11" y="31"/>
                      <a:pt x="1" y="76"/>
                    </a:cubicBezTo>
                    <a:cubicBezTo>
                      <a:pt x="0" y="77"/>
                      <a:pt x="1" y="79"/>
                      <a:pt x="0" y="80"/>
                    </a:cubicBezTo>
                    <a:cubicBezTo>
                      <a:pt x="6" y="81"/>
                      <a:pt x="12" y="82"/>
                      <a:pt x="17" y="83"/>
                    </a:cubicBezTo>
                    <a:cubicBezTo>
                      <a:pt x="29" y="34"/>
                      <a:pt x="77" y="12"/>
                      <a:pt x="116" y="25"/>
                    </a:cubicBezTo>
                    <a:cubicBezTo>
                      <a:pt x="156" y="38"/>
                      <a:pt x="177" y="80"/>
                      <a:pt x="166" y="120"/>
                    </a:cubicBezTo>
                    <a:cubicBezTo>
                      <a:pt x="154" y="159"/>
                      <a:pt x="108" y="189"/>
                      <a:pt x="59" y="1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2" name="Freeform 7">
                <a:extLst>
                  <a:ext uri="{FF2B5EF4-FFF2-40B4-BE49-F238E27FC236}">
                    <a16:creationId xmlns:a16="http://schemas.microsoft.com/office/drawing/2014/main" id="{A5C4E542-8440-665B-EA75-91DF67E9112A}"/>
                  </a:ext>
                </a:extLst>
              </p:cNvPr>
              <p:cNvSpPr>
                <a:spLocks/>
              </p:cNvSpPr>
              <p:nvPr/>
            </p:nvSpPr>
            <p:spPr bwMode="auto">
              <a:xfrm>
                <a:off x="-800100" y="3116263"/>
                <a:ext cx="492125" cy="742950"/>
              </a:xfrm>
              <a:custGeom>
                <a:avLst/>
                <a:gdLst>
                  <a:gd name="T0" fmla="*/ 37 w 130"/>
                  <a:gd name="T1" fmla="*/ 12 h 196"/>
                  <a:gd name="T2" fmla="*/ 102 w 130"/>
                  <a:gd name="T3" fmla="*/ 126 h 196"/>
                  <a:gd name="T4" fmla="*/ 64 w 130"/>
                  <a:gd name="T5" fmla="*/ 116 h 196"/>
                  <a:gd name="T6" fmla="*/ 50 w 130"/>
                  <a:gd name="T7" fmla="*/ 124 h 196"/>
                  <a:gd name="T8" fmla="*/ 49 w 130"/>
                  <a:gd name="T9" fmla="*/ 130 h 196"/>
                  <a:gd name="T10" fmla="*/ 40 w 130"/>
                  <a:gd name="T11" fmla="*/ 163 h 196"/>
                  <a:gd name="T12" fmla="*/ 5 w 130"/>
                  <a:gd name="T13" fmla="*/ 102 h 196"/>
                  <a:gd name="T14" fmla="*/ 0 w 130"/>
                  <a:gd name="T15" fmla="*/ 126 h 196"/>
                  <a:gd name="T16" fmla="*/ 1 w 130"/>
                  <a:gd name="T17" fmla="*/ 131 h 196"/>
                  <a:gd name="T18" fmla="*/ 34 w 130"/>
                  <a:gd name="T19" fmla="*/ 189 h 196"/>
                  <a:gd name="T20" fmla="*/ 44 w 130"/>
                  <a:gd name="T21" fmla="*/ 195 h 196"/>
                  <a:gd name="T22" fmla="*/ 52 w 130"/>
                  <a:gd name="T23" fmla="*/ 186 h 196"/>
                  <a:gd name="T24" fmla="*/ 62 w 130"/>
                  <a:gd name="T25" fmla="*/ 148 h 196"/>
                  <a:gd name="T26" fmla="*/ 66 w 130"/>
                  <a:gd name="T27" fmla="*/ 135 h 196"/>
                  <a:gd name="T28" fmla="*/ 116 w 130"/>
                  <a:gd name="T29" fmla="*/ 149 h 196"/>
                  <a:gd name="T30" fmla="*/ 127 w 130"/>
                  <a:gd name="T31" fmla="*/ 146 h 196"/>
                  <a:gd name="T32" fmla="*/ 127 w 130"/>
                  <a:gd name="T33" fmla="*/ 134 h 196"/>
                  <a:gd name="T34" fmla="*/ 52 w 130"/>
                  <a:gd name="T35" fmla="*/ 3 h 196"/>
                  <a:gd name="T36" fmla="*/ 50 w 130"/>
                  <a:gd name="T37" fmla="*/ 0 h 196"/>
                  <a:gd name="T38" fmla="*/ 37 w 130"/>
                  <a:gd name="T39" fmla="*/ 12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0" h="196">
                    <a:moveTo>
                      <a:pt x="37" y="12"/>
                    </a:moveTo>
                    <a:cubicBezTo>
                      <a:pt x="58" y="50"/>
                      <a:pt x="80" y="88"/>
                      <a:pt x="102" y="126"/>
                    </a:cubicBezTo>
                    <a:cubicBezTo>
                      <a:pt x="88" y="123"/>
                      <a:pt x="76" y="120"/>
                      <a:pt x="64" y="116"/>
                    </a:cubicBezTo>
                    <a:cubicBezTo>
                      <a:pt x="56" y="114"/>
                      <a:pt x="52" y="116"/>
                      <a:pt x="50" y="124"/>
                    </a:cubicBezTo>
                    <a:cubicBezTo>
                      <a:pt x="50" y="126"/>
                      <a:pt x="49" y="128"/>
                      <a:pt x="49" y="130"/>
                    </a:cubicBezTo>
                    <a:cubicBezTo>
                      <a:pt x="46" y="141"/>
                      <a:pt x="43" y="151"/>
                      <a:pt x="40" y="163"/>
                    </a:cubicBezTo>
                    <a:cubicBezTo>
                      <a:pt x="28" y="141"/>
                      <a:pt x="16" y="121"/>
                      <a:pt x="5" y="102"/>
                    </a:cubicBezTo>
                    <a:cubicBezTo>
                      <a:pt x="3" y="110"/>
                      <a:pt x="2" y="118"/>
                      <a:pt x="0" y="126"/>
                    </a:cubicBezTo>
                    <a:cubicBezTo>
                      <a:pt x="0" y="127"/>
                      <a:pt x="0" y="130"/>
                      <a:pt x="1" y="131"/>
                    </a:cubicBezTo>
                    <a:cubicBezTo>
                      <a:pt x="12" y="150"/>
                      <a:pt x="23" y="169"/>
                      <a:pt x="34" y="189"/>
                    </a:cubicBezTo>
                    <a:cubicBezTo>
                      <a:pt x="36" y="193"/>
                      <a:pt x="39" y="196"/>
                      <a:pt x="44" y="195"/>
                    </a:cubicBezTo>
                    <a:cubicBezTo>
                      <a:pt x="49" y="194"/>
                      <a:pt x="51" y="191"/>
                      <a:pt x="52" y="186"/>
                    </a:cubicBezTo>
                    <a:cubicBezTo>
                      <a:pt x="55" y="173"/>
                      <a:pt x="59" y="161"/>
                      <a:pt x="62" y="148"/>
                    </a:cubicBezTo>
                    <a:cubicBezTo>
                      <a:pt x="63" y="144"/>
                      <a:pt x="65" y="140"/>
                      <a:pt x="66" y="135"/>
                    </a:cubicBezTo>
                    <a:cubicBezTo>
                      <a:pt x="83" y="140"/>
                      <a:pt x="99" y="144"/>
                      <a:pt x="116" y="149"/>
                    </a:cubicBezTo>
                    <a:cubicBezTo>
                      <a:pt x="120" y="150"/>
                      <a:pt x="124" y="150"/>
                      <a:pt x="127" y="146"/>
                    </a:cubicBezTo>
                    <a:cubicBezTo>
                      <a:pt x="130" y="142"/>
                      <a:pt x="129" y="138"/>
                      <a:pt x="127" y="134"/>
                    </a:cubicBezTo>
                    <a:cubicBezTo>
                      <a:pt x="102" y="90"/>
                      <a:pt x="77" y="46"/>
                      <a:pt x="52" y="3"/>
                    </a:cubicBezTo>
                    <a:cubicBezTo>
                      <a:pt x="51" y="1"/>
                      <a:pt x="50" y="0"/>
                      <a:pt x="50" y="0"/>
                    </a:cubicBezTo>
                    <a:cubicBezTo>
                      <a:pt x="45" y="4"/>
                      <a:pt x="41" y="8"/>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3" name="Freeform 8">
                <a:extLst>
                  <a:ext uri="{FF2B5EF4-FFF2-40B4-BE49-F238E27FC236}">
                    <a16:creationId xmlns:a16="http://schemas.microsoft.com/office/drawing/2014/main" id="{A0EA3AC7-570C-AD5F-B61B-43C398F3EBAE}"/>
                  </a:ext>
                </a:extLst>
              </p:cNvPr>
              <p:cNvSpPr>
                <a:spLocks/>
              </p:cNvSpPr>
              <p:nvPr/>
            </p:nvSpPr>
            <p:spPr bwMode="auto">
              <a:xfrm>
                <a:off x="-1246188" y="2397126"/>
                <a:ext cx="241300" cy="442913"/>
              </a:xfrm>
              <a:custGeom>
                <a:avLst/>
                <a:gdLst>
                  <a:gd name="T0" fmla="*/ 28 w 64"/>
                  <a:gd name="T1" fmla="*/ 100 h 117"/>
                  <a:gd name="T2" fmla="*/ 28 w 64"/>
                  <a:gd name="T3" fmla="*/ 108 h 117"/>
                  <a:gd name="T4" fmla="*/ 37 w 64"/>
                  <a:gd name="T5" fmla="*/ 116 h 117"/>
                  <a:gd name="T6" fmla="*/ 46 w 64"/>
                  <a:gd name="T7" fmla="*/ 108 h 117"/>
                  <a:gd name="T8" fmla="*/ 46 w 64"/>
                  <a:gd name="T9" fmla="*/ 104 h 117"/>
                  <a:gd name="T10" fmla="*/ 50 w 64"/>
                  <a:gd name="T11" fmla="*/ 97 h 117"/>
                  <a:gd name="T12" fmla="*/ 63 w 64"/>
                  <a:gd name="T13" fmla="*/ 76 h 117"/>
                  <a:gd name="T14" fmla="*/ 39 w 64"/>
                  <a:gd name="T15" fmla="*/ 50 h 117"/>
                  <a:gd name="T16" fmla="*/ 26 w 64"/>
                  <a:gd name="T17" fmla="*/ 50 h 117"/>
                  <a:gd name="T18" fmla="*/ 19 w 64"/>
                  <a:gd name="T19" fmla="*/ 42 h 117"/>
                  <a:gd name="T20" fmla="*/ 26 w 64"/>
                  <a:gd name="T21" fmla="*/ 35 h 117"/>
                  <a:gd name="T22" fmla="*/ 35 w 64"/>
                  <a:gd name="T23" fmla="*/ 35 h 117"/>
                  <a:gd name="T24" fmla="*/ 50 w 64"/>
                  <a:gd name="T25" fmla="*/ 35 h 117"/>
                  <a:gd name="T26" fmla="*/ 59 w 64"/>
                  <a:gd name="T27" fmla="*/ 26 h 117"/>
                  <a:gd name="T28" fmla="*/ 51 w 64"/>
                  <a:gd name="T29" fmla="*/ 17 h 117"/>
                  <a:gd name="T30" fmla="*/ 46 w 64"/>
                  <a:gd name="T31" fmla="*/ 17 h 117"/>
                  <a:gd name="T32" fmla="*/ 37 w 64"/>
                  <a:gd name="T33" fmla="*/ 0 h 117"/>
                  <a:gd name="T34" fmla="*/ 27 w 64"/>
                  <a:gd name="T35" fmla="*/ 17 h 117"/>
                  <a:gd name="T36" fmla="*/ 25 w 64"/>
                  <a:gd name="T37" fmla="*/ 17 h 117"/>
                  <a:gd name="T38" fmla="*/ 1 w 64"/>
                  <a:gd name="T39" fmla="*/ 44 h 117"/>
                  <a:gd name="T40" fmla="*/ 29 w 64"/>
                  <a:gd name="T41" fmla="*/ 68 h 117"/>
                  <a:gd name="T42" fmla="*/ 39 w 64"/>
                  <a:gd name="T43" fmla="*/ 68 h 117"/>
                  <a:gd name="T44" fmla="*/ 44 w 64"/>
                  <a:gd name="T45" fmla="*/ 78 h 117"/>
                  <a:gd name="T46" fmla="*/ 36 w 64"/>
                  <a:gd name="T47" fmla="*/ 82 h 117"/>
                  <a:gd name="T48" fmla="*/ 16 w 64"/>
                  <a:gd name="T49" fmla="*/ 83 h 117"/>
                  <a:gd name="T50" fmla="*/ 6 w 64"/>
                  <a:gd name="T51" fmla="*/ 92 h 117"/>
                  <a:gd name="T52" fmla="*/ 16 w 64"/>
                  <a:gd name="T53" fmla="*/ 100 h 117"/>
                  <a:gd name="T54" fmla="*/ 28 w 64"/>
                  <a:gd name="T55" fmla="*/ 10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 h="117">
                    <a:moveTo>
                      <a:pt x="28" y="100"/>
                    </a:moveTo>
                    <a:cubicBezTo>
                      <a:pt x="28" y="103"/>
                      <a:pt x="28" y="106"/>
                      <a:pt x="28" y="108"/>
                    </a:cubicBezTo>
                    <a:cubicBezTo>
                      <a:pt x="28" y="113"/>
                      <a:pt x="33" y="117"/>
                      <a:pt x="37" y="116"/>
                    </a:cubicBezTo>
                    <a:cubicBezTo>
                      <a:pt x="42" y="116"/>
                      <a:pt x="45" y="113"/>
                      <a:pt x="46" y="108"/>
                    </a:cubicBezTo>
                    <a:cubicBezTo>
                      <a:pt x="46" y="107"/>
                      <a:pt x="46" y="105"/>
                      <a:pt x="46" y="104"/>
                    </a:cubicBezTo>
                    <a:cubicBezTo>
                      <a:pt x="45" y="100"/>
                      <a:pt x="47" y="99"/>
                      <a:pt x="50" y="97"/>
                    </a:cubicBezTo>
                    <a:cubicBezTo>
                      <a:pt x="58" y="93"/>
                      <a:pt x="63" y="86"/>
                      <a:pt x="63" y="76"/>
                    </a:cubicBezTo>
                    <a:cubicBezTo>
                      <a:pt x="64" y="63"/>
                      <a:pt x="54" y="51"/>
                      <a:pt x="39" y="50"/>
                    </a:cubicBezTo>
                    <a:cubicBezTo>
                      <a:pt x="35" y="50"/>
                      <a:pt x="31" y="50"/>
                      <a:pt x="26" y="50"/>
                    </a:cubicBezTo>
                    <a:cubicBezTo>
                      <a:pt x="22" y="49"/>
                      <a:pt x="19" y="47"/>
                      <a:pt x="19" y="42"/>
                    </a:cubicBezTo>
                    <a:cubicBezTo>
                      <a:pt x="19" y="38"/>
                      <a:pt x="22" y="36"/>
                      <a:pt x="26" y="35"/>
                    </a:cubicBezTo>
                    <a:cubicBezTo>
                      <a:pt x="29" y="35"/>
                      <a:pt x="32" y="35"/>
                      <a:pt x="35" y="35"/>
                    </a:cubicBezTo>
                    <a:cubicBezTo>
                      <a:pt x="40" y="35"/>
                      <a:pt x="45" y="35"/>
                      <a:pt x="50" y="35"/>
                    </a:cubicBezTo>
                    <a:cubicBezTo>
                      <a:pt x="55" y="35"/>
                      <a:pt x="59" y="31"/>
                      <a:pt x="59" y="26"/>
                    </a:cubicBezTo>
                    <a:cubicBezTo>
                      <a:pt x="59" y="22"/>
                      <a:pt x="56" y="18"/>
                      <a:pt x="51" y="17"/>
                    </a:cubicBezTo>
                    <a:cubicBezTo>
                      <a:pt x="49" y="17"/>
                      <a:pt x="48" y="17"/>
                      <a:pt x="46" y="17"/>
                    </a:cubicBezTo>
                    <a:cubicBezTo>
                      <a:pt x="45" y="10"/>
                      <a:pt x="48" y="0"/>
                      <a:pt x="37" y="0"/>
                    </a:cubicBezTo>
                    <a:cubicBezTo>
                      <a:pt x="26" y="0"/>
                      <a:pt x="28" y="10"/>
                      <a:pt x="27" y="17"/>
                    </a:cubicBezTo>
                    <a:cubicBezTo>
                      <a:pt x="26" y="17"/>
                      <a:pt x="26" y="17"/>
                      <a:pt x="25" y="17"/>
                    </a:cubicBezTo>
                    <a:cubicBezTo>
                      <a:pt x="10" y="20"/>
                      <a:pt x="0" y="30"/>
                      <a:pt x="1" y="44"/>
                    </a:cubicBezTo>
                    <a:cubicBezTo>
                      <a:pt x="2" y="58"/>
                      <a:pt x="13" y="68"/>
                      <a:pt x="29" y="68"/>
                    </a:cubicBezTo>
                    <a:cubicBezTo>
                      <a:pt x="32" y="68"/>
                      <a:pt x="36" y="68"/>
                      <a:pt x="39" y="68"/>
                    </a:cubicBezTo>
                    <a:cubicBezTo>
                      <a:pt x="45" y="69"/>
                      <a:pt x="48" y="75"/>
                      <a:pt x="44" y="78"/>
                    </a:cubicBezTo>
                    <a:cubicBezTo>
                      <a:pt x="42" y="81"/>
                      <a:pt x="39" y="82"/>
                      <a:pt x="36" y="82"/>
                    </a:cubicBezTo>
                    <a:cubicBezTo>
                      <a:pt x="29" y="83"/>
                      <a:pt x="22" y="82"/>
                      <a:pt x="16" y="83"/>
                    </a:cubicBezTo>
                    <a:cubicBezTo>
                      <a:pt x="10" y="83"/>
                      <a:pt x="5" y="86"/>
                      <a:pt x="6" y="92"/>
                    </a:cubicBezTo>
                    <a:cubicBezTo>
                      <a:pt x="6" y="97"/>
                      <a:pt x="10" y="100"/>
                      <a:pt x="16" y="100"/>
                    </a:cubicBezTo>
                    <a:cubicBezTo>
                      <a:pt x="20" y="101"/>
                      <a:pt x="23" y="100"/>
                      <a:pt x="2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4" name="Freeform 9">
                <a:extLst>
                  <a:ext uri="{FF2B5EF4-FFF2-40B4-BE49-F238E27FC236}">
                    <a16:creationId xmlns:a16="http://schemas.microsoft.com/office/drawing/2014/main" id="{5797FEDF-E5D6-0398-EC09-7DE429BC772E}"/>
                  </a:ext>
                </a:extLst>
              </p:cNvPr>
              <p:cNvSpPr>
                <a:spLocks/>
              </p:cNvSpPr>
              <p:nvPr/>
            </p:nvSpPr>
            <p:spPr bwMode="auto">
              <a:xfrm>
                <a:off x="-2100263" y="2605088"/>
                <a:ext cx="1254125" cy="1536700"/>
              </a:xfrm>
              <a:custGeom>
                <a:avLst/>
                <a:gdLst>
                  <a:gd name="T0" fmla="*/ 100 w 332"/>
                  <a:gd name="T1" fmla="*/ 403 h 406"/>
                  <a:gd name="T2" fmla="*/ 0 w 332"/>
                  <a:gd name="T3" fmla="*/ 392 h 406"/>
                  <a:gd name="T4" fmla="*/ 47 w 332"/>
                  <a:gd name="T5" fmla="*/ 380 h 406"/>
                  <a:gd name="T6" fmla="*/ 198 w 332"/>
                  <a:gd name="T7" fmla="*/ 388 h 406"/>
                  <a:gd name="T8" fmla="*/ 276 w 332"/>
                  <a:gd name="T9" fmla="*/ 366 h 406"/>
                  <a:gd name="T10" fmla="*/ 179 w 332"/>
                  <a:gd name="T11" fmla="*/ 343 h 406"/>
                  <a:gd name="T12" fmla="*/ 167 w 332"/>
                  <a:gd name="T13" fmla="*/ 334 h 406"/>
                  <a:gd name="T14" fmla="*/ 205 w 332"/>
                  <a:gd name="T15" fmla="*/ 326 h 406"/>
                  <a:gd name="T16" fmla="*/ 301 w 332"/>
                  <a:gd name="T17" fmla="*/ 312 h 406"/>
                  <a:gd name="T18" fmla="*/ 279 w 332"/>
                  <a:gd name="T19" fmla="*/ 281 h 406"/>
                  <a:gd name="T20" fmla="*/ 174 w 332"/>
                  <a:gd name="T21" fmla="*/ 281 h 406"/>
                  <a:gd name="T22" fmla="*/ 175 w 332"/>
                  <a:gd name="T23" fmla="*/ 263 h 406"/>
                  <a:gd name="T24" fmla="*/ 289 w 332"/>
                  <a:gd name="T25" fmla="*/ 263 h 406"/>
                  <a:gd name="T26" fmla="*/ 288 w 332"/>
                  <a:gd name="T27" fmla="*/ 218 h 406"/>
                  <a:gd name="T28" fmla="*/ 173 w 332"/>
                  <a:gd name="T29" fmla="*/ 218 h 406"/>
                  <a:gd name="T30" fmla="*/ 172 w 332"/>
                  <a:gd name="T31" fmla="*/ 200 h 406"/>
                  <a:gd name="T32" fmla="*/ 265 w 332"/>
                  <a:gd name="T33" fmla="*/ 200 h 406"/>
                  <a:gd name="T34" fmla="*/ 265 w 332"/>
                  <a:gd name="T35" fmla="*/ 155 h 406"/>
                  <a:gd name="T36" fmla="*/ 149 w 332"/>
                  <a:gd name="T37" fmla="*/ 155 h 406"/>
                  <a:gd name="T38" fmla="*/ 144 w 332"/>
                  <a:gd name="T39" fmla="*/ 138 h 406"/>
                  <a:gd name="T40" fmla="*/ 188 w 332"/>
                  <a:gd name="T41" fmla="*/ 44 h 406"/>
                  <a:gd name="T42" fmla="*/ 139 w 332"/>
                  <a:gd name="T43" fmla="*/ 35 h 406"/>
                  <a:gd name="T44" fmla="*/ 30 w 332"/>
                  <a:gd name="T45" fmla="*/ 158 h 406"/>
                  <a:gd name="T46" fmla="*/ 8 w 332"/>
                  <a:gd name="T47" fmla="*/ 159 h 406"/>
                  <a:gd name="T48" fmla="*/ 25 w 332"/>
                  <a:gd name="T49" fmla="*/ 140 h 406"/>
                  <a:gd name="T50" fmla="*/ 124 w 332"/>
                  <a:gd name="T51" fmla="*/ 25 h 406"/>
                  <a:gd name="T52" fmla="*/ 202 w 332"/>
                  <a:gd name="T53" fmla="*/ 31 h 406"/>
                  <a:gd name="T54" fmla="*/ 175 w 332"/>
                  <a:gd name="T55" fmla="*/ 137 h 406"/>
                  <a:gd name="T56" fmla="*/ 266 w 332"/>
                  <a:gd name="T57" fmla="*/ 137 h 406"/>
                  <a:gd name="T58" fmla="*/ 300 w 332"/>
                  <a:gd name="T59" fmla="*/ 201 h 406"/>
                  <a:gd name="T60" fmla="*/ 310 w 332"/>
                  <a:gd name="T61" fmla="*/ 275 h 406"/>
                  <a:gd name="T62" fmla="*/ 288 w 332"/>
                  <a:gd name="T63" fmla="*/ 346 h 406"/>
                  <a:gd name="T64" fmla="*/ 259 w 332"/>
                  <a:gd name="T65"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406">
                    <a:moveTo>
                      <a:pt x="129" y="406"/>
                    </a:moveTo>
                    <a:cubicBezTo>
                      <a:pt x="120" y="405"/>
                      <a:pt x="110" y="404"/>
                      <a:pt x="100" y="403"/>
                    </a:cubicBezTo>
                    <a:cubicBezTo>
                      <a:pt x="74" y="401"/>
                      <a:pt x="48" y="399"/>
                      <a:pt x="23" y="397"/>
                    </a:cubicBezTo>
                    <a:cubicBezTo>
                      <a:pt x="15" y="396"/>
                      <a:pt x="8" y="394"/>
                      <a:pt x="0" y="392"/>
                    </a:cubicBezTo>
                    <a:cubicBezTo>
                      <a:pt x="3" y="385"/>
                      <a:pt x="5" y="380"/>
                      <a:pt x="7" y="374"/>
                    </a:cubicBezTo>
                    <a:cubicBezTo>
                      <a:pt x="19" y="382"/>
                      <a:pt x="33" y="378"/>
                      <a:pt x="47" y="380"/>
                    </a:cubicBezTo>
                    <a:cubicBezTo>
                      <a:pt x="71" y="382"/>
                      <a:pt x="95" y="385"/>
                      <a:pt x="119" y="387"/>
                    </a:cubicBezTo>
                    <a:cubicBezTo>
                      <a:pt x="145" y="388"/>
                      <a:pt x="171" y="388"/>
                      <a:pt x="198" y="388"/>
                    </a:cubicBezTo>
                    <a:cubicBezTo>
                      <a:pt x="216" y="388"/>
                      <a:pt x="234" y="388"/>
                      <a:pt x="252" y="388"/>
                    </a:cubicBezTo>
                    <a:cubicBezTo>
                      <a:pt x="266" y="388"/>
                      <a:pt x="275" y="379"/>
                      <a:pt x="276" y="366"/>
                    </a:cubicBezTo>
                    <a:cubicBezTo>
                      <a:pt x="276" y="353"/>
                      <a:pt x="266" y="344"/>
                      <a:pt x="252" y="344"/>
                    </a:cubicBezTo>
                    <a:cubicBezTo>
                      <a:pt x="228" y="343"/>
                      <a:pt x="204" y="343"/>
                      <a:pt x="179" y="343"/>
                    </a:cubicBezTo>
                    <a:cubicBezTo>
                      <a:pt x="178" y="343"/>
                      <a:pt x="177" y="344"/>
                      <a:pt x="175" y="343"/>
                    </a:cubicBezTo>
                    <a:cubicBezTo>
                      <a:pt x="170" y="343"/>
                      <a:pt x="167" y="339"/>
                      <a:pt x="167" y="334"/>
                    </a:cubicBezTo>
                    <a:cubicBezTo>
                      <a:pt x="167" y="329"/>
                      <a:pt x="171" y="326"/>
                      <a:pt x="176" y="326"/>
                    </a:cubicBezTo>
                    <a:cubicBezTo>
                      <a:pt x="185" y="325"/>
                      <a:pt x="195" y="326"/>
                      <a:pt x="205" y="326"/>
                    </a:cubicBezTo>
                    <a:cubicBezTo>
                      <a:pt x="230" y="326"/>
                      <a:pt x="255" y="326"/>
                      <a:pt x="280" y="326"/>
                    </a:cubicBezTo>
                    <a:cubicBezTo>
                      <a:pt x="290" y="325"/>
                      <a:pt x="297" y="321"/>
                      <a:pt x="301" y="312"/>
                    </a:cubicBezTo>
                    <a:cubicBezTo>
                      <a:pt x="305" y="304"/>
                      <a:pt x="303" y="296"/>
                      <a:pt x="298" y="289"/>
                    </a:cubicBezTo>
                    <a:cubicBezTo>
                      <a:pt x="293" y="283"/>
                      <a:pt x="287" y="281"/>
                      <a:pt x="279" y="281"/>
                    </a:cubicBezTo>
                    <a:cubicBezTo>
                      <a:pt x="246" y="281"/>
                      <a:pt x="213" y="281"/>
                      <a:pt x="179" y="281"/>
                    </a:cubicBezTo>
                    <a:cubicBezTo>
                      <a:pt x="177" y="281"/>
                      <a:pt x="176" y="281"/>
                      <a:pt x="174" y="281"/>
                    </a:cubicBezTo>
                    <a:cubicBezTo>
                      <a:pt x="170" y="279"/>
                      <a:pt x="167" y="276"/>
                      <a:pt x="167" y="272"/>
                    </a:cubicBezTo>
                    <a:cubicBezTo>
                      <a:pt x="167" y="267"/>
                      <a:pt x="170" y="264"/>
                      <a:pt x="175" y="263"/>
                    </a:cubicBezTo>
                    <a:cubicBezTo>
                      <a:pt x="176" y="263"/>
                      <a:pt x="178" y="263"/>
                      <a:pt x="180" y="263"/>
                    </a:cubicBezTo>
                    <a:cubicBezTo>
                      <a:pt x="216" y="263"/>
                      <a:pt x="253" y="263"/>
                      <a:pt x="289" y="263"/>
                    </a:cubicBezTo>
                    <a:cubicBezTo>
                      <a:pt x="305" y="263"/>
                      <a:pt x="316" y="248"/>
                      <a:pt x="311" y="233"/>
                    </a:cubicBezTo>
                    <a:cubicBezTo>
                      <a:pt x="307" y="224"/>
                      <a:pt x="299" y="218"/>
                      <a:pt x="288" y="218"/>
                    </a:cubicBezTo>
                    <a:cubicBezTo>
                      <a:pt x="251" y="218"/>
                      <a:pt x="214" y="218"/>
                      <a:pt x="176" y="218"/>
                    </a:cubicBezTo>
                    <a:cubicBezTo>
                      <a:pt x="175" y="218"/>
                      <a:pt x="174" y="218"/>
                      <a:pt x="173" y="218"/>
                    </a:cubicBezTo>
                    <a:cubicBezTo>
                      <a:pt x="166" y="218"/>
                      <a:pt x="163" y="214"/>
                      <a:pt x="162" y="209"/>
                    </a:cubicBezTo>
                    <a:cubicBezTo>
                      <a:pt x="162" y="204"/>
                      <a:pt x="166" y="200"/>
                      <a:pt x="172" y="200"/>
                    </a:cubicBezTo>
                    <a:cubicBezTo>
                      <a:pt x="183" y="200"/>
                      <a:pt x="194" y="200"/>
                      <a:pt x="205" y="200"/>
                    </a:cubicBezTo>
                    <a:cubicBezTo>
                      <a:pt x="225" y="200"/>
                      <a:pt x="245" y="200"/>
                      <a:pt x="265" y="200"/>
                    </a:cubicBezTo>
                    <a:cubicBezTo>
                      <a:pt x="279" y="200"/>
                      <a:pt x="289" y="191"/>
                      <a:pt x="289" y="178"/>
                    </a:cubicBezTo>
                    <a:cubicBezTo>
                      <a:pt x="289" y="165"/>
                      <a:pt x="279" y="155"/>
                      <a:pt x="265" y="155"/>
                    </a:cubicBezTo>
                    <a:cubicBezTo>
                      <a:pt x="228" y="155"/>
                      <a:pt x="191" y="155"/>
                      <a:pt x="153" y="155"/>
                    </a:cubicBezTo>
                    <a:cubicBezTo>
                      <a:pt x="152" y="155"/>
                      <a:pt x="151" y="155"/>
                      <a:pt x="149" y="155"/>
                    </a:cubicBezTo>
                    <a:cubicBezTo>
                      <a:pt x="145" y="155"/>
                      <a:pt x="141" y="153"/>
                      <a:pt x="140" y="149"/>
                    </a:cubicBezTo>
                    <a:cubicBezTo>
                      <a:pt x="139" y="144"/>
                      <a:pt x="141" y="141"/>
                      <a:pt x="144" y="138"/>
                    </a:cubicBezTo>
                    <a:cubicBezTo>
                      <a:pt x="151" y="134"/>
                      <a:pt x="157" y="129"/>
                      <a:pt x="162" y="124"/>
                    </a:cubicBezTo>
                    <a:cubicBezTo>
                      <a:pt x="184" y="102"/>
                      <a:pt x="193" y="75"/>
                      <a:pt x="188" y="44"/>
                    </a:cubicBezTo>
                    <a:cubicBezTo>
                      <a:pt x="186" y="32"/>
                      <a:pt x="180" y="24"/>
                      <a:pt x="168" y="21"/>
                    </a:cubicBezTo>
                    <a:cubicBezTo>
                      <a:pt x="156" y="19"/>
                      <a:pt x="146" y="24"/>
                      <a:pt x="139" y="35"/>
                    </a:cubicBezTo>
                    <a:cubicBezTo>
                      <a:pt x="113" y="78"/>
                      <a:pt x="81" y="116"/>
                      <a:pt x="46" y="151"/>
                    </a:cubicBezTo>
                    <a:cubicBezTo>
                      <a:pt x="41" y="156"/>
                      <a:pt x="36" y="158"/>
                      <a:pt x="30" y="158"/>
                    </a:cubicBezTo>
                    <a:cubicBezTo>
                      <a:pt x="26" y="158"/>
                      <a:pt x="22" y="158"/>
                      <a:pt x="19" y="158"/>
                    </a:cubicBezTo>
                    <a:cubicBezTo>
                      <a:pt x="15" y="158"/>
                      <a:pt x="12" y="159"/>
                      <a:pt x="8" y="159"/>
                    </a:cubicBezTo>
                    <a:cubicBezTo>
                      <a:pt x="7" y="154"/>
                      <a:pt x="7" y="148"/>
                      <a:pt x="7" y="141"/>
                    </a:cubicBezTo>
                    <a:cubicBezTo>
                      <a:pt x="13" y="141"/>
                      <a:pt x="19" y="140"/>
                      <a:pt x="25" y="140"/>
                    </a:cubicBezTo>
                    <a:cubicBezTo>
                      <a:pt x="30" y="140"/>
                      <a:pt x="33" y="139"/>
                      <a:pt x="36" y="135"/>
                    </a:cubicBezTo>
                    <a:cubicBezTo>
                      <a:pt x="70" y="102"/>
                      <a:pt x="99" y="66"/>
                      <a:pt x="124" y="25"/>
                    </a:cubicBezTo>
                    <a:cubicBezTo>
                      <a:pt x="135" y="8"/>
                      <a:pt x="153" y="0"/>
                      <a:pt x="172" y="4"/>
                    </a:cubicBezTo>
                    <a:cubicBezTo>
                      <a:pt x="187" y="7"/>
                      <a:pt x="197" y="17"/>
                      <a:pt x="202" y="31"/>
                    </a:cubicBezTo>
                    <a:cubicBezTo>
                      <a:pt x="210" y="52"/>
                      <a:pt x="209" y="73"/>
                      <a:pt x="202" y="94"/>
                    </a:cubicBezTo>
                    <a:cubicBezTo>
                      <a:pt x="197" y="110"/>
                      <a:pt x="188" y="124"/>
                      <a:pt x="175" y="137"/>
                    </a:cubicBezTo>
                    <a:cubicBezTo>
                      <a:pt x="178" y="137"/>
                      <a:pt x="180" y="137"/>
                      <a:pt x="181" y="137"/>
                    </a:cubicBezTo>
                    <a:cubicBezTo>
                      <a:pt x="210" y="137"/>
                      <a:pt x="238" y="137"/>
                      <a:pt x="266" y="137"/>
                    </a:cubicBezTo>
                    <a:cubicBezTo>
                      <a:pt x="294" y="138"/>
                      <a:pt x="313" y="163"/>
                      <a:pt x="305" y="189"/>
                    </a:cubicBezTo>
                    <a:cubicBezTo>
                      <a:pt x="304" y="193"/>
                      <a:pt x="302" y="197"/>
                      <a:pt x="300" y="201"/>
                    </a:cubicBezTo>
                    <a:cubicBezTo>
                      <a:pt x="316" y="207"/>
                      <a:pt x="327" y="217"/>
                      <a:pt x="329" y="235"/>
                    </a:cubicBezTo>
                    <a:cubicBezTo>
                      <a:pt x="332" y="252"/>
                      <a:pt x="324" y="266"/>
                      <a:pt x="310" y="275"/>
                    </a:cubicBezTo>
                    <a:cubicBezTo>
                      <a:pt x="332" y="302"/>
                      <a:pt x="318" y="336"/>
                      <a:pt x="287" y="343"/>
                    </a:cubicBezTo>
                    <a:cubicBezTo>
                      <a:pt x="287" y="344"/>
                      <a:pt x="288" y="345"/>
                      <a:pt x="288" y="346"/>
                    </a:cubicBezTo>
                    <a:cubicBezTo>
                      <a:pt x="301" y="371"/>
                      <a:pt x="289" y="398"/>
                      <a:pt x="262" y="405"/>
                    </a:cubicBezTo>
                    <a:cubicBezTo>
                      <a:pt x="261" y="405"/>
                      <a:pt x="260" y="406"/>
                      <a:pt x="259" y="406"/>
                    </a:cubicBezTo>
                    <a:cubicBezTo>
                      <a:pt x="216" y="406"/>
                      <a:pt x="173" y="406"/>
                      <a:pt x="129" y="4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5" name="Freeform 10">
                <a:extLst>
                  <a:ext uri="{FF2B5EF4-FFF2-40B4-BE49-F238E27FC236}">
                    <a16:creationId xmlns:a16="http://schemas.microsoft.com/office/drawing/2014/main" id="{4C4D6411-CE2C-6E23-7508-A36E729530BF}"/>
                  </a:ext>
                </a:extLst>
              </p:cNvPr>
              <p:cNvSpPr>
                <a:spLocks/>
              </p:cNvSpPr>
              <p:nvPr/>
            </p:nvSpPr>
            <p:spPr bwMode="auto">
              <a:xfrm>
                <a:off x="-1768475" y="1973263"/>
                <a:ext cx="1289050" cy="1169988"/>
              </a:xfrm>
              <a:custGeom>
                <a:avLst/>
                <a:gdLst>
                  <a:gd name="T0" fmla="*/ 200 w 341"/>
                  <a:gd name="T1" fmla="*/ 12 h 309"/>
                  <a:gd name="T2" fmla="*/ 215 w 341"/>
                  <a:gd name="T3" fmla="*/ 33 h 309"/>
                  <a:gd name="T4" fmla="*/ 250 w 341"/>
                  <a:gd name="T5" fmla="*/ 49 h 309"/>
                  <a:gd name="T6" fmla="*/ 277 w 341"/>
                  <a:gd name="T7" fmla="*/ 36 h 309"/>
                  <a:gd name="T8" fmla="*/ 304 w 341"/>
                  <a:gd name="T9" fmla="*/ 78 h 309"/>
                  <a:gd name="T10" fmla="*/ 311 w 341"/>
                  <a:gd name="T11" fmla="*/ 137 h 309"/>
                  <a:gd name="T12" fmla="*/ 331 w 341"/>
                  <a:gd name="T13" fmla="*/ 140 h 309"/>
                  <a:gd name="T14" fmla="*/ 340 w 341"/>
                  <a:gd name="T15" fmla="*/ 190 h 309"/>
                  <a:gd name="T16" fmla="*/ 315 w 341"/>
                  <a:gd name="T17" fmla="*/ 200 h 309"/>
                  <a:gd name="T18" fmla="*/ 291 w 341"/>
                  <a:gd name="T19" fmla="*/ 249 h 309"/>
                  <a:gd name="T20" fmla="*/ 304 w 341"/>
                  <a:gd name="T21" fmla="*/ 277 h 309"/>
                  <a:gd name="T22" fmla="*/ 262 w 341"/>
                  <a:gd name="T23" fmla="*/ 304 h 309"/>
                  <a:gd name="T24" fmla="*/ 226 w 341"/>
                  <a:gd name="T25" fmla="*/ 303 h 309"/>
                  <a:gd name="T26" fmla="*/ 204 w 341"/>
                  <a:gd name="T27" fmla="*/ 292 h 309"/>
                  <a:gd name="T28" fmla="*/ 243 w 341"/>
                  <a:gd name="T29" fmla="*/ 273 h 309"/>
                  <a:gd name="T30" fmla="*/ 268 w 341"/>
                  <a:gd name="T31" fmla="*/ 285 h 309"/>
                  <a:gd name="T32" fmla="*/ 286 w 341"/>
                  <a:gd name="T33" fmla="*/ 268 h 309"/>
                  <a:gd name="T34" fmla="*/ 273 w 341"/>
                  <a:gd name="T35" fmla="*/ 243 h 309"/>
                  <a:gd name="T36" fmla="*/ 305 w 341"/>
                  <a:gd name="T37" fmla="*/ 182 h 309"/>
                  <a:gd name="T38" fmla="*/ 322 w 341"/>
                  <a:gd name="T39" fmla="*/ 179 h 309"/>
                  <a:gd name="T40" fmla="*/ 306 w 341"/>
                  <a:gd name="T41" fmla="*/ 158 h 309"/>
                  <a:gd name="T42" fmla="*/ 274 w 341"/>
                  <a:gd name="T43" fmla="*/ 98 h 309"/>
                  <a:gd name="T44" fmla="*/ 286 w 341"/>
                  <a:gd name="T45" fmla="*/ 72 h 309"/>
                  <a:gd name="T46" fmla="*/ 258 w 341"/>
                  <a:gd name="T47" fmla="*/ 66 h 309"/>
                  <a:gd name="T48" fmla="*/ 191 w 341"/>
                  <a:gd name="T49" fmla="*/ 45 h 309"/>
                  <a:gd name="T50" fmla="*/ 182 w 341"/>
                  <a:gd name="T51" fmla="*/ 18 h 309"/>
                  <a:gd name="T52" fmla="*/ 158 w 341"/>
                  <a:gd name="T53" fmla="*/ 35 h 309"/>
                  <a:gd name="T54" fmla="*/ 97 w 341"/>
                  <a:gd name="T55" fmla="*/ 67 h 309"/>
                  <a:gd name="T56" fmla="*/ 72 w 341"/>
                  <a:gd name="T57" fmla="*/ 54 h 309"/>
                  <a:gd name="T58" fmla="*/ 66 w 341"/>
                  <a:gd name="T59" fmla="*/ 83 h 309"/>
                  <a:gd name="T60" fmla="*/ 46 w 341"/>
                  <a:gd name="T61" fmla="*/ 150 h 309"/>
                  <a:gd name="T62" fmla="*/ 18 w 341"/>
                  <a:gd name="T63" fmla="*/ 158 h 309"/>
                  <a:gd name="T64" fmla="*/ 19 w 341"/>
                  <a:gd name="T65" fmla="*/ 186 h 309"/>
                  <a:gd name="T66" fmla="*/ 2 w 341"/>
                  <a:gd name="T67" fmla="*/ 196 h 309"/>
                  <a:gd name="T68" fmla="*/ 0 w 341"/>
                  <a:gd name="T69" fmla="*/ 151 h 309"/>
                  <a:gd name="T70" fmla="*/ 28 w 341"/>
                  <a:gd name="T71" fmla="*/ 139 h 309"/>
                  <a:gd name="T72" fmla="*/ 49 w 341"/>
                  <a:gd name="T73" fmla="*/ 90 h 309"/>
                  <a:gd name="T74" fmla="*/ 36 w 341"/>
                  <a:gd name="T75" fmla="*/ 63 h 309"/>
                  <a:gd name="T76" fmla="*/ 78 w 341"/>
                  <a:gd name="T77" fmla="*/ 36 h 309"/>
                  <a:gd name="T78" fmla="*/ 92 w 341"/>
                  <a:gd name="T79" fmla="*/ 49 h 309"/>
                  <a:gd name="T80" fmla="*/ 140 w 341"/>
                  <a:gd name="T81" fmla="*/ 25 h 309"/>
                  <a:gd name="T82" fmla="*/ 147 w 341"/>
                  <a:gd name="T83" fmla="*/ 0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41" h="309">
                    <a:moveTo>
                      <a:pt x="194" y="0"/>
                    </a:moveTo>
                    <a:cubicBezTo>
                      <a:pt x="199" y="3"/>
                      <a:pt x="200" y="7"/>
                      <a:pt x="200" y="12"/>
                    </a:cubicBezTo>
                    <a:cubicBezTo>
                      <a:pt x="200" y="18"/>
                      <a:pt x="198" y="24"/>
                      <a:pt x="201" y="28"/>
                    </a:cubicBezTo>
                    <a:cubicBezTo>
                      <a:pt x="203" y="31"/>
                      <a:pt x="210" y="31"/>
                      <a:pt x="215" y="33"/>
                    </a:cubicBezTo>
                    <a:cubicBezTo>
                      <a:pt x="221" y="35"/>
                      <a:pt x="227" y="37"/>
                      <a:pt x="233" y="40"/>
                    </a:cubicBezTo>
                    <a:cubicBezTo>
                      <a:pt x="238" y="43"/>
                      <a:pt x="243" y="46"/>
                      <a:pt x="250" y="49"/>
                    </a:cubicBezTo>
                    <a:cubicBezTo>
                      <a:pt x="254" y="45"/>
                      <a:pt x="258" y="40"/>
                      <a:pt x="262" y="36"/>
                    </a:cubicBezTo>
                    <a:cubicBezTo>
                      <a:pt x="267" y="31"/>
                      <a:pt x="272" y="31"/>
                      <a:pt x="277" y="36"/>
                    </a:cubicBezTo>
                    <a:cubicBezTo>
                      <a:pt x="286" y="45"/>
                      <a:pt x="295" y="54"/>
                      <a:pt x="304" y="63"/>
                    </a:cubicBezTo>
                    <a:cubicBezTo>
                      <a:pt x="309" y="68"/>
                      <a:pt x="309" y="73"/>
                      <a:pt x="304" y="78"/>
                    </a:cubicBezTo>
                    <a:cubicBezTo>
                      <a:pt x="300" y="83"/>
                      <a:pt x="295" y="87"/>
                      <a:pt x="291" y="91"/>
                    </a:cubicBezTo>
                    <a:cubicBezTo>
                      <a:pt x="300" y="106"/>
                      <a:pt x="307" y="121"/>
                      <a:pt x="311" y="137"/>
                    </a:cubicBezTo>
                    <a:cubicBezTo>
                      <a:pt x="311" y="138"/>
                      <a:pt x="313" y="140"/>
                      <a:pt x="315" y="140"/>
                    </a:cubicBezTo>
                    <a:cubicBezTo>
                      <a:pt x="320" y="140"/>
                      <a:pt x="325" y="140"/>
                      <a:pt x="331" y="140"/>
                    </a:cubicBezTo>
                    <a:cubicBezTo>
                      <a:pt x="337" y="140"/>
                      <a:pt x="340" y="144"/>
                      <a:pt x="340" y="150"/>
                    </a:cubicBezTo>
                    <a:cubicBezTo>
                      <a:pt x="341" y="163"/>
                      <a:pt x="341" y="177"/>
                      <a:pt x="340" y="190"/>
                    </a:cubicBezTo>
                    <a:cubicBezTo>
                      <a:pt x="340" y="196"/>
                      <a:pt x="337" y="200"/>
                      <a:pt x="331" y="200"/>
                    </a:cubicBezTo>
                    <a:cubicBezTo>
                      <a:pt x="326" y="200"/>
                      <a:pt x="320" y="200"/>
                      <a:pt x="315" y="200"/>
                    </a:cubicBezTo>
                    <a:cubicBezTo>
                      <a:pt x="313" y="200"/>
                      <a:pt x="311" y="202"/>
                      <a:pt x="311" y="203"/>
                    </a:cubicBezTo>
                    <a:cubicBezTo>
                      <a:pt x="307" y="219"/>
                      <a:pt x="300" y="234"/>
                      <a:pt x="291" y="249"/>
                    </a:cubicBezTo>
                    <a:cubicBezTo>
                      <a:pt x="295" y="253"/>
                      <a:pt x="300" y="258"/>
                      <a:pt x="304" y="262"/>
                    </a:cubicBezTo>
                    <a:cubicBezTo>
                      <a:pt x="309" y="267"/>
                      <a:pt x="309" y="272"/>
                      <a:pt x="304" y="277"/>
                    </a:cubicBezTo>
                    <a:cubicBezTo>
                      <a:pt x="295" y="286"/>
                      <a:pt x="286" y="295"/>
                      <a:pt x="277" y="304"/>
                    </a:cubicBezTo>
                    <a:cubicBezTo>
                      <a:pt x="272" y="309"/>
                      <a:pt x="267" y="309"/>
                      <a:pt x="262" y="304"/>
                    </a:cubicBezTo>
                    <a:cubicBezTo>
                      <a:pt x="258" y="300"/>
                      <a:pt x="254" y="295"/>
                      <a:pt x="250" y="291"/>
                    </a:cubicBezTo>
                    <a:cubicBezTo>
                      <a:pt x="241" y="295"/>
                      <a:pt x="233" y="299"/>
                      <a:pt x="226" y="303"/>
                    </a:cubicBezTo>
                    <a:cubicBezTo>
                      <a:pt x="223" y="305"/>
                      <a:pt x="221" y="305"/>
                      <a:pt x="218" y="302"/>
                    </a:cubicBezTo>
                    <a:cubicBezTo>
                      <a:pt x="214" y="298"/>
                      <a:pt x="209" y="295"/>
                      <a:pt x="204" y="292"/>
                    </a:cubicBezTo>
                    <a:cubicBezTo>
                      <a:pt x="207" y="291"/>
                      <a:pt x="210" y="290"/>
                      <a:pt x="213" y="289"/>
                    </a:cubicBezTo>
                    <a:cubicBezTo>
                      <a:pt x="223" y="284"/>
                      <a:pt x="233" y="278"/>
                      <a:pt x="243" y="273"/>
                    </a:cubicBezTo>
                    <a:cubicBezTo>
                      <a:pt x="249" y="269"/>
                      <a:pt x="253" y="269"/>
                      <a:pt x="258" y="274"/>
                    </a:cubicBezTo>
                    <a:cubicBezTo>
                      <a:pt x="261" y="278"/>
                      <a:pt x="265" y="281"/>
                      <a:pt x="268" y="285"/>
                    </a:cubicBezTo>
                    <a:cubicBezTo>
                      <a:pt x="269" y="285"/>
                      <a:pt x="269" y="285"/>
                      <a:pt x="269" y="285"/>
                    </a:cubicBezTo>
                    <a:cubicBezTo>
                      <a:pt x="274" y="280"/>
                      <a:pt x="280" y="274"/>
                      <a:pt x="286" y="268"/>
                    </a:cubicBezTo>
                    <a:cubicBezTo>
                      <a:pt x="282" y="265"/>
                      <a:pt x="278" y="261"/>
                      <a:pt x="274" y="257"/>
                    </a:cubicBezTo>
                    <a:cubicBezTo>
                      <a:pt x="270" y="253"/>
                      <a:pt x="269" y="249"/>
                      <a:pt x="273" y="243"/>
                    </a:cubicBezTo>
                    <a:cubicBezTo>
                      <a:pt x="284" y="227"/>
                      <a:pt x="292" y="210"/>
                      <a:pt x="295" y="191"/>
                    </a:cubicBezTo>
                    <a:cubicBezTo>
                      <a:pt x="296" y="184"/>
                      <a:pt x="299" y="182"/>
                      <a:pt x="305" y="182"/>
                    </a:cubicBezTo>
                    <a:cubicBezTo>
                      <a:pt x="311" y="182"/>
                      <a:pt x="316" y="182"/>
                      <a:pt x="322" y="182"/>
                    </a:cubicBezTo>
                    <a:cubicBezTo>
                      <a:pt x="322" y="181"/>
                      <a:pt x="322" y="180"/>
                      <a:pt x="322" y="179"/>
                    </a:cubicBezTo>
                    <a:cubicBezTo>
                      <a:pt x="323" y="173"/>
                      <a:pt x="323" y="166"/>
                      <a:pt x="323" y="158"/>
                    </a:cubicBezTo>
                    <a:cubicBezTo>
                      <a:pt x="317" y="158"/>
                      <a:pt x="312" y="158"/>
                      <a:pt x="306" y="158"/>
                    </a:cubicBezTo>
                    <a:cubicBezTo>
                      <a:pt x="299" y="158"/>
                      <a:pt x="296" y="156"/>
                      <a:pt x="295" y="148"/>
                    </a:cubicBezTo>
                    <a:cubicBezTo>
                      <a:pt x="291" y="130"/>
                      <a:pt x="285" y="114"/>
                      <a:pt x="274" y="98"/>
                    </a:cubicBezTo>
                    <a:cubicBezTo>
                      <a:pt x="269" y="90"/>
                      <a:pt x="269" y="88"/>
                      <a:pt x="276" y="81"/>
                    </a:cubicBezTo>
                    <a:cubicBezTo>
                      <a:pt x="279" y="78"/>
                      <a:pt x="283" y="75"/>
                      <a:pt x="286" y="72"/>
                    </a:cubicBezTo>
                    <a:cubicBezTo>
                      <a:pt x="280" y="66"/>
                      <a:pt x="275" y="61"/>
                      <a:pt x="268" y="54"/>
                    </a:cubicBezTo>
                    <a:cubicBezTo>
                      <a:pt x="265" y="58"/>
                      <a:pt x="261" y="62"/>
                      <a:pt x="258" y="66"/>
                    </a:cubicBezTo>
                    <a:cubicBezTo>
                      <a:pt x="253" y="71"/>
                      <a:pt x="249" y="71"/>
                      <a:pt x="244" y="67"/>
                    </a:cubicBezTo>
                    <a:cubicBezTo>
                      <a:pt x="228" y="56"/>
                      <a:pt x="210" y="49"/>
                      <a:pt x="191" y="45"/>
                    </a:cubicBezTo>
                    <a:cubicBezTo>
                      <a:pt x="185" y="44"/>
                      <a:pt x="182" y="41"/>
                      <a:pt x="182" y="35"/>
                    </a:cubicBezTo>
                    <a:cubicBezTo>
                      <a:pt x="182" y="29"/>
                      <a:pt x="182" y="24"/>
                      <a:pt x="182" y="18"/>
                    </a:cubicBezTo>
                    <a:cubicBezTo>
                      <a:pt x="174" y="18"/>
                      <a:pt x="166" y="18"/>
                      <a:pt x="158" y="18"/>
                    </a:cubicBezTo>
                    <a:cubicBezTo>
                      <a:pt x="158" y="24"/>
                      <a:pt x="158" y="29"/>
                      <a:pt x="158" y="35"/>
                    </a:cubicBezTo>
                    <a:cubicBezTo>
                      <a:pt x="158" y="42"/>
                      <a:pt x="156" y="44"/>
                      <a:pt x="149" y="46"/>
                    </a:cubicBezTo>
                    <a:cubicBezTo>
                      <a:pt x="130" y="49"/>
                      <a:pt x="113" y="56"/>
                      <a:pt x="97" y="67"/>
                    </a:cubicBezTo>
                    <a:cubicBezTo>
                      <a:pt x="91" y="71"/>
                      <a:pt x="88" y="71"/>
                      <a:pt x="83" y="66"/>
                    </a:cubicBezTo>
                    <a:cubicBezTo>
                      <a:pt x="79" y="62"/>
                      <a:pt x="75" y="58"/>
                      <a:pt x="72" y="54"/>
                    </a:cubicBezTo>
                    <a:cubicBezTo>
                      <a:pt x="66" y="60"/>
                      <a:pt x="60" y="66"/>
                      <a:pt x="54" y="72"/>
                    </a:cubicBezTo>
                    <a:cubicBezTo>
                      <a:pt x="58" y="75"/>
                      <a:pt x="62" y="79"/>
                      <a:pt x="66" y="83"/>
                    </a:cubicBezTo>
                    <a:cubicBezTo>
                      <a:pt x="71" y="87"/>
                      <a:pt x="71" y="91"/>
                      <a:pt x="68" y="96"/>
                    </a:cubicBezTo>
                    <a:cubicBezTo>
                      <a:pt x="56" y="113"/>
                      <a:pt x="49" y="130"/>
                      <a:pt x="46" y="150"/>
                    </a:cubicBezTo>
                    <a:cubicBezTo>
                      <a:pt x="45" y="156"/>
                      <a:pt x="41" y="158"/>
                      <a:pt x="35" y="158"/>
                    </a:cubicBezTo>
                    <a:cubicBezTo>
                      <a:pt x="30" y="158"/>
                      <a:pt x="24" y="158"/>
                      <a:pt x="18" y="158"/>
                    </a:cubicBezTo>
                    <a:cubicBezTo>
                      <a:pt x="19" y="167"/>
                      <a:pt x="16" y="175"/>
                      <a:pt x="20" y="183"/>
                    </a:cubicBezTo>
                    <a:cubicBezTo>
                      <a:pt x="20" y="183"/>
                      <a:pt x="19" y="185"/>
                      <a:pt x="19" y="186"/>
                    </a:cubicBezTo>
                    <a:cubicBezTo>
                      <a:pt x="17" y="189"/>
                      <a:pt x="14" y="192"/>
                      <a:pt x="12" y="196"/>
                    </a:cubicBezTo>
                    <a:cubicBezTo>
                      <a:pt x="9" y="200"/>
                      <a:pt x="5" y="201"/>
                      <a:pt x="2" y="196"/>
                    </a:cubicBezTo>
                    <a:cubicBezTo>
                      <a:pt x="1" y="194"/>
                      <a:pt x="0" y="191"/>
                      <a:pt x="0" y="189"/>
                    </a:cubicBezTo>
                    <a:cubicBezTo>
                      <a:pt x="0" y="176"/>
                      <a:pt x="0" y="164"/>
                      <a:pt x="0" y="151"/>
                    </a:cubicBezTo>
                    <a:cubicBezTo>
                      <a:pt x="0" y="143"/>
                      <a:pt x="3" y="140"/>
                      <a:pt x="11" y="140"/>
                    </a:cubicBezTo>
                    <a:cubicBezTo>
                      <a:pt x="17" y="140"/>
                      <a:pt x="24" y="142"/>
                      <a:pt x="28" y="139"/>
                    </a:cubicBezTo>
                    <a:cubicBezTo>
                      <a:pt x="32" y="137"/>
                      <a:pt x="32" y="129"/>
                      <a:pt x="34" y="124"/>
                    </a:cubicBezTo>
                    <a:cubicBezTo>
                      <a:pt x="38" y="113"/>
                      <a:pt x="43" y="102"/>
                      <a:pt x="49" y="90"/>
                    </a:cubicBezTo>
                    <a:cubicBezTo>
                      <a:pt x="45" y="87"/>
                      <a:pt x="41" y="83"/>
                      <a:pt x="37" y="78"/>
                    </a:cubicBezTo>
                    <a:cubicBezTo>
                      <a:pt x="31" y="73"/>
                      <a:pt x="31" y="69"/>
                      <a:pt x="36" y="63"/>
                    </a:cubicBezTo>
                    <a:cubicBezTo>
                      <a:pt x="45" y="54"/>
                      <a:pt x="54" y="45"/>
                      <a:pt x="63" y="36"/>
                    </a:cubicBezTo>
                    <a:cubicBezTo>
                      <a:pt x="69" y="31"/>
                      <a:pt x="73" y="31"/>
                      <a:pt x="78" y="36"/>
                    </a:cubicBezTo>
                    <a:cubicBezTo>
                      <a:pt x="83" y="40"/>
                      <a:pt x="87" y="44"/>
                      <a:pt x="91" y="49"/>
                    </a:cubicBezTo>
                    <a:cubicBezTo>
                      <a:pt x="91" y="49"/>
                      <a:pt x="92" y="49"/>
                      <a:pt x="92" y="49"/>
                    </a:cubicBezTo>
                    <a:cubicBezTo>
                      <a:pt x="106" y="40"/>
                      <a:pt x="121" y="33"/>
                      <a:pt x="137" y="29"/>
                    </a:cubicBezTo>
                    <a:cubicBezTo>
                      <a:pt x="139" y="29"/>
                      <a:pt x="140" y="27"/>
                      <a:pt x="140" y="25"/>
                    </a:cubicBezTo>
                    <a:cubicBezTo>
                      <a:pt x="141" y="21"/>
                      <a:pt x="141" y="16"/>
                      <a:pt x="140" y="12"/>
                    </a:cubicBezTo>
                    <a:cubicBezTo>
                      <a:pt x="140" y="6"/>
                      <a:pt x="142" y="2"/>
                      <a:pt x="147" y="0"/>
                    </a:cubicBezTo>
                    <a:cubicBezTo>
                      <a:pt x="162" y="0"/>
                      <a:pt x="178" y="0"/>
                      <a:pt x="19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6" name="Freeform 11">
                <a:extLst>
                  <a:ext uri="{FF2B5EF4-FFF2-40B4-BE49-F238E27FC236}">
                    <a16:creationId xmlns:a16="http://schemas.microsoft.com/office/drawing/2014/main" id="{7D6491DA-BE53-0ED8-0903-DED2C790E7A9}"/>
                  </a:ext>
                </a:extLst>
              </p:cNvPr>
              <p:cNvSpPr>
                <a:spLocks noEditPoints="1"/>
              </p:cNvSpPr>
              <p:nvPr/>
            </p:nvSpPr>
            <p:spPr bwMode="auto">
              <a:xfrm>
                <a:off x="-2479675" y="3074988"/>
                <a:ext cx="336550" cy="1017588"/>
              </a:xfrm>
              <a:custGeom>
                <a:avLst/>
                <a:gdLst>
                  <a:gd name="T0" fmla="*/ 0 w 89"/>
                  <a:gd name="T1" fmla="*/ 21 h 269"/>
                  <a:gd name="T2" fmla="*/ 12 w 89"/>
                  <a:gd name="T3" fmla="*/ 5 h 269"/>
                  <a:gd name="T4" fmla="*/ 27 w 89"/>
                  <a:gd name="T5" fmla="*/ 0 h 269"/>
                  <a:gd name="T6" fmla="*/ 61 w 89"/>
                  <a:gd name="T7" fmla="*/ 0 h 269"/>
                  <a:gd name="T8" fmla="*/ 89 w 89"/>
                  <a:gd name="T9" fmla="*/ 28 h 269"/>
                  <a:gd name="T10" fmla="*/ 89 w 89"/>
                  <a:gd name="T11" fmla="*/ 212 h 269"/>
                  <a:gd name="T12" fmla="*/ 89 w 89"/>
                  <a:gd name="T13" fmla="*/ 240 h 269"/>
                  <a:gd name="T14" fmla="*/ 61 w 89"/>
                  <a:gd name="T15" fmla="*/ 269 h 269"/>
                  <a:gd name="T16" fmla="*/ 28 w 89"/>
                  <a:gd name="T17" fmla="*/ 269 h 269"/>
                  <a:gd name="T18" fmla="*/ 1 w 89"/>
                  <a:gd name="T19" fmla="*/ 249 h 269"/>
                  <a:gd name="T20" fmla="*/ 0 w 89"/>
                  <a:gd name="T21" fmla="*/ 247 h 269"/>
                  <a:gd name="T22" fmla="*/ 0 w 89"/>
                  <a:gd name="T23" fmla="*/ 21 h 269"/>
                  <a:gd name="T24" fmla="*/ 18 w 89"/>
                  <a:gd name="T25" fmla="*/ 134 h 269"/>
                  <a:gd name="T26" fmla="*/ 18 w 89"/>
                  <a:gd name="T27" fmla="*/ 240 h 269"/>
                  <a:gd name="T28" fmla="*/ 29 w 89"/>
                  <a:gd name="T29" fmla="*/ 251 h 269"/>
                  <a:gd name="T30" fmla="*/ 61 w 89"/>
                  <a:gd name="T31" fmla="*/ 251 h 269"/>
                  <a:gd name="T32" fmla="*/ 71 w 89"/>
                  <a:gd name="T33" fmla="*/ 240 h 269"/>
                  <a:gd name="T34" fmla="*/ 71 w 89"/>
                  <a:gd name="T35" fmla="*/ 29 h 269"/>
                  <a:gd name="T36" fmla="*/ 61 w 89"/>
                  <a:gd name="T37" fmla="*/ 18 h 269"/>
                  <a:gd name="T38" fmla="*/ 30 w 89"/>
                  <a:gd name="T39" fmla="*/ 18 h 269"/>
                  <a:gd name="T40" fmla="*/ 18 w 89"/>
                  <a:gd name="T41" fmla="*/ 30 h 269"/>
                  <a:gd name="T42" fmla="*/ 18 w 89"/>
                  <a:gd name="T43" fmla="*/ 13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9" h="269">
                    <a:moveTo>
                      <a:pt x="0" y="21"/>
                    </a:moveTo>
                    <a:cubicBezTo>
                      <a:pt x="4" y="16"/>
                      <a:pt x="7" y="9"/>
                      <a:pt x="12" y="5"/>
                    </a:cubicBezTo>
                    <a:cubicBezTo>
                      <a:pt x="16" y="2"/>
                      <a:pt x="22" y="1"/>
                      <a:pt x="27" y="0"/>
                    </a:cubicBezTo>
                    <a:cubicBezTo>
                      <a:pt x="38" y="0"/>
                      <a:pt x="50" y="0"/>
                      <a:pt x="61" y="0"/>
                    </a:cubicBezTo>
                    <a:cubicBezTo>
                      <a:pt x="78" y="0"/>
                      <a:pt x="89" y="11"/>
                      <a:pt x="89" y="28"/>
                    </a:cubicBezTo>
                    <a:cubicBezTo>
                      <a:pt x="89" y="90"/>
                      <a:pt x="89" y="151"/>
                      <a:pt x="89" y="212"/>
                    </a:cubicBezTo>
                    <a:cubicBezTo>
                      <a:pt x="89" y="222"/>
                      <a:pt x="89" y="231"/>
                      <a:pt x="89" y="240"/>
                    </a:cubicBezTo>
                    <a:cubicBezTo>
                      <a:pt x="89" y="257"/>
                      <a:pt x="78" y="269"/>
                      <a:pt x="61" y="269"/>
                    </a:cubicBezTo>
                    <a:cubicBezTo>
                      <a:pt x="50" y="269"/>
                      <a:pt x="39" y="269"/>
                      <a:pt x="28" y="269"/>
                    </a:cubicBezTo>
                    <a:cubicBezTo>
                      <a:pt x="15" y="269"/>
                      <a:pt x="6" y="262"/>
                      <a:pt x="1" y="249"/>
                    </a:cubicBezTo>
                    <a:cubicBezTo>
                      <a:pt x="1" y="249"/>
                      <a:pt x="0" y="248"/>
                      <a:pt x="0" y="247"/>
                    </a:cubicBezTo>
                    <a:cubicBezTo>
                      <a:pt x="0" y="172"/>
                      <a:pt x="0" y="97"/>
                      <a:pt x="0" y="21"/>
                    </a:cubicBezTo>
                    <a:close/>
                    <a:moveTo>
                      <a:pt x="18" y="134"/>
                    </a:moveTo>
                    <a:cubicBezTo>
                      <a:pt x="18" y="169"/>
                      <a:pt x="18" y="204"/>
                      <a:pt x="18" y="240"/>
                    </a:cubicBezTo>
                    <a:cubicBezTo>
                      <a:pt x="18" y="248"/>
                      <a:pt x="21" y="251"/>
                      <a:pt x="29" y="251"/>
                    </a:cubicBezTo>
                    <a:cubicBezTo>
                      <a:pt x="40" y="251"/>
                      <a:pt x="50" y="251"/>
                      <a:pt x="61" y="251"/>
                    </a:cubicBezTo>
                    <a:cubicBezTo>
                      <a:pt x="68" y="251"/>
                      <a:pt x="71" y="247"/>
                      <a:pt x="71" y="240"/>
                    </a:cubicBezTo>
                    <a:cubicBezTo>
                      <a:pt x="72" y="170"/>
                      <a:pt x="72" y="99"/>
                      <a:pt x="71" y="29"/>
                    </a:cubicBezTo>
                    <a:cubicBezTo>
                      <a:pt x="71" y="21"/>
                      <a:pt x="68" y="18"/>
                      <a:pt x="61" y="18"/>
                    </a:cubicBezTo>
                    <a:cubicBezTo>
                      <a:pt x="51" y="18"/>
                      <a:pt x="40" y="18"/>
                      <a:pt x="30" y="18"/>
                    </a:cubicBezTo>
                    <a:cubicBezTo>
                      <a:pt x="21" y="18"/>
                      <a:pt x="18" y="21"/>
                      <a:pt x="18" y="30"/>
                    </a:cubicBezTo>
                    <a:cubicBezTo>
                      <a:pt x="18" y="65"/>
                      <a:pt x="18" y="99"/>
                      <a:pt x="18" y="1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7" name="Freeform 12">
                <a:extLst>
                  <a:ext uri="{FF2B5EF4-FFF2-40B4-BE49-F238E27FC236}">
                    <a16:creationId xmlns:a16="http://schemas.microsoft.com/office/drawing/2014/main" id="{80C7AD8E-3252-8822-D8B4-4C2E98BC48D9}"/>
                  </a:ext>
                </a:extLst>
              </p:cNvPr>
              <p:cNvSpPr>
                <a:spLocks/>
              </p:cNvSpPr>
              <p:nvPr/>
            </p:nvSpPr>
            <p:spPr bwMode="auto">
              <a:xfrm>
                <a:off x="-1473200" y="2246313"/>
                <a:ext cx="714375" cy="733425"/>
              </a:xfrm>
              <a:custGeom>
                <a:avLst/>
                <a:gdLst>
                  <a:gd name="T0" fmla="*/ 59 w 189"/>
                  <a:gd name="T1" fmla="*/ 167 h 194"/>
                  <a:gd name="T2" fmla="*/ 166 w 189"/>
                  <a:gd name="T3" fmla="*/ 120 h 194"/>
                  <a:gd name="T4" fmla="*/ 116 w 189"/>
                  <a:gd name="T5" fmla="*/ 25 h 194"/>
                  <a:gd name="T6" fmla="*/ 17 w 189"/>
                  <a:gd name="T7" fmla="*/ 83 h 194"/>
                  <a:gd name="T8" fmla="*/ 0 w 189"/>
                  <a:gd name="T9" fmla="*/ 80 h 194"/>
                  <a:gd name="T10" fmla="*/ 1 w 189"/>
                  <a:gd name="T11" fmla="*/ 76 h 194"/>
                  <a:gd name="T12" fmla="*/ 100 w 189"/>
                  <a:gd name="T13" fmla="*/ 4 h 194"/>
                  <a:gd name="T14" fmla="*/ 186 w 189"/>
                  <a:gd name="T15" fmla="*/ 91 h 194"/>
                  <a:gd name="T16" fmla="*/ 112 w 189"/>
                  <a:gd name="T17" fmla="*/ 190 h 194"/>
                  <a:gd name="T18" fmla="*/ 60 w 189"/>
                  <a:gd name="T19" fmla="*/ 187 h 194"/>
                  <a:gd name="T20" fmla="*/ 57 w 189"/>
                  <a:gd name="T21" fmla="*/ 180 h 194"/>
                  <a:gd name="T22" fmla="*/ 59 w 189"/>
                  <a:gd name="T23" fmla="*/ 167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94">
                    <a:moveTo>
                      <a:pt x="59" y="167"/>
                    </a:moveTo>
                    <a:cubicBezTo>
                      <a:pt x="108" y="189"/>
                      <a:pt x="154" y="159"/>
                      <a:pt x="166" y="120"/>
                    </a:cubicBezTo>
                    <a:cubicBezTo>
                      <a:pt x="177" y="80"/>
                      <a:pt x="156" y="38"/>
                      <a:pt x="116" y="25"/>
                    </a:cubicBezTo>
                    <a:cubicBezTo>
                      <a:pt x="77" y="12"/>
                      <a:pt x="29" y="34"/>
                      <a:pt x="17" y="83"/>
                    </a:cubicBezTo>
                    <a:cubicBezTo>
                      <a:pt x="12" y="82"/>
                      <a:pt x="6" y="81"/>
                      <a:pt x="0" y="80"/>
                    </a:cubicBezTo>
                    <a:cubicBezTo>
                      <a:pt x="1" y="79"/>
                      <a:pt x="0" y="77"/>
                      <a:pt x="1" y="76"/>
                    </a:cubicBezTo>
                    <a:cubicBezTo>
                      <a:pt x="11" y="31"/>
                      <a:pt x="54" y="0"/>
                      <a:pt x="100" y="4"/>
                    </a:cubicBezTo>
                    <a:cubicBezTo>
                      <a:pt x="146" y="8"/>
                      <a:pt x="183" y="45"/>
                      <a:pt x="186" y="91"/>
                    </a:cubicBezTo>
                    <a:cubicBezTo>
                      <a:pt x="189" y="138"/>
                      <a:pt x="158" y="180"/>
                      <a:pt x="112" y="190"/>
                    </a:cubicBezTo>
                    <a:cubicBezTo>
                      <a:pt x="95" y="194"/>
                      <a:pt x="77" y="192"/>
                      <a:pt x="60" y="187"/>
                    </a:cubicBezTo>
                    <a:cubicBezTo>
                      <a:pt x="57" y="185"/>
                      <a:pt x="56" y="184"/>
                      <a:pt x="57" y="180"/>
                    </a:cubicBezTo>
                    <a:cubicBezTo>
                      <a:pt x="58" y="176"/>
                      <a:pt x="58" y="172"/>
                      <a:pt x="59" y="1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8" name="Freeform 13">
                <a:extLst>
                  <a:ext uri="{FF2B5EF4-FFF2-40B4-BE49-F238E27FC236}">
                    <a16:creationId xmlns:a16="http://schemas.microsoft.com/office/drawing/2014/main" id="{91302CE4-9A86-3C15-F461-B0212DA836DA}"/>
                  </a:ext>
                </a:extLst>
              </p:cNvPr>
              <p:cNvSpPr>
                <a:spLocks/>
              </p:cNvSpPr>
              <p:nvPr/>
            </p:nvSpPr>
            <p:spPr bwMode="auto">
              <a:xfrm>
                <a:off x="-800100" y="3116263"/>
                <a:ext cx="492125" cy="742950"/>
              </a:xfrm>
              <a:custGeom>
                <a:avLst/>
                <a:gdLst>
                  <a:gd name="T0" fmla="*/ 37 w 130"/>
                  <a:gd name="T1" fmla="*/ 12 h 196"/>
                  <a:gd name="T2" fmla="*/ 50 w 130"/>
                  <a:gd name="T3" fmla="*/ 0 h 196"/>
                  <a:gd name="T4" fmla="*/ 52 w 130"/>
                  <a:gd name="T5" fmla="*/ 3 h 196"/>
                  <a:gd name="T6" fmla="*/ 127 w 130"/>
                  <a:gd name="T7" fmla="*/ 134 h 196"/>
                  <a:gd name="T8" fmla="*/ 127 w 130"/>
                  <a:gd name="T9" fmla="*/ 146 h 196"/>
                  <a:gd name="T10" fmla="*/ 116 w 130"/>
                  <a:gd name="T11" fmla="*/ 149 h 196"/>
                  <a:gd name="T12" fmla="*/ 66 w 130"/>
                  <a:gd name="T13" fmla="*/ 135 h 196"/>
                  <a:gd name="T14" fmla="*/ 62 w 130"/>
                  <a:gd name="T15" fmla="*/ 148 h 196"/>
                  <a:gd name="T16" fmla="*/ 52 w 130"/>
                  <a:gd name="T17" fmla="*/ 186 h 196"/>
                  <a:gd name="T18" fmla="*/ 44 w 130"/>
                  <a:gd name="T19" fmla="*/ 195 h 196"/>
                  <a:gd name="T20" fmla="*/ 34 w 130"/>
                  <a:gd name="T21" fmla="*/ 189 h 196"/>
                  <a:gd name="T22" fmla="*/ 1 w 130"/>
                  <a:gd name="T23" fmla="*/ 131 h 196"/>
                  <a:gd name="T24" fmla="*/ 0 w 130"/>
                  <a:gd name="T25" fmla="*/ 126 h 196"/>
                  <a:gd name="T26" fmla="*/ 5 w 130"/>
                  <a:gd name="T27" fmla="*/ 102 h 196"/>
                  <a:gd name="T28" fmla="*/ 40 w 130"/>
                  <a:gd name="T29" fmla="*/ 163 h 196"/>
                  <a:gd name="T30" fmla="*/ 49 w 130"/>
                  <a:gd name="T31" fmla="*/ 130 h 196"/>
                  <a:gd name="T32" fmla="*/ 50 w 130"/>
                  <a:gd name="T33" fmla="*/ 124 h 196"/>
                  <a:gd name="T34" fmla="*/ 64 w 130"/>
                  <a:gd name="T35" fmla="*/ 116 h 196"/>
                  <a:gd name="T36" fmla="*/ 102 w 130"/>
                  <a:gd name="T37" fmla="*/ 126 h 196"/>
                  <a:gd name="T38" fmla="*/ 37 w 130"/>
                  <a:gd name="T39" fmla="*/ 12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0" h="196">
                    <a:moveTo>
                      <a:pt x="37" y="12"/>
                    </a:moveTo>
                    <a:cubicBezTo>
                      <a:pt x="41" y="8"/>
                      <a:pt x="45" y="4"/>
                      <a:pt x="50" y="0"/>
                    </a:cubicBezTo>
                    <a:cubicBezTo>
                      <a:pt x="50" y="0"/>
                      <a:pt x="51" y="1"/>
                      <a:pt x="52" y="3"/>
                    </a:cubicBezTo>
                    <a:cubicBezTo>
                      <a:pt x="77" y="46"/>
                      <a:pt x="102" y="90"/>
                      <a:pt x="127" y="134"/>
                    </a:cubicBezTo>
                    <a:cubicBezTo>
                      <a:pt x="129" y="138"/>
                      <a:pt x="130" y="142"/>
                      <a:pt x="127" y="146"/>
                    </a:cubicBezTo>
                    <a:cubicBezTo>
                      <a:pt x="124" y="150"/>
                      <a:pt x="120" y="150"/>
                      <a:pt x="116" y="149"/>
                    </a:cubicBezTo>
                    <a:cubicBezTo>
                      <a:pt x="99" y="144"/>
                      <a:pt x="83" y="140"/>
                      <a:pt x="66" y="135"/>
                    </a:cubicBezTo>
                    <a:cubicBezTo>
                      <a:pt x="65" y="140"/>
                      <a:pt x="63" y="144"/>
                      <a:pt x="62" y="148"/>
                    </a:cubicBezTo>
                    <a:cubicBezTo>
                      <a:pt x="59" y="161"/>
                      <a:pt x="55" y="173"/>
                      <a:pt x="52" y="186"/>
                    </a:cubicBezTo>
                    <a:cubicBezTo>
                      <a:pt x="51" y="191"/>
                      <a:pt x="49" y="194"/>
                      <a:pt x="44" y="195"/>
                    </a:cubicBezTo>
                    <a:cubicBezTo>
                      <a:pt x="39" y="196"/>
                      <a:pt x="36" y="193"/>
                      <a:pt x="34" y="189"/>
                    </a:cubicBezTo>
                    <a:cubicBezTo>
                      <a:pt x="23" y="169"/>
                      <a:pt x="12" y="150"/>
                      <a:pt x="1" y="131"/>
                    </a:cubicBezTo>
                    <a:cubicBezTo>
                      <a:pt x="0" y="130"/>
                      <a:pt x="0" y="127"/>
                      <a:pt x="0" y="126"/>
                    </a:cubicBezTo>
                    <a:cubicBezTo>
                      <a:pt x="2" y="118"/>
                      <a:pt x="3" y="110"/>
                      <a:pt x="5" y="102"/>
                    </a:cubicBezTo>
                    <a:cubicBezTo>
                      <a:pt x="16" y="121"/>
                      <a:pt x="28" y="141"/>
                      <a:pt x="40" y="163"/>
                    </a:cubicBezTo>
                    <a:cubicBezTo>
                      <a:pt x="43" y="151"/>
                      <a:pt x="46" y="141"/>
                      <a:pt x="49" y="130"/>
                    </a:cubicBezTo>
                    <a:cubicBezTo>
                      <a:pt x="49" y="128"/>
                      <a:pt x="50" y="126"/>
                      <a:pt x="50" y="124"/>
                    </a:cubicBezTo>
                    <a:cubicBezTo>
                      <a:pt x="52" y="116"/>
                      <a:pt x="56" y="114"/>
                      <a:pt x="64" y="116"/>
                    </a:cubicBezTo>
                    <a:cubicBezTo>
                      <a:pt x="76" y="120"/>
                      <a:pt x="88" y="123"/>
                      <a:pt x="102" y="126"/>
                    </a:cubicBezTo>
                    <a:cubicBezTo>
                      <a:pt x="80" y="88"/>
                      <a:pt x="58" y="50"/>
                      <a:pt x="3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9" name="Freeform 14">
                <a:extLst>
                  <a:ext uri="{FF2B5EF4-FFF2-40B4-BE49-F238E27FC236}">
                    <a16:creationId xmlns:a16="http://schemas.microsoft.com/office/drawing/2014/main" id="{D1AA3DE5-AAA4-22BD-136D-9E2EECAEF1FD}"/>
                  </a:ext>
                </a:extLst>
              </p:cNvPr>
              <p:cNvSpPr>
                <a:spLocks/>
              </p:cNvSpPr>
              <p:nvPr/>
            </p:nvSpPr>
            <p:spPr bwMode="auto">
              <a:xfrm>
                <a:off x="-1246188" y="2397126"/>
                <a:ext cx="241300" cy="442913"/>
              </a:xfrm>
              <a:custGeom>
                <a:avLst/>
                <a:gdLst>
                  <a:gd name="T0" fmla="*/ 28 w 64"/>
                  <a:gd name="T1" fmla="*/ 100 h 117"/>
                  <a:gd name="T2" fmla="*/ 16 w 64"/>
                  <a:gd name="T3" fmla="*/ 100 h 117"/>
                  <a:gd name="T4" fmla="*/ 6 w 64"/>
                  <a:gd name="T5" fmla="*/ 92 h 117"/>
                  <a:gd name="T6" fmla="*/ 16 w 64"/>
                  <a:gd name="T7" fmla="*/ 83 h 117"/>
                  <a:gd name="T8" fmla="*/ 36 w 64"/>
                  <a:gd name="T9" fmla="*/ 82 h 117"/>
                  <a:gd name="T10" fmla="*/ 44 w 64"/>
                  <a:gd name="T11" fmla="*/ 78 h 117"/>
                  <a:gd name="T12" fmla="*/ 39 w 64"/>
                  <a:gd name="T13" fmla="*/ 68 h 117"/>
                  <a:gd name="T14" fmla="*/ 29 w 64"/>
                  <a:gd name="T15" fmla="*/ 68 h 117"/>
                  <a:gd name="T16" fmla="*/ 1 w 64"/>
                  <a:gd name="T17" fmla="*/ 44 h 117"/>
                  <a:gd name="T18" fmla="*/ 25 w 64"/>
                  <a:gd name="T19" fmla="*/ 17 h 117"/>
                  <a:gd name="T20" fmla="*/ 27 w 64"/>
                  <a:gd name="T21" fmla="*/ 17 h 117"/>
                  <a:gd name="T22" fmla="*/ 37 w 64"/>
                  <a:gd name="T23" fmla="*/ 0 h 117"/>
                  <a:gd name="T24" fmla="*/ 46 w 64"/>
                  <a:gd name="T25" fmla="*/ 17 h 117"/>
                  <a:gd name="T26" fmla="*/ 51 w 64"/>
                  <a:gd name="T27" fmla="*/ 17 h 117"/>
                  <a:gd name="T28" fmla="*/ 59 w 64"/>
                  <a:gd name="T29" fmla="*/ 26 h 117"/>
                  <a:gd name="T30" fmla="*/ 50 w 64"/>
                  <a:gd name="T31" fmla="*/ 35 h 117"/>
                  <a:gd name="T32" fmla="*/ 35 w 64"/>
                  <a:gd name="T33" fmla="*/ 35 h 117"/>
                  <a:gd name="T34" fmla="*/ 26 w 64"/>
                  <a:gd name="T35" fmla="*/ 35 h 117"/>
                  <a:gd name="T36" fmla="*/ 19 w 64"/>
                  <a:gd name="T37" fmla="*/ 42 h 117"/>
                  <a:gd name="T38" fmla="*/ 26 w 64"/>
                  <a:gd name="T39" fmla="*/ 50 h 117"/>
                  <a:gd name="T40" fmla="*/ 39 w 64"/>
                  <a:gd name="T41" fmla="*/ 50 h 117"/>
                  <a:gd name="T42" fmla="*/ 63 w 64"/>
                  <a:gd name="T43" fmla="*/ 76 h 117"/>
                  <a:gd name="T44" fmla="*/ 50 w 64"/>
                  <a:gd name="T45" fmla="*/ 97 h 117"/>
                  <a:gd name="T46" fmla="*/ 46 w 64"/>
                  <a:gd name="T47" fmla="*/ 104 h 117"/>
                  <a:gd name="T48" fmla="*/ 46 w 64"/>
                  <a:gd name="T49" fmla="*/ 108 h 117"/>
                  <a:gd name="T50" fmla="*/ 37 w 64"/>
                  <a:gd name="T51" fmla="*/ 116 h 117"/>
                  <a:gd name="T52" fmla="*/ 28 w 64"/>
                  <a:gd name="T53" fmla="*/ 108 h 117"/>
                  <a:gd name="T54" fmla="*/ 28 w 64"/>
                  <a:gd name="T55" fmla="*/ 10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4" h="117">
                    <a:moveTo>
                      <a:pt x="28" y="100"/>
                    </a:moveTo>
                    <a:cubicBezTo>
                      <a:pt x="23" y="100"/>
                      <a:pt x="20" y="101"/>
                      <a:pt x="16" y="100"/>
                    </a:cubicBezTo>
                    <a:cubicBezTo>
                      <a:pt x="10" y="100"/>
                      <a:pt x="6" y="97"/>
                      <a:pt x="6" y="92"/>
                    </a:cubicBezTo>
                    <a:cubicBezTo>
                      <a:pt x="5" y="86"/>
                      <a:pt x="10" y="83"/>
                      <a:pt x="16" y="83"/>
                    </a:cubicBezTo>
                    <a:cubicBezTo>
                      <a:pt x="22" y="82"/>
                      <a:pt x="29" y="83"/>
                      <a:pt x="36" y="82"/>
                    </a:cubicBezTo>
                    <a:cubicBezTo>
                      <a:pt x="39" y="82"/>
                      <a:pt x="42" y="81"/>
                      <a:pt x="44" y="78"/>
                    </a:cubicBezTo>
                    <a:cubicBezTo>
                      <a:pt x="48" y="75"/>
                      <a:pt x="45" y="69"/>
                      <a:pt x="39" y="68"/>
                    </a:cubicBezTo>
                    <a:cubicBezTo>
                      <a:pt x="36" y="68"/>
                      <a:pt x="32" y="68"/>
                      <a:pt x="29" y="68"/>
                    </a:cubicBezTo>
                    <a:cubicBezTo>
                      <a:pt x="13" y="68"/>
                      <a:pt x="2" y="58"/>
                      <a:pt x="1" y="44"/>
                    </a:cubicBezTo>
                    <a:cubicBezTo>
                      <a:pt x="0" y="30"/>
                      <a:pt x="10" y="20"/>
                      <a:pt x="25" y="17"/>
                    </a:cubicBezTo>
                    <a:cubicBezTo>
                      <a:pt x="26" y="17"/>
                      <a:pt x="26" y="17"/>
                      <a:pt x="27" y="17"/>
                    </a:cubicBezTo>
                    <a:cubicBezTo>
                      <a:pt x="28" y="10"/>
                      <a:pt x="26" y="0"/>
                      <a:pt x="37" y="0"/>
                    </a:cubicBezTo>
                    <a:cubicBezTo>
                      <a:pt x="48" y="0"/>
                      <a:pt x="45" y="10"/>
                      <a:pt x="46" y="17"/>
                    </a:cubicBezTo>
                    <a:cubicBezTo>
                      <a:pt x="48" y="17"/>
                      <a:pt x="49" y="17"/>
                      <a:pt x="51" y="17"/>
                    </a:cubicBezTo>
                    <a:cubicBezTo>
                      <a:pt x="56" y="18"/>
                      <a:pt x="59" y="22"/>
                      <a:pt x="59" y="26"/>
                    </a:cubicBezTo>
                    <a:cubicBezTo>
                      <a:pt x="59" y="31"/>
                      <a:pt x="55" y="35"/>
                      <a:pt x="50" y="35"/>
                    </a:cubicBezTo>
                    <a:cubicBezTo>
                      <a:pt x="45" y="35"/>
                      <a:pt x="40" y="35"/>
                      <a:pt x="35" y="35"/>
                    </a:cubicBezTo>
                    <a:cubicBezTo>
                      <a:pt x="32" y="35"/>
                      <a:pt x="29" y="35"/>
                      <a:pt x="26" y="35"/>
                    </a:cubicBezTo>
                    <a:cubicBezTo>
                      <a:pt x="22" y="36"/>
                      <a:pt x="19" y="38"/>
                      <a:pt x="19" y="42"/>
                    </a:cubicBezTo>
                    <a:cubicBezTo>
                      <a:pt x="19" y="47"/>
                      <a:pt x="22" y="49"/>
                      <a:pt x="26" y="50"/>
                    </a:cubicBezTo>
                    <a:cubicBezTo>
                      <a:pt x="31" y="50"/>
                      <a:pt x="35" y="50"/>
                      <a:pt x="39" y="50"/>
                    </a:cubicBezTo>
                    <a:cubicBezTo>
                      <a:pt x="54" y="51"/>
                      <a:pt x="64" y="63"/>
                      <a:pt x="63" y="76"/>
                    </a:cubicBezTo>
                    <a:cubicBezTo>
                      <a:pt x="63" y="86"/>
                      <a:pt x="58" y="93"/>
                      <a:pt x="50" y="97"/>
                    </a:cubicBezTo>
                    <a:cubicBezTo>
                      <a:pt x="47" y="99"/>
                      <a:pt x="45" y="100"/>
                      <a:pt x="46" y="104"/>
                    </a:cubicBezTo>
                    <a:cubicBezTo>
                      <a:pt x="46" y="105"/>
                      <a:pt x="46" y="107"/>
                      <a:pt x="46" y="108"/>
                    </a:cubicBezTo>
                    <a:cubicBezTo>
                      <a:pt x="45" y="113"/>
                      <a:pt x="42" y="116"/>
                      <a:pt x="37" y="116"/>
                    </a:cubicBezTo>
                    <a:cubicBezTo>
                      <a:pt x="33" y="117"/>
                      <a:pt x="28" y="113"/>
                      <a:pt x="28" y="108"/>
                    </a:cubicBezTo>
                    <a:cubicBezTo>
                      <a:pt x="28" y="106"/>
                      <a:pt x="28" y="103"/>
                      <a:pt x="2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grpSp>
        <p:grpSp>
          <p:nvGrpSpPr>
            <p:cNvPr id="95" name="Group 94">
              <a:extLst>
                <a:ext uri="{FF2B5EF4-FFF2-40B4-BE49-F238E27FC236}">
                  <a16:creationId xmlns:a16="http://schemas.microsoft.com/office/drawing/2014/main" id="{51B1A851-CFBE-CF65-AEBE-DA05A335F80F}"/>
                </a:ext>
              </a:extLst>
            </p:cNvPr>
            <p:cNvGrpSpPr/>
            <p:nvPr/>
          </p:nvGrpSpPr>
          <p:grpSpPr>
            <a:xfrm>
              <a:off x="3864651" y="4501383"/>
              <a:ext cx="483486" cy="483486"/>
              <a:chOff x="-2524125" y="2900363"/>
              <a:chExt cx="2046288" cy="2046287"/>
            </a:xfrm>
            <a:solidFill>
              <a:schemeClr val="bg1"/>
            </a:solidFill>
          </p:grpSpPr>
          <p:sp>
            <p:nvSpPr>
              <p:cNvPr id="101" name="Freeform 23">
                <a:extLst>
                  <a:ext uri="{FF2B5EF4-FFF2-40B4-BE49-F238E27FC236}">
                    <a16:creationId xmlns:a16="http://schemas.microsoft.com/office/drawing/2014/main" id="{94346D96-C0AA-89E3-5C4D-03AB104B41FF}"/>
                  </a:ext>
                </a:extLst>
              </p:cNvPr>
              <p:cNvSpPr>
                <a:spLocks/>
              </p:cNvSpPr>
              <p:nvPr/>
            </p:nvSpPr>
            <p:spPr bwMode="auto">
              <a:xfrm>
                <a:off x="-1671638" y="2900363"/>
                <a:ext cx="341313" cy="341313"/>
              </a:xfrm>
              <a:custGeom>
                <a:avLst/>
                <a:gdLst>
                  <a:gd name="T0" fmla="*/ 120 w 240"/>
                  <a:gd name="T1" fmla="*/ 240 h 240"/>
                  <a:gd name="T2" fmla="*/ 144 w 240"/>
                  <a:gd name="T3" fmla="*/ 217 h 240"/>
                  <a:gd name="T4" fmla="*/ 217 w 240"/>
                  <a:gd name="T5" fmla="*/ 143 h 240"/>
                  <a:gd name="T6" fmla="*/ 240 w 240"/>
                  <a:gd name="T7" fmla="*/ 120 h 240"/>
                  <a:gd name="T8" fmla="*/ 216 w 240"/>
                  <a:gd name="T9" fmla="*/ 96 h 240"/>
                  <a:gd name="T10" fmla="*/ 144 w 240"/>
                  <a:gd name="T11" fmla="*/ 24 h 240"/>
                  <a:gd name="T12" fmla="*/ 120 w 240"/>
                  <a:gd name="T13" fmla="*/ 0 h 240"/>
                  <a:gd name="T14" fmla="*/ 96 w 240"/>
                  <a:gd name="T15" fmla="*/ 24 h 240"/>
                  <a:gd name="T16" fmla="*/ 23 w 240"/>
                  <a:gd name="T17" fmla="*/ 96 h 240"/>
                  <a:gd name="T18" fmla="*/ 0 w 240"/>
                  <a:gd name="T19" fmla="*/ 120 h 240"/>
                  <a:gd name="T20" fmla="*/ 22 w 240"/>
                  <a:gd name="T21" fmla="*/ 143 h 240"/>
                  <a:gd name="T22" fmla="*/ 96 w 240"/>
                  <a:gd name="T23" fmla="*/ 217 h 240"/>
                  <a:gd name="T24" fmla="*/ 120 w 240"/>
                  <a:gd name="T25"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0" h="240">
                    <a:moveTo>
                      <a:pt x="120" y="240"/>
                    </a:moveTo>
                    <a:cubicBezTo>
                      <a:pt x="133" y="239"/>
                      <a:pt x="144" y="230"/>
                      <a:pt x="144" y="217"/>
                    </a:cubicBezTo>
                    <a:cubicBezTo>
                      <a:pt x="143" y="176"/>
                      <a:pt x="178" y="143"/>
                      <a:pt x="217" y="143"/>
                    </a:cubicBezTo>
                    <a:cubicBezTo>
                      <a:pt x="230" y="144"/>
                      <a:pt x="240" y="133"/>
                      <a:pt x="240" y="120"/>
                    </a:cubicBezTo>
                    <a:cubicBezTo>
                      <a:pt x="240" y="107"/>
                      <a:pt x="231" y="97"/>
                      <a:pt x="216" y="96"/>
                    </a:cubicBezTo>
                    <a:cubicBezTo>
                      <a:pt x="171" y="91"/>
                      <a:pt x="148" y="69"/>
                      <a:pt x="144" y="24"/>
                    </a:cubicBezTo>
                    <a:cubicBezTo>
                      <a:pt x="142" y="9"/>
                      <a:pt x="133" y="0"/>
                      <a:pt x="120" y="0"/>
                    </a:cubicBezTo>
                    <a:cubicBezTo>
                      <a:pt x="107" y="0"/>
                      <a:pt x="97" y="9"/>
                      <a:pt x="96" y="24"/>
                    </a:cubicBezTo>
                    <a:cubicBezTo>
                      <a:pt x="91" y="69"/>
                      <a:pt x="69" y="91"/>
                      <a:pt x="23" y="96"/>
                    </a:cubicBezTo>
                    <a:cubicBezTo>
                      <a:pt x="9" y="97"/>
                      <a:pt x="0" y="107"/>
                      <a:pt x="0" y="120"/>
                    </a:cubicBezTo>
                    <a:cubicBezTo>
                      <a:pt x="0" y="133"/>
                      <a:pt x="9" y="144"/>
                      <a:pt x="22" y="143"/>
                    </a:cubicBezTo>
                    <a:cubicBezTo>
                      <a:pt x="63" y="143"/>
                      <a:pt x="96" y="178"/>
                      <a:pt x="96" y="217"/>
                    </a:cubicBezTo>
                    <a:cubicBezTo>
                      <a:pt x="96" y="231"/>
                      <a:pt x="107" y="240"/>
                      <a:pt x="120" y="2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2" name="Freeform 24">
                <a:extLst>
                  <a:ext uri="{FF2B5EF4-FFF2-40B4-BE49-F238E27FC236}">
                    <a16:creationId xmlns:a16="http://schemas.microsoft.com/office/drawing/2014/main" id="{A4F719FD-5840-3D64-ECB3-C6CD868A17AF}"/>
                  </a:ext>
                </a:extLst>
              </p:cNvPr>
              <p:cNvSpPr>
                <a:spLocks/>
              </p:cNvSpPr>
              <p:nvPr/>
            </p:nvSpPr>
            <p:spPr bwMode="auto">
              <a:xfrm>
                <a:off x="-2082800" y="3138488"/>
                <a:ext cx="342900" cy="341313"/>
              </a:xfrm>
              <a:custGeom>
                <a:avLst/>
                <a:gdLst>
                  <a:gd name="T0" fmla="*/ 120 w 241"/>
                  <a:gd name="T1" fmla="*/ 240 h 240"/>
                  <a:gd name="T2" fmla="*/ 145 w 241"/>
                  <a:gd name="T3" fmla="*/ 216 h 240"/>
                  <a:gd name="T4" fmla="*/ 217 w 241"/>
                  <a:gd name="T5" fmla="*/ 144 h 240"/>
                  <a:gd name="T6" fmla="*/ 241 w 241"/>
                  <a:gd name="T7" fmla="*/ 120 h 240"/>
                  <a:gd name="T8" fmla="*/ 217 w 241"/>
                  <a:gd name="T9" fmla="*/ 96 h 240"/>
                  <a:gd name="T10" fmla="*/ 145 w 241"/>
                  <a:gd name="T11" fmla="*/ 23 h 240"/>
                  <a:gd name="T12" fmla="*/ 121 w 241"/>
                  <a:gd name="T13" fmla="*/ 0 h 240"/>
                  <a:gd name="T14" fmla="*/ 97 w 241"/>
                  <a:gd name="T15" fmla="*/ 22 h 240"/>
                  <a:gd name="T16" fmla="*/ 24 w 241"/>
                  <a:gd name="T17" fmla="*/ 96 h 240"/>
                  <a:gd name="T18" fmla="*/ 1 w 241"/>
                  <a:gd name="T19" fmla="*/ 119 h 240"/>
                  <a:gd name="T20" fmla="*/ 24 w 241"/>
                  <a:gd name="T21" fmla="*/ 144 h 240"/>
                  <a:gd name="T22" fmla="*/ 97 w 241"/>
                  <a:gd name="T23" fmla="*/ 217 h 240"/>
                  <a:gd name="T24" fmla="*/ 120 w 241"/>
                  <a:gd name="T25"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240">
                    <a:moveTo>
                      <a:pt x="120" y="240"/>
                    </a:moveTo>
                    <a:cubicBezTo>
                      <a:pt x="134" y="240"/>
                      <a:pt x="143" y="231"/>
                      <a:pt x="145" y="216"/>
                    </a:cubicBezTo>
                    <a:cubicBezTo>
                      <a:pt x="150" y="171"/>
                      <a:pt x="172" y="148"/>
                      <a:pt x="217" y="144"/>
                    </a:cubicBezTo>
                    <a:cubicBezTo>
                      <a:pt x="231" y="142"/>
                      <a:pt x="241" y="133"/>
                      <a:pt x="241" y="120"/>
                    </a:cubicBezTo>
                    <a:cubicBezTo>
                      <a:pt x="241" y="107"/>
                      <a:pt x="231" y="97"/>
                      <a:pt x="217" y="96"/>
                    </a:cubicBezTo>
                    <a:cubicBezTo>
                      <a:pt x="172" y="91"/>
                      <a:pt x="150" y="69"/>
                      <a:pt x="145" y="23"/>
                    </a:cubicBezTo>
                    <a:cubicBezTo>
                      <a:pt x="143" y="9"/>
                      <a:pt x="134" y="0"/>
                      <a:pt x="121" y="0"/>
                    </a:cubicBezTo>
                    <a:cubicBezTo>
                      <a:pt x="108" y="0"/>
                      <a:pt x="99" y="9"/>
                      <a:pt x="97" y="22"/>
                    </a:cubicBezTo>
                    <a:cubicBezTo>
                      <a:pt x="91" y="70"/>
                      <a:pt x="71" y="91"/>
                      <a:pt x="24" y="96"/>
                    </a:cubicBezTo>
                    <a:cubicBezTo>
                      <a:pt x="10" y="97"/>
                      <a:pt x="1" y="107"/>
                      <a:pt x="1" y="119"/>
                    </a:cubicBezTo>
                    <a:cubicBezTo>
                      <a:pt x="0" y="132"/>
                      <a:pt x="10" y="142"/>
                      <a:pt x="24" y="144"/>
                    </a:cubicBezTo>
                    <a:cubicBezTo>
                      <a:pt x="71" y="149"/>
                      <a:pt x="91" y="170"/>
                      <a:pt x="97" y="217"/>
                    </a:cubicBezTo>
                    <a:cubicBezTo>
                      <a:pt x="98" y="230"/>
                      <a:pt x="108" y="240"/>
                      <a:pt x="120" y="2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3" name="Freeform 25">
                <a:extLst>
                  <a:ext uri="{FF2B5EF4-FFF2-40B4-BE49-F238E27FC236}">
                    <a16:creationId xmlns:a16="http://schemas.microsoft.com/office/drawing/2014/main" id="{E53C3B28-64AB-CAEF-D234-47AF33E31D44}"/>
                  </a:ext>
                </a:extLst>
              </p:cNvPr>
              <p:cNvSpPr>
                <a:spLocks/>
              </p:cNvSpPr>
              <p:nvPr/>
            </p:nvSpPr>
            <p:spPr bwMode="auto">
              <a:xfrm>
                <a:off x="-1262063" y="3138488"/>
                <a:ext cx="341313" cy="341313"/>
              </a:xfrm>
              <a:custGeom>
                <a:avLst/>
                <a:gdLst>
                  <a:gd name="T0" fmla="*/ 240 w 240"/>
                  <a:gd name="T1" fmla="*/ 120 h 240"/>
                  <a:gd name="T2" fmla="*/ 216 w 240"/>
                  <a:gd name="T3" fmla="*/ 96 h 240"/>
                  <a:gd name="T4" fmla="*/ 144 w 240"/>
                  <a:gd name="T5" fmla="*/ 24 h 240"/>
                  <a:gd name="T6" fmla="*/ 120 w 240"/>
                  <a:gd name="T7" fmla="*/ 0 h 240"/>
                  <a:gd name="T8" fmla="*/ 96 w 240"/>
                  <a:gd name="T9" fmla="*/ 24 h 240"/>
                  <a:gd name="T10" fmla="*/ 23 w 240"/>
                  <a:gd name="T11" fmla="*/ 96 h 240"/>
                  <a:gd name="T12" fmla="*/ 0 w 240"/>
                  <a:gd name="T13" fmla="*/ 120 h 240"/>
                  <a:gd name="T14" fmla="*/ 23 w 240"/>
                  <a:gd name="T15" fmla="*/ 144 h 240"/>
                  <a:gd name="T16" fmla="*/ 96 w 240"/>
                  <a:gd name="T17" fmla="*/ 217 h 240"/>
                  <a:gd name="T18" fmla="*/ 119 w 240"/>
                  <a:gd name="T19" fmla="*/ 240 h 240"/>
                  <a:gd name="T20" fmla="*/ 144 w 240"/>
                  <a:gd name="T21" fmla="*/ 217 h 240"/>
                  <a:gd name="T22" fmla="*/ 217 w 240"/>
                  <a:gd name="T23" fmla="*/ 143 h 240"/>
                  <a:gd name="T24" fmla="*/ 240 w 240"/>
                  <a:gd name="T25" fmla="*/ 12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0" h="240">
                    <a:moveTo>
                      <a:pt x="240" y="120"/>
                    </a:moveTo>
                    <a:cubicBezTo>
                      <a:pt x="240" y="107"/>
                      <a:pt x="231" y="97"/>
                      <a:pt x="216" y="96"/>
                    </a:cubicBezTo>
                    <a:cubicBezTo>
                      <a:pt x="171" y="91"/>
                      <a:pt x="148" y="69"/>
                      <a:pt x="144" y="24"/>
                    </a:cubicBezTo>
                    <a:cubicBezTo>
                      <a:pt x="142" y="9"/>
                      <a:pt x="133" y="0"/>
                      <a:pt x="120" y="0"/>
                    </a:cubicBezTo>
                    <a:cubicBezTo>
                      <a:pt x="107" y="0"/>
                      <a:pt x="97" y="9"/>
                      <a:pt x="96" y="24"/>
                    </a:cubicBezTo>
                    <a:cubicBezTo>
                      <a:pt x="92" y="68"/>
                      <a:pt x="69" y="91"/>
                      <a:pt x="23" y="96"/>
                    </a:cubicBezTo>
                    <a:cubicBezTo>
                      <a:pt x="9" y="97"/>
                      <a:pt x="0" y="107"/>
                      <a:pt x="0" y="120"/>
                    </a:cubicBezTo>
                    <a:cubicBezTo>
                      <a:pt x="0" y="133"/>
                      <a:pt x="9" y="142"/>
                      <a:pt x="23" y="144"/>
                    </a:cubicBezTo>
                    <a:cubicBezTo>
                      <a:pt x="70" y="150"/>
                      <a:pt x="91" y="170"/>
                      <a:pt x="96" y="217"/>
                    </a:cubicBezTo>
                    <a:cubicBezTo>
                      <a:pt x="97" y="230"/>
                      <a:pt x="107" y="239"/>
                      <a:pt x="119" y="240"/>
                    </a:cubicBezTo>
                    <a:cubicBezTo>
                      <a:pt x="132" y="240"/>
                      <a:pt x="143" y="231"/>
                      <a:pt x="144" y="217"/>
                    </a:cubicBezTo>
                    <a:cubicBezTo>
                      <a:pt x="144" y="175"/>
                      <a:pt x="178" y="143"/>
                      <a:pt x="217" y="143"/>
                    </a:cubicBezTo>
                    <a:cubicBezTo>
                      <a:pt x="231" y="144"/>
                      <a:pt x="240" y="133"/>
                      <a:pt x="240"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4" name="Freeform 26">
                <a:extLst>
                  <a:ext uri="{FF2B5EF4-FFF2-40B4-BE49-F238E27FC236}">
                    <a16:creationId xmlns:a16="http://schemas.microsoft.com/office/drawing/2014/main" id="{7931B583-CC07-9F5C-5BD0-987957FBE48A}"/>
                  </a:ext>
                </a:extLst>
              </p:cNvPr>
              <p:cNvSpPr>
                <a:spLocks noEditPoints="1"/>
              </p:cNvSpPr>
              <p:nvPr/>
            </p:nvSpPr>
            <p:spPr bwMode="auto">
              <a:xfrm>
                <a:off x="-1228725" y="3717925"/>
                <a:ext cx="750888" cy="1228725"/>
              </a:xfrm>
              <a:custGeom>
                <a:avLst/>
                <a:gdLst>
                  <a:gd name="T0" fmla="*/ 293 w 528"/>
                  <a:gd name="T1" fmla="*/ 406 h 865"/>
                  <a:gd name="T2" fmla="*/ 309 w 528"/>
                  <a:gd name="T3" fmla="*/ 271 h 865"/>
                  <a:gd name="T4" fmla="*/ 329 w 528"/>
                  <a:gd name="T5" fmla="*/ 95 h 865"/>
                  <a:gd name="T6" fmla="*/ 428 w 528"/>
                  <a:gd name="T7" fmla="*/ 1 h 865"/>
                  <a:gd name="T8" fmla="*/ 525 w 528"/>
                  <a:gd name="T9" fmla="*/ 92 h 865"/>
                  <a:gd name="T10" fmla="*/ 527 w 528"/>
                  <a:gd name="T11" fmla="*/ 121 h 865"/>
                  <a:gd name="T12" fmla="*/ 528 w 528"/>
                  <a:gd name="T13" fmla="*/ 546 h 865"/>
                  <a:gd name="T14" fmla="*/ 437 w 528"/>
                  <a:gd name="T15" fmla="*/ 715 h 865"/>
                  <a:gd name="T16" fmla="*/ 308 w 528"/>
                  <a:gd name="T17" fmla="*/ 802 h 865"/>
                  <a:gd name="T18" fmla="*/ 297 w 528"/>
                  <a:gd name="T19" fmla="*/ 823 h 865"/>
                  <a:gd name="T20" fmla="*/ 297 w 528"/>
                  <a:gd name="T21" fmla="*/ 835 h 865"/>
                  <a:gd name="T22" fmla="*/ 267 w 528"/>
                  <a:gd name="T23" fmla="*/ 865 h 865"/>
                  <a:gd name="T24" fmla="*/ 62 w 528"/>
                  <a:gd name="T25" fmla="*/ 865 h 865"/>
                  <a:gd name="T26" fmla="*/ 26 w 528"/>
                  <a:gd name="T27" fmla="*/ 865 h 865"/>
                  <a:gd name="T28" fmla="*/ 0 w 528"/>
                  <a:gd name="T29" fmla="*/ 840 h 865"/>
                  <a:gd name="T30" fmla="*/ 0 w 528"/>
                  <a:gd name="T31" fmla="*/ 579 h 865"/>
                  <a:gd name="T32" fmla="*/ 17 w 528"/>
                  <a:gd name="T33" fmla="*/ 553 h 865"/>
                  <a:gd name="T34" fmla="*/ 201 w 528"/>
                  <a:gd name="T35" fmla="*/ 435 h 865"/>
                  <a:gd name="T36" fmla="*/ 228 w 528"/>
                  <a:gd name="T37" fmla="*/ 416 h 865"/>
                  <a:gd name="T38" fmla="*/ 293 w 528"/>
                  <a:gd name="T39" fmla="*/ 406 h 865"/>
                  <a:gd name="T40" fmla="*/ 250 w 528"/>
                  <a:gd name="T41" fmla="*/ 816 h 865"/>
                  <a:gd name="T42" fmla="*/ 275 w 528"/>
                  <a:gd name="T43" fmla="*/ 766 h 865"/>
                  <a:gd name="T44" fmla="*/ 412 w 528"/>
                  <a:gd name="T45" fmla="*/ 674 h 865"/>
                  <a:gd name="T46" fmla="*/ 479 w 528"/>
                  <a:gd name="T47" fmla="*/ 552 h 865"/>
                  <a:gd name="T48" fmla="*/ 479 w 528"/>
                  <a:gd name="T49" fmla="*/ 117 h 865"/>
                  <a:gd name="T50" fmla="*/ 463 w 528"/>
                  <a:gd name="T51" fmla="*/ 68 h 865"/>
                  <a:gd name="T52" fmla="*/ 403 w 528"/>
                  <a:gd name="T53" fmla="*/ 58 h 865"/>
                  <a:gd name="T54" fmla="*/ 375 w 528"/>
                  <a:gd name="T55" fmla="*/ 109 h 865"/>
                  <a:gd name="T56" fmla="*/ 343 w 528"/>
                  <a:gd name="T57" fmla="*/ 395 h 865"/>
                  <a:gd name="T58" fmla="*/ 343 w 528"/>
                  <a:gd name="T59" fmla="*/ 477 h 865"/>
                  <a:gd name="T60" fmla="*/ 318 w 528"/>
                  <a:gd name="T61" fmla="*/ 557 h 865"/>
                  <a:gd name="T62" fmla="*/ 162 w 528"/>
                  <a:gd name="T63" fmla="*/ 667 h 865"/>
                  <a:gd name="T64" fmla="*/ 135 w 528"/>
                  <a:gd name="T65" fmla="*/ 628 h 865"/>
                  <a:gd name="T66" fmla="*/ 146 w 528"/>
                  <a:gd name="T67" fmla="*/ 620 h 865"/>
                  <a:gd name="T68" fmla="*/ 276 w 528"/>
                  <a:gd name="T69" fmla="*/ 530 h 865"/>
                  <a:gd name="T70" fmla="*/ 293 w 528"/>
                  <a:gd name="T71" fmla="*/ 473 h 865"/>
                  <a:gd name="T72" fmla="*/ 250 w 528"/>
                  <a:gd name="T73" fmla="*/ 460 h 865"/>
                  <a:gd name="T74" fmla="*/ 238 w 528"/>
                  <a:gd name="T75" fmla="*/ 468 h 865"/>
                  <a:gd name="T76" fmla="*/ 59 w 528"/>
                  <a:gd name="T77" fmla="*/ 583 h 865"/>
                  <a:gd name="T78" fmla="*/ 48 w 528"/>
                  <a:gd name="T79" fmla="*/ 604 h 865"/>
                  <a:gd name="T80" fmla="*/ 48 w 528"/>
                  <a:gd name="T81" fmla="*/ 803 h 865"/>
                  <a:gd name="T82" fmla="*/ 49 w 528"/>
                  <a:gd name="T83" fmla="*/ 816 h 865"/>
                  <a:gd name="T84" fmla="*/ 250 w 528"/>
                  <a:gd name="T85" fmla="*/ 816 h 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8" h="865">
                    <a:moveTo>
                      <a:pt x="293" y="406"/>
                    </a:moveTo>
                    <a:cubicBezTo>
                      <a:pt x="299" y="360"/>
                      <a:pt x="304" y="316"/>
                      <a:pt x="309" y="271"/>
                    </a:cubicBezTo>
                    <a:cubicBezTo>
                      <a:pt x="315" y="213"/>
                      <a:pt x="321" y="154"/>
                      <a:pt x="329" y="95"/>
                    </a:cubicBezTo>
                    <a:cubicBezTo>
                      <a:pt x="336" y="41"/>
                      <a:pt x="378" y="1"/>
                      <a:pt x="428" y="1"/>
                    </a:cubicBezTo>
                    <a:cubicBezTo>
                      <a:pt x="474" y="0"/>
                      <a:pt x="516" y="40"/>
                      <a:pt x="525" y="92"/>
                    </a:cubicBezTo>
                    <a:cubicBezTo>
                      <a:pt x="527" y="101"/>
                      <a:pt x="527" y="111"/>
                      <a:pt x="527" y="121"/>
                    </a:cubicBezTo>
                    <a:cubicBezTo>
                      <a:pt x="528" y="263"/>
                      <a:pt x="528" y="404"/>
                      <a:pt x="528" y="546"/>
                    </a:cubicBezTo>
                    <a:cubicBezTo>
                      <a:pt x="527" y="618"/>
                      <a:pt x="496" y="675"/>
                      <a:pt x="437" y="715"/>
                    </a:cubicBezTo>
                    <a:cubicBezTo>
                      <a:pt x="394" y="745"/>
                      <a:pt x="351" y="774"/>
                      <a:pt x="308" y="802"/>
                    </a:cubicBezTo>
                    <a:cubicBezTo>
                      <a:pt x="300" y="808"/>
                      <a:pt x="295" y="813"/>
                      <a:pt x="297" y="823"/>
                    </a:cubicBezTo>
                    <a:cubicBezTo>
                      <a:pt x="297" y="827"/>
                      <a:pt x="297" y="831"/>
                      <a:pt x="297" y="835"/>
                    </a:cubicBezTo>
                    <a:cubicBezTo>
                      <a:pt x="297" y="856"/>
                      <a:pt x="288" y="865"/>
                      <a:pt x="267" y="865"/>
                    </a:cubicBezTo>
                    <a:cubicBezTo>
                      <a:pt x="198" y="865"/>
                      <a:pt x="130" y="865"/>
                      <a:pt x="62" y="865"/>
                    </a:cubicBezTo>
                    <a:cubicBezTo>
                      <a:pt x="50" y="865"/>
                      <a:pt x="38" y="865"/>
                      <a:pt x="26" y="865"/>
                    </a:cubicBezTo>
                    <a:cubicBezTo>
                      <a:pt x="10" y="864"/>
                      <a:pt x="0" y="855"/>
                      <a:pt x="0" y="840"/>
                    </a:cubicBezTo>
                    <a:cubicBezTo>
                      <a:pt x="0" y="753"/>
                      <a:pt x="0" y="666"/>
                      <a:pt x="0" y="579"/>
                    </a:cubicBezTo>
                    <a:cubicBezTo>
                      <a:pt x="0" y="566"/>
                      <a:pt x="8" y="559"/>
                      <a:pt x="17" y="553"/>
                    </a:cubicBezTo>
                    <a:cubicBezTo>
                      <a:pt x="79" y="514"/>
                      <a:pt x="140" y="474"/>
                      <a:pt x="201" y="435"/>
                    </a:cubicBezTo>
                    <a:cubicBezTo>
                      <a:pt x="210" y="429"/>
                      <a:pt x="219" y="422"/>
                      <a:pt x="228" y="416"/>
                    </a:cubicBezTo>
                    <a:cubicBezTo>
                      <a:pt x="247" y="402"/>
                      <a:pt x="269" y="400"/>
                      <a:pt x="293" y="406"/>
                    </a:cubicBezTo>
                    <a:close/>
                    <a:moveTo>
                      <a:pt x="250" y="816"/>
                    </a:moveTo>
                    <a:cubicBezTo>
                      <a:pt x="243" y="790"/>
                      <a:pt x="257" y="778"/>
                      <a:pt x="275" y="766"/>
                    </a:cubicBezTo>
                    <a:cubicBezTo>
                      <a:pt x="321" y="736"/>
                      <a:pt x="367" y="706"/>
                      <a:pt x="412" y="674"/>
                    </a:cubicBezTo>
                    <a:cubicBezTo>
                      <a:pt x="455" y="645"/>
                      <a:pt x="479" y="604"/>
                      <a:pt x="479" y="552"/>
                    </a:cubicBezTo>
                    <a:cubicBezTo>
                      <a:pt x="480" y="407"/>
                      <a:pt x="480" y="262"/>
                      <a:pt x="479" y="117"/>
                    </a:cubicBezTo>
                    <a:cubicBezTo>
                      <a:pt x="479" y="101"/>
                      <a:pt x="472" y="82"/>
                      <a:pt x="463" y="68"/>
                    </a:cubicBezTo>
                    <a:cubicBezTo>
                      <a:pt x="449" y="46"/>
                      <a:pt x="425" y="44"/>
                      <a:pt x="403" y="58"/>
                    </a:cubicBezTo>
                    <a:cubicBezTo>
                      <a:pt x="384" y="70"/>
                      <a:pt x="377" y="88"/>
                      <a:pt x="375" y="109"/>
                    </a:cubicBezTo>
                    <a:cubicBezTo>
                      <a:pt x="365" y="204"/>
                      <a:pt x="353" y="299"/>
                      <a:pt x="343" y="395"/>
                    </a:cubicBezTo>
                    <a:cubicBezTo>
                      <a:pt x="340" y="422"/>
                      <a:pt x="336" y="449"/>
                      <a:pt x="343" y="477"/>
                    </a:cubicBezTo>
                    <a:cubicBezTo>
                      <a:pt x="350" y="507"/>
                      <a:pt x="342" y="538"/>
                      <a:pt x="318" y="557"/>
                    </a:cubicBezTo>
                    <a:cubicBezTo>
                      <a:pt x="268" y="595"/>
                      <a:pt x="215" y="630"/>
                      <a:pt x="162" y="667"/>
                    </a:cubicBezTo>
                    <a:cubicBezTo>
                      <a:pt x="153" y="654"/>
                      <a:pt x="144" y="641"/>
                      <a:pt x="135" y="628"/>
                    </a:cubicBezTo>
                    <a:cubicBezTo>
                      <a:pt x="139" y="625"/>
                      <a:pt x="143" y="622"/>
                      <a:pt x="146" y="620"/>
                    </a:cubicBezTo>
                    <a:cubicBezTo>
                      <a:pt x="189" y="589"/>
                      <a:pt x="232" y="558"/>
                      <a:pt x="276" y="530"/>
                    </a:cubicBezTo>
                    <a:cubicBezTo>
                      <a:pt x="296" y="517"/>
                      <a:pt x="300" y="490"/>
                      <a:pt x="293" y="473"/>
                    </a:cubicBezTo>
                    <a:cubicBezTo>
                      <a:pt x="285" y="450"/>
                      <a:pt x="270" y="445"/>
                      <a:pt x="250" y="460"/>
                    </a:cubicBezTo>
                    <a:cubicBezTo>
                      <a:pt x="246" y="463"/>
                      <a:pt x="242" y="465"/>
                      <a:pt x="238" y="468"/>
                    </a:cubicBezTo>
                    <a:cubicBezTo>
                      <a:pt x="178" y="507"/>
                      <a:pt x="119" y="545"/>
                      <a:pt x="59" y="583"/>
                    </a:cubicBezTo>
                    <a:cubicBezTo>
                      <a:pt x="51" y="588"/>
                      <a:pt x="47" y="594"/>
                      <a:pt x="48" y="604"/>
                    </a:cubicBezTo>
                    <a:cubicBezTo>
                      <a:pt x="48" y="670"/>
                      <a:pt x="48" y="737"/>
                      <a:pt x="48" y="803"/>
                    </a:cubicBezTo>
                    <a:cubicBezTo>
                      <a:pt x="48" y="807"/>
                      <a:pt x="48" y="812"/>
                      <a:pt x="49" y="816"/>
                    </a:cubicBezTo>
                    <a:cubicBezTo>
                      <a:pt x="116" y="816"/>
                      <a:pt x="181" y="816"/>
                      <a:pt x="250" y="8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5" name="Freeform 27">
                <a:extLst>
                  <a:ext uri="{FF2B5EF4-FFF2-40B4-BE49-F238E27FC236}">
                    <a16:creationId xmlns:a16="http://schemas.microsoft.com/office/drawing/2014/main" id="{65153CC2-0905-0E95-F5CB-87CFA25D1522}"/>
                  </a:ext>
                </a:extLst>
              </p:cNvPr>
              <p:cNvSpPr>
                <a:spLocks noEditPoints="1"/>
              </p:cNvSpPr>
              <p:nvPr/>
            </p:nvSpPr>
            <p:spPr bwMode="auto">
              <a:xfrm>
                <a:off x="-2524125" y="3711575"/>
                <a:ext cx="750888" cy="1235075"/>
              </a:xfrm>
              <a:custGeom>
                <a:avLst/>
                <a:gdLst>
                  <a:gd name="T0" fmla="*/ 234 w 528"/>
                  <a:gd name="T1" fmla="*/ 410 h 869"/>
                  <a:gd name="T2" fmla="*/ 312 w 528"/>
                  <a:gd name="T3" fmla="*/ 429 h 869"/>
                  <a:gd name="T4" fmla="*/ 508 w 528"/>
                  <a:gd name="T5" fmla="*/ 555 h 869"/>
                  <a:gd name="T6" fmla="*/ 528 w 528"/>
                  <a:gd name="T7" fmla="*/ 592 h 869"/>
                  <a:gd name="T8" fmla="*/ 528 w 528"/>
                  <a:gd name="T9" fmla="*/ 838 h 869"/>
                  <a:gd name="T10" fmla="*/ 497 w 528"/>
                  <a:gd name="T11" fmla="*/ 869 h 869"/>
                  <a:gd name="T12" fmla="*/ 262 w 528"/>
                  <a:gd name="T13" fmla="*/ 869 h 869"/>
                  <a:gd name="T14" fmla="*/ 231 w 528"/>
                  <a:gd name="T15" fmla="*/ 837 h 869"/>
                  <a:gd name="T16" fmla="*/ 212 w 528"/>
                  <a:gd name="T17" fmla="*/ 801 h 869"/>
                  <a:gd name="T18" fmla="*/ 90 w 528"/>
                  <a:gd name="T19" fmla="*/ 719 h 869"/>
                  <a:gd name="T20" fmla="*/ 0 w 528"/>
                  <a:gd name="T21" fmla="*/ 549 h 869"/>
                  <a:gd name="T22" fmla="*/ 1 w 528"/>
                  <a:gd name="T23" fmla="*/ 122 h 869"/>
                  <a:gd name="T24" fmla="*/ 12 w 528"/>
                  <a:gd name="T25" fmla="*/ 67 h 869"/>
                  <a:gd name="T26" fmla="*/ 109 w 528"/>
                  <a:gd name="T27" fmla="*/ 5 h 869"/>
                  <a:gd name="T28" fmla="*/ 198 w 528"/>
                  <a:gd name="T29" fmla="*/ 94 h 869"/>
                  <a:gd name="T30" fmla="*/ 225 w 528"/>
                  <a:gd name="T31" fmla="*/ 328 h 869"/>
                  <a:gd name="T32" fmla="*/ 234 w 528"/>
                  <a:gd name="T33" fmla="*/ 410 h 869"/>
                  <a:gd name="T34" fmla="*/ 366 w 528"/>
                  <a:gd name="T35" fmla="*/ 671 h 869"/>
                  <a:gd name="T36" fmla="*/ 224 w 528"/>
                  <a:gd name="T37" fmla="*/ 573 h 869"/>
                  <a:gd name="T38" fmla="*/ 187 w 528"/>
                  <a:gd name="T39" fmla="*/ 465 h 869"/>
                  <a:gd name="T40" fmla="*/ 189 w 528"/>
                  <a:gd name="T41" fmla="*/ 444 h 869"/>
                  <a:gd name="T42" fmla="*/ 161 w 528"/>
                  <a:gd name="T43" fmla="*/ 191 h 869"/>
                  <a:gd name="T44" fmla="*/ 150 w 528"/>
                  <a:gd name="T45" fmla="*/ 99 h 869"/>
                  <a:gd name="T46" fmla="*/ 101 w 528"/>
                  <a:gd name="T47" fmla="*/ 53 h 869"/>
                  <a:gd name="T48" fmla="*/ 54 w 528"/>
                  <a:gd name="T49" fmla="*/ 92 h 869"/>
                  <a:gd name="T50" fmla="*/ 48 w 528"/>
                  <a:gd name="T51" fmla="*/ 126 h 869"/>
                  <a:gd name="T52" fmla="*/ 48 w 528"/>
                  <a:gd name="T53" fmla="*/ 547 h 869"/>
                  <a:gd name="T54" fmla="*/ 118 w 528"/>
                  <a:gd name="T55" fmla="*/ 680 h 869"/>
                  <a:gd name="T56" fmla="*/ 262 w 528"/>
                  <a:gd name="T57" fmla="*/ 777 h 869"/>
                  <a:gd name="T58" fmla="*/ 279 w 528"/>
                  <a:gd name="T59" fmla="*/ 808 h 869"/>
                  <a:gd name="T60" fmla="*/ 279 w 528"/>
                  <a:gd name="T61" fmla="*/ 820 h 869"/>
                  <a:gd name="T62" fmla="*/ 480 w 528"/>
                  <a:gd name="T63" fmla="*/ 820 h 869"/>
                  <a:gd name="T64" fmla="*/ 479 w 528"/>
                  <a:gd name="T65" fmla="*/ 601 h 869"/>
                  <a:gd name="T66" fmla="*/ 471 w 528"/>
                  <a:gd name="T67" fmla="*/ 589 h 869"/>
                  <a:gd name="T68" fmla="*/ 270 w 528"/>
                  <a:gd name="T69" fmla="*/ 458 h 869"/>
                  <a:gd name="T70" fmla="*/ 243 w 528"/>
                  <a:gd name="T71" fmla="*/ 462 h 869"/>
                  <a:gd name="T72" fmla="*/ 249 w 528"/>
                  <a:gd name="T73" fmla="*/ 531 h 869"/>
                  <a:gd name="T74" fmla="*/ 313 w 528"/>
                  <a:gd name="T75" fmla="*/ 575 h 869"/>
                  <a:gd name="T76" fmla="*/ 393 w 528"/>
                  <a:gd name="T77" fmla="*/ 632 h 869"/>
                  <a:gd name="T78" fmla="*/ 366 w 528"/>
                  <a:gd name="T79" fmla="*/ 671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28" h="869">
                    <a:moveTo>
                      <a:pt x="234" y="410"/>
                    </a:moveTo>
                    <a:cubicBezTo>
                      <a:pt x="265" y="401"/>
                      <a:pt x="288" y="412"/>
                      <a:pt x="312" y="429"/>
                    </a:cubicBezTo>
                    <a:cubicBezTo>
                      <a:pt x="376" y="472"/>
                      <a:pt x="442" y="514"/>
                      <a:pt x="508" y="555"/>
                    </a:cubicBezTo>
                    <a:cubicBezTo>
                      <a:pt x="522" y="565"/>
                      <a:pt x="528" y="575"/>
                      <a:pt x="528" y="592"/>
                    </a:cubicBezTo>
                    <a:cubicBezTo>
                      <a:pt x="527" y="674"/>
                      <a:pt x="528" y="756"/>
                      <a:pt x="528" y="838"/>
                    </a:cubicBezTo>
                    <a:cubicBezTo>
                      <a:pt x="528" y="860"/>
                      <a:pt x="520" y="869"/>
                      <a:pt x="497" y="869"/>
                    </a:cubicBezTo>
                    <a:cubicBezTo>
                      <a:pt x="419" y="869"/>
                      <a:pt x="340" y="869"/>
                      <a:pt x="262" y="869"/>
                    </a:cubicBezTo>
                    <a:cubicBezTo>
                      <a:pt x="239" y="869"/>
                      <a:pt x="230" y="860"/>
                      <a:pt x="231" y="837"/>
                    </a:cubicBezTo>
                    <a:cubicBezTo>
                      <a:pt x="233" y="820"/>
                      <a:pt x="227" y="810"/>
                      <a:pt x="212" y="801"/>
                    </a:cubicBezTo>
                    <a:cubicBezTo>
                      <a:pt x="171" y="775"/>
                      <a:pt x="130" y="747"/>
                      <a:pt x="90" y="719"/>
                    </a:cubicBezTo>
                    <a:cubicBezTo>
                      <a:pt x="31" y="678"/>
                      <a:pt x="0" y="621"/>
                      <a:pt x="0" y="549"/>
                    </a:cubicBezTo>
                    <a:cubicBezTo>
                      <a:pt x="0" y="407"/>
                      <a:pt x="0" y="264"/>
                      <a:pt x="1" y="122"/>
                    </a:cubicBezTo>
                    <a:cubicBezTo>
                      <a:pt x="1" y="104"/>
                      <a:pt x="5" y="84"/>
                      <a:pt x="12" y="67"/>
                    </a:cubicBezTo>
                    <a:cubicBezTo>
                      <a:pt x="30" y="25"/>
                      <a:pt x="71" y="0"/>
                      <a:pt x="109" y="5"/>
                    </a:cubicBezTo>
                    <a:cubicBezTo>
                      <a:pt x="155" y="12"/>
                      <a:pt x="193" y="48"/>
                      <a:pt x="198" y="94"/>
                    </a:cubicBezTo>
                    <a:cubicBezTo>
                      <a:pt x="208" y="172"/>
                      <a:pt x="216" y="250"/>
                      <a:pt x="225" y="328"/>
                    </a:cubicBezTo>
                    <a:cubicBezTo>
                      <a:pt x="228" y="355"/>
                      <a:pt x="231" y="382"/>
                      <a:pt x="234" y="410"/>
                    </a:cubicBezTo>
                    <a:close/>
                    <a:moveTo>
                      <a:pt x="366" y="671"/>
                    </a:moveTo>
                    <a:cubicBezTo>
                      <a:pt x="318" y="638"/>
                      <a:pt x="272" y="603"/>
                      <a:pt x="224" y="573"/>
                    </a:cubicBezTo>
                    <a:cubicBezTo>
                      <a:pt x="187" y="549"/>
                      <a:pt x="176" y="498"/>
                      <a:pt x="187" y="465"/>
                    </a:cubicBezTo>
                    <a:cubicBezTo>
                      <a:pt x="189" y="458"/>
                      <a:pt x="190" y="451"/>
                      <a:pt x="189" y="444"/>
                    </a:cubicBezTo>
                    <a:cubicBezTo>
                      <a:pt x="180" y="360"/>
                      <a:pt x="171" y="276"/>
                      <a:pt x="161" y="191"/>
                    </a:cubicBezTo>
                    <a:cubicBezTo>
                      <a:pt x="158" y="160"/>
                      <a:pt x="155" y="130"/>
                      <a:pt x="150" y="99"/>
                    </a:cubicBezTo>
                    <a:cubicBezTo>
                      <a:pt x="146" y="74"/>
                      <a:pt x="124" y="55"/>
                      <a:pt x="101" y="53"/>
                    </a:cubicBezTo>
                    <a:cubicBezTo>
                      <a:pt x="82" y="52"/>
                      <a:pt x="62" y="68"/>
                      <a:pt x="54" y="92"/>
                    </a:cubicBezTo>
                    <a:cubicBezTo>
                      <a:pt x="50" y="103"/>
                      <a:pt x="48" y="114"/>
                      <a:pt x="48" y="126"/>
                    </a:cubicBezTo>
                    <a:cubicBezTo>
                      <a:pt x="48" y="266"/>
                      <a:pt x="48" y="407"/>
                      <a:pt x="48" y="547"/>
                    </a:cubicBezTo>
                    <a:cubicBezTo>
                      <a:pt x="48" y="604"/>
                      <a:pt x="71" y="648"/>
                      <a:pt x="118" y="680"/>
                    </a:cubicBezTo>
                    <a:cubicBezTo>
                      <a:pt x="166" y="713"/>
                      <a:pt x="214" y="745"/>
                      <a:pt x="262" y="777"/>
                    </a:cubicBezTo>
                    <a:cubicBezTo>
                      <a:pt x="274" y="785"/>
                      <a:pt x="281" y="794"/>
                      <a:pt x="279" y="808"/>
                    </a:cubicBezTo>
                    <a:cubicBezTo>
                      <a:pt x="279" y="812"/>
                      <a:pt x="279" y="816"/>
                      <a:pt x="279" y="820"/>
                    </a:cubicBezTo>
                    <a:cubicBezTo>
                      <a:pt x="347" y="820"/>
                      <a:pt x="413" y="820"/>
                      <a:pt x="480" y="820"/>
                    </a:cubicBezTo>
                    <a:cubicBezTo>
                      <a:pt x="480" y="746"/>
                      <a:pt x="480" y="674"/>
                      <a:pt x="479" y="601"/>
                    </a:cubicBezTo>
                    <a:cubicBezTo>
                      <a:pt x="479" y="597"/>
                      <a:pt x="475" y="592"/>
                      <a:pt x="471" y="589"/>
                    </a:cubicBezTo>
                    <a:cubicBezTo>
                      <a:pt x="404" y="545"/>
                      <a:pt x="337" y="502"/>
                      <a:pt x="270" y="458"/>
                    </a:cubicBezTo>
                    <a:cubicBezTo>
                      <a:pt x="260" y="452"/>
                      <a:pt x="251" y="454"/>
                      <a:pt x="243" y="462"/>
                    </a:cubicBezTo>
                    <a:cubicBezTo>
                      <a:pt x="225" y="481"/>
                      <a:pt x="228" y="516"/>
                      <a:pt x="249" y="531"/>
                    </a:cubicBezTo>
                    <a:cubicBezTo>
                      <a:pt x="270" y="546"/>
                      <a:pt x="292" y="561"/>
                      <a:pt x="313" y="575"/>
                    </a:cubicBezTo>
                    <a:cubicBezTo>
                      <a:pt x="339" y="594"/>
                      <a:pt x="366" y="613"/>
                      <a:pt x="393" y="632"/>
                    </a:cubicBezTo>
                    <a:cubicBezTo>
                      <a:pt x="384" y="645"/>
                      <a:pt x="375" y="658"/>
                      <a:pt x="366" y="6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6" name="Freeform 28">
                <a:extLst>
                  <a:ext uri="{FF2B5EF4-FFF2-40B4-BE49-F238E27FC236}">
                    <a16:creationId xmlns:a16="http://schemas.microsoft.com/office/drawing/2014/main" id="{B9FDFF9E-2C57-D462-FF36-1B5A0BB26169}"/>
                  </a:ext>
                </a:extLst>
              </p:cNvPr>
              <p:cNvSpPr>
                <a:spLocks noEditPoints="1"/>
              </p:cNvSpPr>
              <p:nvPr/>
            </p:nvSpPr>
            <p:spPr bwMode="auto">
              <a:xfrm>
                <a:off x="-2046288" y="3411538"/>
                <a:ext cx="1090613" cy="1092200"/>
              </a:xfrm>
              <a:custGeom>
                <a:avLst/>
                <a:gdLst>
                  <a:gd name="T0" fmla="*/ 384 w 768"/>
                  <a:gd name="T1" fmla="*/ 768 h 768"/>
                  <a:gd name="T2" fmla="*/ 0 w 768"/>
                  <a:gd name="T3" fmla="*/ 383 h 768"/>
                  <a:gd name="T4" fmla="*/ 385 w 768"/>
                  <a:gd name="T5" fmla="*/ 0 h 768"/>
                  <a:gd name="T6" fmla="*/ 768 w 768"/>
                  <a:gd name="T7" fmla="*/ 385 h 768"/>
                  <a:gd name="T8" fmla="*/ 384 w 768"/>
                  <a:gd name="T9" fmla="*/ 768 h 768"/>
                  <a:gd name="T10" fmla="*/ 48 w 768"/>
                  <a:gd name="T11" fmla="*/ 384 h 768"/>
                  <a:gd name="T12" fmla="*/ 383 w 768"/>
                  <a:gd name="T13" fmla="*/ 720 h 768"/>
                  <a:gd name="T14" fmla="*/ 720 w 768"/>
                  <a:gd name="T15" fmla="*/ 385 h 768"/>
                  <a:gd name="T16" fmla="*/ 384 w 768"/>
                  <a:gd name="T17" fmla="*/ 48 h 768"/>
                  <a:gd name="T18" fmla="*/ 48 w 768"/>
                  <a:gd name="T19" fmla="*/ 384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768">
                    <a:moveTo>
                      <a:pt x="384" y="768"/>
                    </a:moveTo>
                    <a:cubicBezTo>
                      <a:pt x="172" y="768"/>
                      <a:pt x="0" y="596"/>
                      <a:pt x="0" y="383"/>
                    </a:cubicBezTo>
                    <a:cubicBezTo>
                      <a:pt x="0" y="171"/>
                      <a:pt x="172" y="0"/>
                      <a:pt x="385" y="0"/>
                    </a:cubicBezTo>
                    <a:cubicBezTo>
                      <a:pt x="596" y="0"/>
                      <a:pt x="768" y="173"/>
                      <a:pt x="768" y="385"/>
                    </a:cubicBezTo>
                    <a:cubicBezTo>
                      <a:pt x="768" y="596"/>
                      <a:pt x="595" y="768"/>
                      <a:pt x="384" y="768"/>
                    </a:cubicBezTo>
                    <a:close/>
                    <a:moveTo>
                      <a:pt x="48" y="384"/>
                    </a:moveTo>
                    <a:cubicBezTo>
                      <a:pt x="48" y="569"/>
                      <a:pt x="198" y="720"/>
                      <a:pt x="383" y="720"/>
                    </a:cubicBezTo>
                    <a:cubicBezTo>
                      <a:pt x="568" y="720"/>
                      <a:pt x="720" y="569"/>
                      <a:pt x="720" y="385"/>
                    </a:cubicBezTo>
                    <a:cubicBezTo>
                      <a:pt x="720" y="199"/>
                      <a:pt x="570" y="48"/>
                      <a:pt x="384" y="48"/>
                    </a:cubicBezTo>
                    <a:cubicBezTo>
                      <a:pt x="199" y="48"/>
                      <a:pt x="48" y="199"/>
                      <a:pt x="48" y="3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7" name="Freeform 29">
                <a:extLst>
                  <a:ext uri="{FF2B5EF4-FFF2-40B4-BE49-F238E27FC236}">
                    <a16:creationId xmlns:a16="http://schemas.microsoft.com/office/drawing/2014/main" id="{FB64BA45-E652-5F6D-8673-4FB6947FD83C}"/>
                  </a:ext>
                </a:extLst>
              </p:cNvPr>
              <p:cNvSpPr>
                <a:spLocks noEditPoints="1"/>
              </p:cNvSpPr>
              <p:nvPr/>
            </p:nvSpPr>
            <p:spPr bwMode="auto">
              <a:xfrm>
                <a:off x="-1671638" y="2900363"/>
                <a:ext cx="341313" cy="341313"/>
              </a:xfrm>
              <a:custGeom>
                <a:avLst/>
                <a:gdLst>
                  <a:gd name="T0" fmla="*/ 120 w 240"/>
                  <a:gd name="T1" fmla="*/ 240 h 240"/>
                  <a:gd name="T2" fmla="*/ 96 w 240"/>
                  <a:gd name="T3" fmla="*/ 217 h 240"/>
                  <a:gd name="T4" fmla="*/ 22 w 240"/>
                  <a:gd name="T5" fmla="*/ 143 h 240"/>
                  <a:gd name="T6" fmla="*/ 0 w 240"/>
                  <a:gd name="T7" fmla="*/ 120 h 240"/>
                  <a:gd name="T8" fmla="*/ 23 w 240"/>
                  <a:gd name="T9" fmla="*/ 96 h 240"/>
                  <a:gd name="T10" fmla="*/ 96 w 240"/>
                  <a:gd name="T11" fmla="*/ 24 h 240"/>
                  <a:gd name="T12" fmla="*/ 120 w 240"/>
                  <a:gd name="T13" fmla="*/ 0 h 240"/>
                  <a:gd name="T14" fmla="*/ 144 w 240"/>
                  <a:gd name="T15" fmla="*/ 24 h 240"/>
                  <a:gd name="T16" fmla="*/ 216 w 240"/>
                  <a:gd name="T17" fmla="*/ 96 h 240"/>
                  <a:gd name="T18" fmla="*/ 240 w 240"/>
                  <a:gd name="T19" fmla="*/ 120 h 240"/>
                  <a:gd name="T20" fmla="*/ 217 w 240"/>
                  <a:gd name="T21" fmla="*/ 143 h 240"/>
                  <a:gd name="T22" fmla="*/ 144 w 240"/>
                  <a:gd name="T23" fmla="*/ 217 h 240"/>
                  <a:gd name="T24" fmla="*/ 120 w 240"/>
                  <a:gd name="T25" fmla="*/ 240 h 240"/>
                  <a:gd name="T26" fmla="*/ 99 w 240"/>
                  <a:gd name="T27" fmla="*/ 119 h 240"/>
                  <a:gd name="T28" fmla="*/ 120 w 240"/>
                  <a:gd name="T29" fmla="*/ 140 h 240"/>
                  <a:gd name="T30" fmla="*/ 139 w 240"/>
                  <a:gd name="T31" fmla="*/ 120 h 240"/>
                  <a:gd name="T32" fmla="*/ 120 w 240"/>
                  <a:gd name="T33" fmla="*/ 99 h 240"/>
                  <a:gd name="T34" fmla="*/ 99 w 240"/>
                  <a:gd name="T35" fmla="*/ 11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0" h="240">
                    <a:moveTo>
                      <a:pt x="120" y="240"/>
                    </a:moveTo>
                    <a:cubicBezTo>
                      <a:pt x="107" y="240"/>
                      <a:pt x="96" y="231"/>
                      <a:pt x="96" y="217"/>
                    </a:cubicBezTo>
                    <a:cubicBezTo>
                      <a:pt x="96" y="178"/>
                      <a:pt x="63" y="143"/>
                      <a:pt x="22" y="143"/>
                    </a:cubicBezTo>
                    <a:cubicBezTo>
                      <a:pt x="9" y="144"/>
                      <a:pt x="0" y="133"/>
                      <a:pt x="0" y="120"/>
                    </a:cubicBezTo>
                    <a:cubicBezTo>
                      <a:pt x="0" y="107"/>
                      <a:pt x="9" y="97"/>
                      <a:pt x="23" y="96"/>
                    </a:cubicBezTo>
                    <a:cubicBezTo>
                      <a:pt x="69" y="91"/>
                      <a:pt x="91" y="69"/>
                      <a:pt x="96" y="24"/>
                    </a:cubicBezTo>
                    <a:cubicBezTo>
                      <a:pt x="97" y="9"/>
                      <a:pt x="107" y="0"/>
                      <a:pt x="120" y="0"/>
                    </a:cubicBezTo>
                    <a:cubicBezTo>
                      <a:pt x="133" y="0"/>
                      <a:pt x="142" y="9"/>
                      <a:pt x="144" y="24"/>
                    </a:cubicBezTo>
                    <a:cubicBezTo>
                      <a:pt x="148" y="69"/>
                      <a:pt x="171" y="91"/>
                      <a:pt x="216" y="96"/>
                    </a:cubicBezTo>
                    <a:cubicBezTo>
                      <a:pt x="231" y="97"/>
                      <a:pt x="240" y="107"/>
                      <a:pt x="240" y="120"/>
                    </a:cubicBezTo>
                    <a:cubicBezTo>
                      <a:pt x="240" y="133"/>
                      <a:pt x="230" y="144"/>
                      <a:pt x="217" y="143"/>
                    </a:cubicBezTo>
                    <a:cubicBezTo>
                      <a:pt x="178" y="143"/>
                      <a:pt x="143" y="176"/>
                      <a:pt x="144" y="217"/>
                    </a:cubicBezTo>
                    <a:cubicBezTo>
                      <a:pt x="144" y="230"/>
                      <a:pt x="133" y="239"/>
                      <a:pt x="120" y="240"/>
                    </a:cubicBezTo>
                    <a:close/>
                    <a:moveTo>
                      <a:pt x="99" y="119"/>
                    </a:moveTo>
                    <a:cubicBezTo>
                      <a:pt x="106" y="127"/>
                      <a:pt x="113" y="134"/>
                      <a:pt x="120" y="140"/>
                    </a:cubicBezTo>
                    <a:cubicBezTo>
                      <a:pt x="126" y="133"/>
                      <a:pt x="133" y="126"/>
                      <a:pt x="139" y="120"/>
                    </a:cubicBezTo>
                    <a:cubicBezTo>
                      <a:pt x="133" y="113"/>
                      <a:pt x="126" y="106"/>
                      <a:pt x="120" y="99"/>
                    </a:cubicBezTo>
                    <a:cubicBezTo>
                      <a:pt x="113" y="106"/>
                      <a:pt x="106" y="113"/>
                      <a:pt x="99"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8" name="Freeform 30">
                <a:extLst>
                  <a:ext uri="{FF2B5EF4-FFF2-40B4-BE49-F238E27FC236}">
                    <a16:creationId xmlns:a16="http://schemas.microsoft.com/office/drawing/2014/main" id="{7C924E44-104F-74F3-1ABF-D9601CE7EB63}"/>
                  </a:ext>
                </a:extLst>
              </p:cNvPr>
              <p:cNvSpPr>
                <a:spLocks noEditPoints="1"/>
              </p:cNvSpPr>
              <p:nvPr/>
            </p:nvSpPr>
            <p:spPr bwMode="auto">
              <a:xfrm>
                <a:off x="-2082800" y="3138488"/>
                <a:ext cx="342900" cy="341313"/>
              </a:xfrm>
              <a:custGeom>
                <a:avLst/>
                <a:gdLst>
                  <a:gd name="T0" fmla="*/ 120 w 241"/>
                  <a:gd name="T1" fmla="*/ 240 h 240"/>
                  <a:gd name="T2" fmla="*/ 97 w 241"/>
                  <a:gd name="T3" fmla="*/ 217 h 240"/>
                  <a:gd name="T4" fmla="*/ 24 w 241"/>
                  <a:gd name="T5" fmla="*/ 144 h 240"/>
                  <a:gd name="T6" fmla="*/ 1 w 241"/>
                  <a:gd name="T7" fmla="*/ 119 h 240"/>
                  <a:gd name="T8" fmla="*/ 24 w 241"/>
                  <a:gd name="T9" fmla="*/ 96 h 240"/>
                  <a:gd name="T10" fmla="*/ 97 w 241"/>
                  <a:gd name="T11" fmla="*/ 22 h 240"/>
                  <a:gd name="T12" fmla="*/ 121 w 241"/>
                  <a:gd name="T13" fmla="*/ 0 h 240"/>
                  <a:gd name="T14" fmla="*/ 145 w 241"/>
                  <a:gd name="T15" fmla="*/ 23 h 240"/>
                  <a:gd name="T16" fmla="*/ 217 w 241"/>
                  <a:gd name="T17" fmla="*/ 96 h 240"/>
                  <a:gd name="T18" fmla="*/ 241 w 241"/>
                  <a:gd name="T19" fmla="*/ 120 h 240"/>
                  <a:gd name="T20" fmla="*/ 217 w 241"/>
                  <a:gd name="T21" fmla="*/ 144 h 240"/>
                  <a:gd name="T22" fmla="*/ 145 w 241"/>
                  <a:gd name="T23" fmla="*/ 216 h 240"/>
                  <a:gd name="T24" fmla="*/ 120 w 241"/>
                  <a:gd name="T25" fmla="*/ 240 h 240"/>
                  <a:gd name="T26" fmla="*/ 101 w 241"/>
                  <a:gd name="T27" fmla="*/ 117 h 240"/>
                  <a:gd name="T28" fmla="*/ 119 w 241"/>
                  <a:gd name="T29" fmla="*/ 140 h 240"/>
                  <a:gd name="T30" fmla="*/ 140 w 241"/>
                  <a:gd name="T31" fmla="*/ 121 h 240"/>
                  <a:gd name="T32" fmla="*/ 121 w 241"/>
                  <a:gd name="T33" fmla="*/ 100 h 240"/>
                  <a:gd name="T34" fmla="*/ 101 w 241"/>
                  <a:gd name="T35" fmla="*/ 117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1" h="240">
                    <a:moveTo>
                      <a:pt x="120" y="240"/>
                    </a:moveTo>
                    <a:cubicBezTo>
                      <a:pt x="108" y="240"/>
                      <a:pt x="98" y="230"/>
                      <a:pt x="97" y="217"/>
                    </a:cubicBezTo>
                    <a:cubicBezTo>
                      <a:pt x="91" y="170"/>
                      <a:pt x="71" y="149"/>
                      <a:pt x="24" y="144"/>
                    </a:cubicBezTo>
                    <a:cubicBezTo>
                      <a:pt x="10" y="142"/>
                      <a:pt x="0" y="132"/>
                      <a:pt x="1" y="119"/>
                    </a:cubicBezTo>
                    <a:cubicBezTo>
                      <a:pt x="1" y="107"/>
                      <a:pt x="10" y="97"/>
                      <a:pt x="24" y="96"/>
                    </a:cubicBezTo>
                    <a:cubicBezTo>
                      <a:pt x="71" y="91"/>
                      <a:pt x="91" y="70"/>
                      <a:pt x="97" y="22"/>
                    </a:cubicBezTo>
                    <a:cubicBezTo>
                      <a:pt x="99" y="9"/>
                      <a:pt x="108" y="0"/>
                      <a:pt x="121" y="0"/>
                    </a:cubicBezTo>
                    <a:cubicBezTo>
                      <a:pt x="134" y="0"/>
                      <a:pt x="143" y="9"/>
                      <a:pt x="145" y="23"/>
                    </a:cubicBezTo>
                    <a:cubicBezTo>
                      <a:pt x="150" y="69"/>
                      <a:pt x="172" y="91"/>
                      <a:pt x="217" y="96"/>
                    </a:cubicBezTo>
                    <a:cubicBezTo>
                      <a:pt x="231" y="97"/>
                      <a:pt x="241" y="107"/>
                      <a:pt x="241" y="120"/>
                    </a:cubicBezTo>
                    <a:cubicBezTo>
                      <a:pt x="241" y="133"/>
                      <a:pt x="231" y="142"/>
                      <a:pt x="217" y="144"/>
                    </a:cubicBezTo>
                    <a:cubicBezTo>
                      <a:pt x="172" y="148"/>
                      <a:pt x="150" y="171"/>
                      <a:pt x="145" y="216"/>
                    </a:cubicBezTo>
                    <a:cubicBezTo>
                      <a:pt x="143" y="231"/>
                      <a:pt x="134" y="240"/>
                      <a:pt x="120" y="240"/>
                    </a:cubicBezTo>
                    <a:close/>
                    <a:moveTo>
                      <a:pt x="101" y="117"/>
                    </a:moveTo>
                    <a:cubicBezTo>
                      <a:pt x="108" y="126"/>
                      <a:pt x="115" y="134"/>
                      <a:pt x="119" y="140"/>
                    </a:cubicBezTo>
                    <a:cubicBezTo>
                      <a:pt x="127" y="133"/>
                      <a:pt x="134" y="126"/>
                      <a:pt x="140" y="121"/>
                    </a:cubicBezTo>
                    <a:cubicBezTo>
                      <a:pt x="133" y="114"/>
                      <a:pt x="126" y="106"/>
                      <a:pt x="121" y="100"/>
                    </a:cubicBezTo>
                    <a:cubicBezTo>
                      <a:pt x="114" y="106"/>
                      <a:pt x="106" y="112"/>
                      <a:pt x="101" y="1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9" name="Freeform 31">
                <a:extLst>
                  <a:ext uri="{FF2B5EF4-FFF2-40B4-BE49-F238E27FC236}">
                    <a16:creationId xmlns:a16="http://schemas.microsoft.com/office/drawing/2014/main" id="{6956DFE1-8ED1-3344-CBAD-B09892914B64}"/>
                  </a:ext>
                </a:extLst>
              </p:cNvPr>
              <p:cNvSpPr>
                <a:spLocks noEditPoints="1"/>
              </p:cNvSpPr>
              <p:nvPr/>
            </p:nvSpPr>
            <p:spPr bwMode="auto">
              <a:xfrm>
                <a:off x="-1262063" y="3138488"/>
                <a:ext cx="341313" cy="341313"/>
              </a:xfrm>
              <a:custGeom>
                <a:avLst/>
                <a:gdLst>
                  <a:gd name="T0" fmla="*/ 240 w 240"/>
                  <a:gd name="T1" fmla="*/ 120 h 240"/>
                  <a:gd name="T2" fmla="*/ 217 w 240"/>
                  <a:gd name="T3" fmla="*/ 143 h 240"/>
                  <a:gd name="T4" fmla="*/ 144 w 240"/>
                  <a:gd name="T5" fmla="*/ 217 h 240"/>
                  <a:gd name="T6" fmla="*/ 119 w 240"/>
                  <a:gd name="T7" fmla="*/ 240 h 240"/>
                  <a:gd name="T8" fmla="*/ 96 w 240"/>
                  <a:gd name="T9" fmla="*/ 217 h 240"/>
                  <a:gd name="T10" fmla="*/ 23 w 240"/>
                  <a:gd name="T11" fmla="*/ 144 h 240"/>
                  <a:gd name="T12" fmla="*/ 0 w 240"/>
                  <a:gd name="T13" fmla="*/ 120 h 240"/>
                  <a:gd name="T14" fmla="*/ 23 w 240"/>
                  <a:gd name="T15" fmla="*/ 96 h 240"/>
                  <a:gd name="T16" fmla="*/ 96 w 240"/>
                  <a:gd name="T17" fmla="*/ 24 h 240"/>
                  <a:gd name="T18" fmla="*/ 120 w 240"/>
                  <a:gd name="T19" fmla="*/ 0 h 240"/>
                  <a:gd name="T20" fmla="*/ 144 w 240"/>
                  <a:gd name="T21" fmla="*/ 24 h 240"/>
                  <a:gd name="T22" fmla="*/ 216 w 240"/>
                  <a:gd name="T23" fmla="*/ 96 h 240"/>
                  <a:gd name="T24" fmla="*/ 240 w 240"/>
                  <a:gd name="T25" fmla="*/ 120 h 240"/>
                  <a:gd name="T26" fmla="*/ 140 w 240"/>
                  <a:gd name="T27" fmla="*/ 120 h 240"/>
                  <a:gd name="T28" fmla="*/ 121 w 240"/>
                  <a:gd name="T29" fmla="*/ 101 h 240"/>
                  <a:gd name="T30" fmla="*/ 99 w 240"/>
                  <a:gd name="T31" fmla="*/ 119 h 240"/>
                  <a:gd name="T32" fmla="*/ 120 w 240"/>
                  <a:gd name="T33" fmla="*/ 140 h 240"/>
                  <a:gd name="T34" fmla="*/ 140 w 240"/>
                  <a:gd name="T35" fmla="*/ 12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0" h="240">
                    <a:moveTo>
                      <a:pt x="240" y="120"/>
                    </a:moveTo>
                    <a:cubicBezTo>
                      <a:pt x="240" y="133"/>
                      <a:pt x="231" y="144"/>
                      <a:pt x="217" y="143"/>
                    </a:cubicBezTo>
                    <a:cubicBezTo>
                      <a:pt x="178" y="143"/>
                      <a:pt x="144" y="175"/>
                      <a:pt x="144" y="217"/>
                    </a:cubicBezTo>
                    <a:cubicBezTo>
                      <a:pt x="143" y="231"/>
                      <a:pt x="132" y="240"/>
                      <a:pt x="119" y="240"/>
                    </a:cubicBezTo>
                    <a:cubicBezTo>
                      <a:pt x="107" y="239"/>
                      <a:pt x="97" y="230"/>
                      <a:pt x="96" y="217"/>
                    </a:cubicBezTo>
                    <a:cubicBezTo>
                      <a:pt x="91" y="170"/>
                      <a:pt x="70" y="150"/>
                      <a:pt x="23" y="144"/>
                    </a:cubicBezTo>
                    <a:cubicBezTo>
                      <a:pt x="9" y="142"/>
                      <a:pt x="0" y="133"/>
                      <a:pt x="0" y="120"/>
                    </a:cubicBezTo>
                    <a:cubicBezTo>
                      <a:pt x="0" y="107"/>
                      <a:pt x="9" y="97"/>
                      <a:pt x="23" y="96"/>
                    </a:cubicBezTo>
                    <a:cubicBezTo>
                      <a:pt x="69" y="91"/>
                      <a:pt x="92" y="68"/>
                      <a:pt x="96" y="24"/>
                    </a:cubicBezTo>
                    <a:cubicBezTo>
                      <a:pt x="97" y="9"/>
                      <a:pt x="107" y="0"/>
                      <a:pt x="120" y="0"/>
                    </a:cubicBezTo>
                    <a:cubicBezTo>
                      <a:pt x="133" y="0"/>
                      <a:pt x="142" y="9"/>
                      <a:pt x="144" y="24"/>
                    </a:cubicBezTo>
                    <a:cubicBezTo>
                      <a:pt x="148" y="69"/>
                      <a:pt x="171" y="91"/>
                      <a:pt x="216" y="96"/>
                    </a:cubicBezTo>
                    <a:cubicBezTo>
                      <a:pt x="231" y="97"/>
                      <a:pt x="240" y="107"/>
                      <a:pt x="240" y="120"/>
                    </a:cubicBezTo>
                    <a:close/>
                    <a:moveTo>
                      <a:pt x="140" y="120"/>
                    </a:moveTo>
                    <a:cubicBezTo>
                      <a:pt x="133" y="113"/>
                      <a:pt x="126" y="106"/>
                      <a:pt x="121" y="101"/>
                    </a:cubicBezTo>
                    <a:cubicBezTo>
                      <a:pt x="114" y="107"/>
                      <a:pt x="106" y="114"/>
                      <a:pt x="99" y="119"/>
                    </a:cubicBezTo>
                    <a:cubicBezTo>
                      <a:pt x="106" y="127"/>
                      <a:pt x="113" y="134"/>
                      <a:pt x="120" y="140"/>
                    </a:cubicBezTo>
                    <a:cubicBezTo>
                      <a:pt x="126" y="134"/>
                      <a:pt x="133" y="127"/>
                      <a:pt x="140" y="1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10" name="Freeform 32">
                <a:extLst>
                  <a:ext uri="{FF2B5EF4-FFF2-40B4-BE49-F238E27FC236}">
                    <a16:creationId xmlns:a16="http://schemas.microsoft.com/office/drawing/2014/main" id="{1C2E8E0E-05D7-8685-FDC7-E364EA90A8C6}"/>
                  </a:ext>
                </a:extLst>
              </p:cNvPr>
              <p:cNvSpPr>
                <a:spLocks/>
              </p:cNvSpPr>
              <p:nvPr/>
            </p:nvSpPr>
            <p:spPr bwMode="auto">
              <a:xfrm>
                <a:off x="-1846263" y="3579813"/>
                <a:ext cx="344488" cy="342900"/>
              </a:xfrm>
              <a:custGeom>
                <a:avLst/>
                <a:gdLst>
                  <a:gd name="T0" fmla="*/ 242 w 242"/>
                  <a:gd name="T1" fmla="*/ 3 h 242"/>
                  <a:gd name="T2" fmla="*/ 242 w 242"/>
                  <a:gd name="T3" fmla="*/ 48 h 242"/>
                  <a:gd name="T4" fmla="*/ 50 w 242"/>
                  <a:gd name="T5" fmla="*/ 242 h 242"/>
                  <a:gd name="T6" fmla="*/ 25 w 242"/>
                  <a:gd name="T7" fmla="*/ 242 h 242"/>
                  <a:gd name="T8" fmla="*/ 4 w 242"/>
                  <a:gd name="T9" fmla="*/ 242 h 242"/>
                  <a:gd name="T10" fmla="*/ 242 w 242"/>
                  <a:gd name="T11" fmla="*/ 3 h 242"/>
                </a:gdLst>
                <a:ahLst/>
                <a:cxnLst>
                  <a:cxn ang="0">
                    <a:pos x="T0" y="T1"/>
                  </a:cxn>
                  <a:cxn ang="0">
                    <a:pos x="T2" y="T3"/>
                  </a:cxn>
                  <a:cxn ang="0">
                    <a:pos x="T4" y="T5"/>
                  </a:cxn>
                  <a:cxn ang="0">
                    <a:pos x="T6" y="T7"/>
                  </a:cxn>
                  <a:cxn ang="0">
                    <a:pos x="T8" y="T9"/>
                  </a:cxn>
                  <a:cxn ang="0">
                    <a:pos x="T10" y="T11"/>
                  </a:cxn>
                </a:cxnLst>
                <a:rect l="0" t="0" r="r" b="b"/>
                <a:pathLst>
                  <a:path w="242" h="242">
                    <a:moveTo>
                      <a:pt x="242" y="3"/>
                    </a:moveTo>
                    <a:cubicBezTo>
                      <a:pt x="242" y="19"/>
                      <a:pt x="242" y="34"/>
                      <a:pt x="242" y="48"/>
                    </a:cubicBezTo>
                    <a:cubicBezTo>
                      <a:pt x="133" y="54"/>
                      <a:pt x="55" y="134"/>
                      <a:pt x="50" y="242"/>
                    </a:cubicBezTo>
                    <a:cubicBezTo>
                      <a:pt x="41" y="242"/>
                      <a:pt x="33" y="242"/>
                      <a:pt x="25" y="242"/>
                    </a:cubicBezTo>
                    <a:cubicBezTo>
                      <a:pt x="18" y="242"/>
                      <a:pt x="11" y="242"/>
                      <a:pt x="4" y="242"/>
                    </a:cubicBezTo>
                    <a:cubicBezTo>
                      <a:pt x="0" y="115"/>
                      <a:pt x="111" y="0"/>
                      <a:pt x="24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grpSp>
        <p:grpSp>
          <p:nvGrpSpPr>
            <p:cNvPr id="96" name="Group 95">
              <a:extLst>
                <a:ext uri="{FF2B5EF4-FFF2-40B4-BE49-F238E27FC236}">
                  <a16:creationId xmlns:a16="http://schemas.microsoft.com/office/drawing/2014/main" id="{16C5A645-3C9E-39B8-F2D9-E351E62E07C0}"/>
                </a:ext>
              </a:extLst>
            </p:cNvPr>
            <p:cNvGrpSpPr/>
            <p:nvPr/>
          </p:nvGrpSpPr>
          <p:grpSpPr>
            <a:xfrm>
              <a:off x="4772424" y="3710508"/>
              <a:ext cx="364996" cy="364996"/>
              <a:chOff x="-2959100" y="1614488"/>
              <a:chExt cx="2554287" cy="2554287"/>
            </a:xfrm>
          </p:grpSpPr>
          <p:sp>
            <p:nvSpPr>
              <p:cNvPr id="97" name="Freeform 36">
                <a:extLst>
                  <a:ext uri="{FF2B5EF4-FFF2-40B4-BE49-F238E27FC236}">
                    <a16:creationId xmlns:a16="http://schemas.microsoft.com/office/drawing/2014/main" id="{EC9850A0-9DED-FAC4-1521-A60A32B519D8}"/>
                  </a:ext>
                </a:extLst>
              </p:cNvPr>
              <p:cNvSpPr>
                <a:spLocks noEditPoints="1"/>
              </p:cNvSpPr>
              <p:nvPr/>
            </p:nvSpPr>
            <p:spPr bwMode="auto">
              <a:xfrm>
                <a:off x="-1462088" y="1622425"/>
                <a:ext cx="1050925" cy="1046162"/>
              </a:xfrm>
              <a:custGeom>
                <a:avLst/>
                <a:gdLst>
                  <a:gd name="T0" fmla="*/ 0 w 278"/>
                  <a:gd name="T1" fmla="*/ 0 h 277"/>
                  <a:gd name="T2" fmla="*/ 278 w 278"/>
                  <a:gd name="T3" fmla="*/ 0 h 277"/>
                  <a:gd name="T4" fmla="*/ 278 w 278"/>
                  <a:gd name="T5" fmla="*/ 277 h 277"/>
                  <a:gd name="T6" fmla="*/ 0 w 278"/>
                  <a:gd name="T7" fmla="*/ 277 h 277"/>
                  <a:gd name="T8" fmla="*/ 0 w 278"/>
                  <a:gd name="T9" fmla="*/ 0 h 277"/>
                  <a:gd name="T10" fmla="*/ 56 w 278"/>
                  <a:gd name="T11" fmla="*/ 55 h 277"/>
                  <a:gd name="T12" fmla="*/ 56 w 278"/>
                  <a:gd name="T13" fmla="*/ 223 h 277"/>
                  <a:gd name="T14" fmla="*/ 222 w 278"/>
                  <a:gd name="T15" fmla="*/ 223 h 277"/>
                  <a:gd name="T16" fmla="*/ 222 w 278"/>
                  <a:gd name="T17" fmla="*/ 55 h 277"/>
                  <a:gd name="T18" fmla="*/ 56 w 278"/>
                  <a:gd name="T19" fmla="*/ 55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77">
                    <a:moveTo>
                      <a:pt x="0" y="0"/>
                    </a:moveTo>
                    <a:cubicBezTo>
                      <a:pt x="93" y="0"/>
                      <a:pt x="185" y="0"/>
                      <a:pt x="278" y="0"/>
                    </a:cubicBezTo>
                    <a:cubicBezTo>
                      <a:pt x="278" y="92"/>
                      <a:pt x="278" y="184"/>
                      <a:pt x="278" y="277"/>
                    </a:cubicBezTo>
                    <a:cubicBezTo>
                      <a:pt x="186" y="277"/>
                      <a:pt x="94" y="277"/>
                      <a:pt x="0" y="277"/>
                    </a:cubicBezTo>
                    <a:cubicBezTo>
                      <a:pt x="0" y="185"/>
                      <a:pt x="0" y="93"/>
                      <a:pt x="0" y="0"/>
                    </a:cubicBezTo>
                    <a:close/>
                    <a:moveTo>
                      <a:pt x="56" y="55"/>
                    </a:moveTo>
                    <a:cubicBezTo>
                      <a:pt x="56" y="112"/>
                      <a:pt x="56" y="168"/>
                      <a:pt x="56" y="223"/>
                    </a:cubicBezTo>
                    <a:cubicBezTo>
                      <a:pt x="112" y="223"/>
                      <a:pt x="167" y="223"/>
                      <a:pt x="222" y="223"/>
                    </a:cubicBezTo>
                    <a:cubicBezTo>
                      <a:pt x="222" y="166"/>
                      <a:pt x="222" y="111"/>
                      <a:pt x="222" y="55"/>
                    </a:cubicBezTo>
                    <a:cubicBezTo>
                      <a:pt x="166" y="55"/>
                      <a:pt x="112" y="55"/>
                      <a:pt x="56" y="5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98" name="Freeform 37">
                <a:extLst>
                  <a:ext uri="{FF2B5EF4-FFF2-40B4-BE49-F238E27FC236}">
                    <a16:creationId xmlns:a16="http://schemas.microsoft.com/office/drawing/2014/main" id="{2E395875-1800-B1A2-D8A6-0A2E1406A590}"/>
                  </a:ext>
                </a:extLst>
              </p:cNvPr>
              <p:cNvSpPr>
                <a:spLocks noEditPoints="1"/>
              </p:cNvSpPr>
              <p:nvPr/>
            </p:nvSpPr>
            <p:spPr bwMode="auto">
              <a:xfrm>
                <a:off x="-2959100" y="3001963"/>
                <a:ext cx="1171575" cy="1166812"/>
              </a:xfrm>
              <a:custGeom>
                <a:avLst/>
                <a:gdLst>
                  <a:gd name="T0" fmla="*/ 155 w 310"/>
                  <a:gd name="T1" fmla="*/ 0 h 309"/>
                  <a:gd name="T2" fmla="*/ 309 w 310"/>
                  <a:gd name="T3" fmla="*/ 157 h 309"/>
                  <a:gd name="T4" fmla="*/ 155 w 310"/>
                  <a:gd name="T5" fmla="*/ 308 h 309"/>
                  <a:gd name="T6" fmla="*/ 0 w 310"/>
                  <a:gd name="T7" fmla="*/ 153 h 309"/>
                  <a:gd name="T8" fmla="*/ 155 w 310"/>
                  <a:gd name="T9" fmla="*/ 0 h 309"/>
                  <a:gd name="T10" fmla="*/ 155 w 310"/>
                  <a:gd name="T11" fmla="*/ 253 h 309"/>
                  <a:gd name="T12" fmla="*/ 254 w 310"/>
                  <a:gd name="T13" fmla="*/ 155 h 309"/>
                  <a:gd name="T14" fmla="*/ 156 w 310"/>
                  <a:gd name="T15" fmla="*/ 55 h 309"/>
                  <a:gd name="T16" fmla="*/ 56 w 310"/>
                  <a:gd name="T17" fmla="*/ 153 h 309"/>
                  <a:gd name="T18" fmla="*/ 155 w 310"/>
                  <a:gd name="T19" fmla="*/ 253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0" h="309">
                    <a:moveTo>
                      <a:pt x="155" y="0"/>
                    </a:moveTo>
                    <a:cubicBezTo>
                      <a:pt x="243" y="0"/>
                      <a:pt x="310" y="69"/>
                      <a:pt x="309" y="157"/>
                    </a:cubicBezTo>
                    <a:cubicBezTo>
                      <a:pt x="308" y="240"/>
                      <a:pt x="239" y="308"/>
                      <a:pt x="155" y="308"/>
                    </a:cubicBezTo>
                    <a:cubicBezTo>
                      <a:pt x="70" y="309"/>
                      <a:pt x="1" y="238"/>
                      <a:pt x="0" y="153"/>
                    </a:cubicBezTo>
                    <a:cubicBezTo>
                      <a:pt x="0" y="69"/>
                      <a:pt x="70" y="0"/>
                      <a:pt x="155" y="0"/>
                    </a:cubicBezTo>
                    <a:close/>
                    <a:moveTo>
                      <a:pt x="155" y="253"/>
                    </a:moveTo>
                    <a:cubicBezTo>
                      <a:pt x="209" y="253"/>
                      <a:pt x="254" y="208"/>
                      <a:pt x="254" y="155"/>
                    </a:cubicBezTo>
                    <a:cubicBezTo>
                      <a:pt x="254" y="100"/>
                      <a:pt x="210" y="55"/>
                      <a:pt x="156" y="55"/>
                    </a:cubicBezTo>
                    <a:cubicBezTo>
                      <a:pt x="102" y="54"/>
                      <a:pt x="56" y="100"/>
                      <a:pt x="56" y="153"/>
                    </a:cubicBezTo>
                    <a:cubicBezTo>
                      <a:pt x="57" y="209"/>
                      <a:pt x="101" y="253"/>
                      <a:pt x="155" y="25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99" name="Freeform 38">
                <a:extLst>
                  <a:ext uri="{FF2B5EF4-FFF2-40B4-BE49-F238E27FC236}">
                    <a16:creationId xmlns:a16="http://schemas.microsoft.com/office/drawing/2014/main" id="{FB924AC5-B9A5-C420-BC08-852D2981889A}"/>
                  </a:ext>
                </a:extLst>
              </p:cNvPr>
              <p:cNvSpPr>
                <a:spLocks noEditPoints="1"/>
              </p:cNvSpPr>
              <p:nvPr/>
            </p:nvSpPr>
            <p:spPr bwMode="auto">
              <a:xfrm>
                <a:off x="-1571625" y="3001963"/>
                <a:ext cx="1166812" cy="1166812"/>
              </a:xfrm>
              <a:custGeom>
                <a:avLst/>
                <a:gdLst>
                  <a:gd name="T0" fmla="*/ 0 w 309"/>
                  <a:gd name="T1" fmla="*/ 152 h 309"/>
                  <a:gd name="T2" fmla="*/ 154 w 309"/>
                  <a:gd name="T3" fmla="*/ 0 h 309"/>
                  <a:gd name="T4" fmla="*/ 308 w 309"/>
                  <a:gd name="T5" fmla="*/ 155 h 309"/>
                  <a:gd name="T6" fmla="*/ 153 w 309"/>
                  <a:gd name="T7" fmla="*/ 308 h 309"/>
                  <a:gd name="T8" fmla="*/ 0 w 309"/>
                  <a:gd name="T9" fmla="*/ 152 h 309"/>
                  <a:gd name="T10" fmla="*/ 253 w 309"/>
                  <a:gd name="T11" fmla="*/ 155 h 309"/>
                  <a:gd name="T12" fmla="*/ 154 w 309"/>
                  <a:gd name="T13" fmla="*/ 55 h 309"/>
                  <a:gd name="T14" fmla="*/ 55 w 309"/>
                  <a:gd name="T15" fmla="*/ 152 h 309"/>
                  <a:gd name="T16" fmla="*/ 154 w 309"/>
                  <a:gd name="T17" fmla="*/ 253 h 309"/>
                  <a:gd name="T18" fmla="*/ 253 w 309"/>
                  <a:gd name="T19" fmla="*/ 155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9" h="309">
                    <a:moveTo>
                      <a:pt x="0" y="152"/>
                    </a:moveTo>
                    <a:cubicBezTo>
                      <a:pt x="0" y="68"/>
                      <a:pt x="68" y="0"/>
                      <a:pt x="154" y="0"/>
                    </a:cubicBezTo>
                    <a:cubicBezTo>
                      <a:pt x="240" y="0"/>
                      <a:pt x="308" y="69"/>
                      <a:pt x="308" y="155"/>
                    </a:cubicBezTo>
                    <a:cubicBezTo>
                      <a:pt x="309" y="238"/>
                      <a:pt x="237" y="309"/>
                      <a:pt x="153" y="308"/>
                    </a:cubicBezTo>
                    <a:cubicBezTo>
                      <a:pt x="68" y="308"/>
                      <a:pt x="0" y="240"/>
                      <a:pt x="0" y="152"/>
                    </a:cubicBezTo>
                    <a:close/>
                    <a:moveTo>
                      <a:pt x="253" y="155"/>
                    </a:moveTo>
                    <a:cubicBezTo>
                      <a:pt x="253" y="100"/>
                      <a:pt x="209" y="55"/>
                      <a:pt x="154" y="55"/>
                    </a:cubicBezTo>
                    <a:cubicBezTo>
                      <a:pt x="101" y="54"/>
                      <a:pt x="55" y="99"/>
                      <a:pt x="55" y="152"/>
                    </a:cubicBezTo>
                    <a:cubicBezTo>
                      <a:pt x="54" y="207"/>
                      <a:pt x="99" y="253"/>
                      <a:pt x="154" y="253"/>
                    </a:cubicBezTo>
                    <a:cubicBezTo>
                      <a:pt x="207" y="253"/>
                      <a:pt x="253" y="208"/>
                      <a:pt x="253" y="15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sp>
            <p:nvSpPr>
              <p:cNvPr id="100" name="Freeform 39">
                <a:extLst>
                  <a:ext uri="{FF2B5EF4-FFF2-40B4-BE49-F238E27FC236}">
                    <a16:creationId xmlns:a16="http://schemas.microsoft.com/office/drawing/2014/main" id="{9002F7D7-8778-9CAD-F63F-4207E74D0BA4}"/>
                  </a:ext>
                </a:extLst>
              </p:cNvPr>
              <p:cNvSpPr>
                <a:spLocks noEditPoints="1"/>
              </p:cNvSpPr>
              <p:nvPr/>
            </p:nvSpPr>
            <p:spPr bwMode="auto">
              <a:xfrm>
                <a:off x="-2959100" y="1614488"/>
                <a:ext cx="1168400" cy="1168400"/>
              </a:xfrm>
              <a:custGeom>
                <a:avLst/>
                <a:gdLst>
                  <a:gd name="T0" fmla="*/ 155 w 309"/>
                  <a:gd name="T1" fmla="*/ 309 h 309"/>
                  <a:gd name="T2" fmla="*/ 0 w 309"/>
                  <a:gd name="T3" fmla="*/ 154 h 309"/>
                  <a:gd name="T4" fmla="*/ 156 w 309"/>
                  <a:gd name="T5" fmla="*/ 1 h 309"/>
                  <a:gd name="T6" fmla="*/ 309 w 309"/>
                  <a:gd name="T7" fmla="*/ 157 h 309"/>
                  <a:gd name="T8" fmla="*/ 155 w 309"/>
                  <a:gd name="T9" fmla="*/ 309 h 309"/>
                  <a:gd name="T10" fmla="*/ 155 w 309"/>
                  <a:gd name="T11" fmla="*/ 56 h 309"/>
                  <a:gd name="T12" fmla="*/ 56 w 309"/>
                  <a:gd name="T13" fmla="*/ 153 h 309"/>
                  <a:gd name="T14" fmla="*/ 156 w 309"/>
                  <a:gd name="T15" fmla="*/ 254 h 309"/>
                  <a:gd name="T16" fmla="*/ 254 w 309"/>
                  <a:gd name="T17" fmla="*/ 156 h 309"/>
                  <a:gd name="T18" fmla="*/ 155 w 309"/>
                  <a:gd name="T19" fmla="*/ 56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9" h="309">
                    <a:moveTo>
                      <a:pt x="155" y="309"/>
                    </a:moveTo>
                    <a:cubicBezTo>
                      <a:pt x="69" y="309"/>
                      <a:pt x="1" y="240"/>
                      <a:pt x="0" y="154"/>
                    </a:cubicBezTo>
                    <a:cubicBezTo>
                      <a:pt x="0" y="71"/>
                      <a:pt x="72" y="0"/>
                      <a:pt x="156" y="1"/>
                    </a:cubicBezTo>
                    <a:cubicBezTo>
                      <a:pt x="241" y="1"/>
                      <a:pt x="309" y="70"/>
                      <a:pt x="309" y="157"/>
                    </a:cubicBezTo>
                    <a:cubicBezTo>
                      <a:pt x="309" y="241"/>
                      <a:pt x="240" y="309"/>
                      <a:pt x="155" y="309"/>
                    </a:cubicBezTo>
                    <a:close/>
                    <a:moveTo>
                      <a:pt x="155" y="56"/>
                    </a:moveTo>
                    <a:cubicBezTo>
                      <a:pt x="102" y="56"/>
                      <a:pt x="57" y="100"/>
                      <a:pt x="56" y="153"/>
                    </a:cubicBezTo>
                    <a:cubicBezTo>
                      <a:pt x="56" y="209"/>
                      <a:pt x="101" y="255"/>
                      <a:pt x="156" y="254"/>
                    </a:cubicBezTo>
                    <a:cubicBezTo>
                      <a:pt x="209" y="253"/>
                      <a:pt x="254" y="209"/>
                      <a:pt x="254" y="156"/>
                    </a:cubicBezTo>
                    <a:cubicBezTo>
                      <a:pt x="254" y="101"/>
                      <a:pt x="210" y="56"/>
                      <a:pt x="155" y="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400" b="1">
                  <a:solidFill>
                    <a:schemeClr val="tx1"/>
                  </a:solidFill>
                  <a:latin typeface="Brandon Grotesque Bold" panose="020B0503020203060202" pitchFamily="34" charset="77"/>
                </a:endParaRPr>
              </a:p>
            </p:txBody>
          </p:sp>
        </p:grpSp>
      </p:grpSp>
    </p:spTree>
    <p:extLst>
      <p:ext uri="{BB962C8B-B14F-4D97-AF65-F5344CB8AC3E}">
        <p14:creationId xmlns:p14="http://schemas.microsoft.com/office/powerpoint/2010/main" val="252756238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5AE65-D761-03B8-21B0-55DCC80EE6F9}"/>
            </a:ext>
          </a:extLst>
        </p:cNvPr>
        <p:cNvGrpSpPr/>
        <p:nvPr/>
      </p:nvGrpSpPr>
      <p:grpSpPr>
        <a:xfrm>
          <a:off x="0" y="0"/>
          <a:ext cx="0" cy="0"/>
          <a:chOff x="0" y="0"/>
          <a:chExt cx="0" cy="0"/>
        </a:xfrm>
      </p:grpSpPr>
      <p:sp>
        <p:nvSpPr>
          <p:cNvPr id="10" name="Text Placeholder 11">
            <a:extLst>
              <a:ext uri="{FF2B5EF4-FFF2-40B4-BE49-F238E27FC236}">
                <a16:creationId xmlns:a16="http://schemas.microsoft.com/office/drawing/2014/main" id="{96DE3862-772F-B457-C585-92159DF79650}"/>
              </a:ext>
            </a:extLst>
          </p:cNvPr>
          <p:cNvSpPr txBox="1">
            <a:spLocks noRot="1" noMove="1" noResize="1" noEditPoints="1" noChangeShapeType="1"/>
          </p:cNvSpPr>
          <p:nvPr/>
        </p:nvSpPr>
        <p:spPr>
          <a:xfrm>
            <a:off x="309600" y="3888155"/>
            <a:ext cx="3672000" cy="783000"/>
          </a:xfrm>
          <a:prstGeom prst="rect">
            <a:avLst/>
          </a:prstGeom>
        </p:spPr>
        <p:txBody>
          <a:bodyPr/>
          <a:lstStyle>
            <a:lvl1pPr marL="138792" marR="0" indent="-13879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1pPr>
            <a:lvl2pPr marL="504825" marR="0" indent="-161925"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2pPr>
            <a:lvl3pPr marL="880110" marR="0" indent="-194309"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3pPr>
            <a:lvl4pPr marL="12529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4pPr>
            <a:lvl5pPr marL="15958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5pPr>
            <a:lvl6pPr marL="19387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6pPr>
            <a:lvl7pPr marL="22816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7pPr>
            <a:lvl8pPr marL="26245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8pPr>
            <a:lvl9pPr marL="2967402" marR="0" indent="-224202" algn="l" defTabSz="685800" rtl="0" latinLnBrk="0">
              <a:lnSpc>
                <a:spcPct val="72000"/>
              </a:lnSpc>
              <a:spcBef>
                <a:spcPts val="700"/>
              </a:spcBef>
              <a:spcAft>
                <a:spcPts val="0"/>
              </a:spcAft>
              <a:buClrTx/>
              <a:buSzPct val="100000"/>
              <a:buFont typeface="Arial"/>
              <a:buChar char="•"/>
              <a:tabLst/>
              <a:defRPr sz="1700" b="0" i="0" u="none" strike="noStrike" cap="none" spc="0" baseline="0">
                <a:ln>
                  <a:noFill/>
                </a:ln>
                <a:solidFill>
                  <a:srgbClr val="000000"/>
                </a:solidFill>
                <a:uFillTx/>
                <a:latin typeface="+mn-lt"/>
                <a:ea typeface="+mn-ea"/>
                <a:cs typeface="+mn-cs"/>
                <a:sym typeface="Calibri"/>
              </a:defRPr>
            </a:lvl9pPr>
          </a:lstStyle>
          <a:p>
            <a:pPr marL="0" indent="0" hangingPunct="1">
              <a:lnSpc>
                <a:spcPct val="100000"/>
              </a:lnSpc>
              <a:buNone/>
            </a:pPr>
            <a:r>
              <a:rPr lang="en-US" sz="800" noProof="1">
                <a:latin typeface="Brandon Grotesque Light" panose="020B0303020203060202" pitchFamily="34" charset="0"/>
              </a:rPr>
              <a:t>Payments Innovation Consulting is a dedicated consultancy on innovation and digitisation in payments. Confidential information to be used by the recipient only. This document, or any part of it, may not be reproduced, copied, circulated and/or distributed nor quoted without prior written approval from Payments Innovation Consulting.</a:t>
            </a:r>
          </a:p>
          <a:p>
            <a:pPr hangingPunct="1">
              <a:lnSpc>
                <a:spcPct val="100000"/>
              </a:lnSpc>
            </a:pPr>
            <a:endParaRPr lang="en-US" sz="800" noProof="1">
              <a:latin typeface="Brandon Grotesque Light" panose="020B0303020203060202" pitchFamily="34" charset="0"/>
            </a:endParaRPr>
          </a:p>
          <a:p>
            <a:pPr marL="0" indent="0" hangingPunct="1">
              <a:lnSpc>
                <a:spcPct val="100000"/>
              </a:lnSpc>
              <a:buNone/>
            </a:pPr>
            <a:r>
              <a:rPr lang="en-US" sz="800" dirty="0">
                <a:latin typeface="Brandon Grotesque Light" panose="020B0303020203060202" pitchFamily="34" charset="0"/>
              </a:rPr>
              <a:t>© Payments Innovation Consulting</a:t>
            </a:r>
            <a:endParaRPr lang="en-US" sz="800" noProof="1">
              <a:latin typeface="Brandon Grotesque Light" panose="020B0303020203060202" pitchFamily="34" charset="0"/>
            </a:endParaRPr>
          </a:p>
        </p:txBody>
      </p:sp>
      <p:pic>
        <p:nvPicPr>
          <p:cNvPr id="11" name="Picture 10">
            <a:extLst>
              <a:ext uri="{FF2B5EF4-FFF2-40B4-BE49-F238E27FC236}">
                <a16:creationId xmlns:a16="http://schemas.microsoft.com/office/drawing/2014/main" id="{166B6DF7-8858-2E65-8065-15D6AFA995DA}"/>
              </a:ext>
            </a:extLst>
          </p:cNvPr>
          <p:cNvPicPr>
            <a:picLocks noChangeAspect="1"/>
          </p:cNvPicPr>
          <p:nvPr/>
        </p:nvPicPr>
        <p:blipFill>
          <a:blip r:embed="rId3"/>
          <a:stretch>
            <a:fillRect/>
          </a:stretch>
        </p:blipFill>
        <p:spPr>
          <a:xfrm>
            <a:off x="7206788" y="4046659"/>
            <a:ext cx="1627612" cy="903564"/>
          </a:xfrm>
          <a:prstGeom prst="rect">
            <a:avLst/>
          </a:prstGeom>
        </p:spPr>
      </p:pic>
      <p:sp>
        <p:nvSpPr>
          <p:cNvPr id="2" name="Rectangle 1">
            <a:extLst>
              <a:ext uri="{FF2B5EF4-FFF2-40B4-BE49-F238E27FC236}">
                <a16:creationId xmlns:a16="http://schemas.microsoft.com/office/drawing/2014/main" id="{DA0E15F3-6F58-B2F0-DCF6-0AA2787966A9}"/>
              </a:ext>
            </a:extLst>
          </p:cNvPr>
          <p:cNvSpPr/>
          <p:nvPr/>
        </p:nvSpPr>
        <p:spPr>
          <a:xfrm>
            <a:off x="586202" y="465946"/>
            <a:ext cx="4572000" cy="2781531"/>
          </a:xfrm>
          <a:prstGeom prst="rect">
            <a:avLst/>
          </a:prstGeom>
        </p:spPr>
        <p:txBody>
          <a:bodyPr>
            <a:spAutoFit/>
          </a:bodyPr>
          <a:lstStyle/>
          <a:p>
            <a:pPr>
              <a:lnSpc>
                <a:spcPct val="150000"/>
              </a:lnSpc>
            </a:pPr>
            <a:r>
              <a:rPr lang="en-GB" sz="2800" dirty="0">
                <a:latin typeface="Brandon Grotesque Black" panose="020B0A03020203060202" pitchFamily="34" charset="0"/>
              </a:rPr>
              <a:t>Dr Michael Salmony FRSA</a:t>
            </a:r>
          </a:p>
          <a:p>
            <a:pPr>
              <a:lnSpc>
                <a:spcPct val="150000"/>
              </a:lnSpc>
            </a:pPr>
            <a:r>
              <a:rPr lang="en-GB" dirty="0" err="1">
                <a:latin typeface="Brandon Grotesque Light" panose="020B0303020203060202" pitchFamily="34" charset="0"/>
              </a:rPr>
              <a:t>salmony@payments-innovation.com</a:t>
            </a:r>
            <a:endParaRPr lang="en-GB" dirty="0">
              <a:latin typeface="Brandon Grotesque Light" panose="020B0303020203060202" pitchFamily="34" charset="0"/>
            </a:endParaRPr>
          </a:p>
          <a:p>
            <a:pPr>
              <a:lnSpc>
                <a:spcPct val="150000"/>
              </a:lnSpc>
            </a:pPr>
            <a:endParaRPr lang="en-GB" dirty="0">
              <a:latin typeface="Brandon Grotesque Light" panose="020B0303020203060202" pitchFamily="34" charset="0"/>
            </a:endParaRPr>
          </a:p>
          <a:p>
            <a:pPr>
              <a:lnSpc>
                <a:spcPct val="150000"/>
              </a:lnSpc>
            </a:pPr>
            <a:r>
              <a:rPr lang="en-GB" dirty="0">
                <a:latin typeface="Brandon Grotesque Light" panose="020B0303020203060202" pitchFamily="34" charset="0"/>
              </a:rPr>
              <a:t>          /in/</a:t>
            </a:r>
            <a:r>
              <a:rPr lang="en-GB" b="1" dirty="0" err="1">
                <a:latin typeface="Brandon Grotesque Light" panose="020B0303020203060202" pitchFamily="34" charset="0"/>
              </a:rPr>
              <a:t>salmony</a:t>
            </a:r>
            <a:r>
              <a:rPr lang="en-GB" dirty="0">
                <a:latin typeface="Brandon Grotesque Light" panose="020B0303020203060202" pitchFamily="34" charset="0"/>
              </a:rPr>
              <a:t>/</a:t>
            </a:r>
          </a:p>
          <a:p>
            <a:pPr>
              <a:lnSpc>
                <a:spcPct val="150000"/>
              </a:lnSpc>
            </a:pPr>
            <a:endParaRPr lang="en-GB" dirty="0">
              <a:latin typeface="Brandon Grotesque Light" panose="020B0303020203060202" pitchFamily="34" charset="0"/>
            </a:endParaRPr>
          </a:p>
          <a:p>
            <a:pPr>
              <a:lnSpc>
                <a:spcPct val="150000"/>
              </a:lnSpc>
            </a:pPr>
            <a:r>
              <a:rPr lang="en-GB" dirty="0">
                <a:latin typeface="Brandon Grotesque Light" panose="020B0303020203060202" pitchFamily="34" charset="0"/>
              </a:rPr>
              <a:t>+49 172 6867163</a:t>
            </a:r>
          </a:p>
        </p:txBody>
      </p:sp>
      <p:sp>
        <p:nvSpPr>
          <p:cNvPr id="5" name="Rectangle 4">
            <a:extLst>
              <a:ext uri="{FF2B5EF4-FFF2-40B4-BE49-F238E27FC236}">
                <a16:creationId xmlns:a16="http://schemas.microsoft.com/office/drawing/2014/main" id="{768B115B-A482-090F-5829-3BDE8CC2C43C}"/>
              </a:ext>
            </a:extLst>
          </p:cNvPr>
          <p:cNvSpPr/>
          <p:nvPr/>
        </p:nvSpPr>
        <p:spPr>
          <a:xfrm>
            <a:off x="681498" y="1036841"/>
            <a:ext cx="3398363" cy="89554"/>
          </a:xfrm>
          <a:prstGeom prst="rect">
            <a:avLst/>
          </a:prstGeom>
          <a:solidFill>
            <a:schemeClr val="accent4"/>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j-lt"/>
              <a:ea typeface="+mj-ea"/>
              <a:cs typeface="+mj-cs"/>
              <a:sym typeface="Helvetica"/>
            </a:endParaRPr>
          </a:p>
        </p:txBody>
      </p:sp>
      <p:pic>
        <p:nvPicPr>
          <p:cNvPr id="3" name="Picture 2">
            <a:extLst>
              <a:ext uri="{FF2B5EF4-FFF2-40B4-BE49-F238E27FC236}">
                <a16:creationId xmlns:a16="http://schemas.microsoft.com/office/drawing/2014/main" id="{7CFEE0E3-82D7-06D1-CDD9-B9C1F73718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3800" y="184978"/>
            <a:ext cx="1371600" cy="2070100"/>
          </a:xfrm>
          <a:prstGeom prst="rect">
            <a:avLst/>
          </a:prstGeom>
        </p:spPr>
      </p:pic>
      <p:pic>
        <p:nvPicPr>
          <p:cNvPr id="3074" name="Picture 2">
            <a:extLst>
              <a:ext uri="{FF2B5EF4-FFF2-40B4-BE49-F238E27FC236}">
                <a16:creationId xmlns:a16="http://schemas.microsoft.com/office/drawing/2014/main" id="{DE171662-0C29-7EE5-81A0-F01D09FDC0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498" y="2012864"/>
            <a:ext cx="407633" cy="38365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288C9B5-24DA-AA20-AC3F-D1A0B721F77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72202" y="1967920"/>
            <a:ext cx="1207659" cy="1207659"/>
          </a:xfrm>
          <a:prstGeom prst="rect">
            <a:avLst/>
          </a:prstGeom>
        </p:spPr>
      </p:pic>
      <p:pic>
        <p:nvPicPr>
          <p:cNvPr id="7" name="Picture 6">
            <a:extLst>
              <a:ext uri="{FF2B5EF4-FFF2-40B4-BE49-F238E27FC236}">
                <a16:creationId xmlns:a16="http://schemas.microsoft.com/office/drawing/2014/main" id="{60808581-8658-F113-B5B0-73A35E7CB083}"/>
              </a:ext>
            </a:extLst>
          </p:cNvPr>
          <p:cNvPicPr>
            <a:picLocks noChangeAspect="1"/>
          </p:cNvPicPr>
          <p:nvPr/>
        </p:nvPicPr>
        <p:blipFill>
          <a:blip r:embed="rId4">
            <a:extLst>
              <a:ext uri="{28A0092B-C50C-407E-A947-70E740481C1C}">
                <a14:useLocalDpi xmlns:a14="http://schemas.microsoft.com/office/drawing/2010/main" val="0"/>
              </a:ext>
            </a:extLst>
          </a:blip>
          <a:srcRect b="35858"/>
          <a:stretch>
            <a:fillRect/>
          </a:stretch>
        </p:blipFill>
        <p:spPr>
          <a:xfrm>
            <a:off x="3306500" y="2407036"/>
            <a:ext cx="301737" cy="292101"/>
          </a:xfrm>
          <a:prstGeom prst="rect">
            <a:avLst/>
          </a:prstGeom>
        </p:spPr>
      </p:pic>
    </p:spTree>
    <p:extLst>
      <p:ext uri="{BB962C8B-B14F-4D97-AF65-F5344CB8AC3E}">
        <p14:creationId xmlns:p14="http://schemas.microsoft.com/office/powerpoint/2010/main" val="1329588598"/>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00"/>
      </a:hlink>
      <a:folHlink>
        <a:srgbClr val="FEC001"/>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bodyPr vert="horz" lIns="0" tIns="0" rIns="0" bIns="0" rtlCol="0">
        <a:noAutofit/>
      </a:bodyPr>
      <a:lstStyle>
        <a:defPPr marL="0" indent="0" algn="ctr">
          <a:buFont typeface="Arial" panose="020B0604020202020204" pitchFamily="34" charset="0"/>
          <a:buNone/>
          <a:defRPr sz="1400" b="1" dirty="0"/>
        </a:defPPr>
      </a:lstStyle>
    </a:txDef>
  </a:objectDefaults>
  <a:extraClrSchemeLst/>
  <a:extLst>
    <a:ext uri="{05A4C25C-085E-4340-85A3-A5531E510DB2}">
      <thm15:themeFamily xmlns:thm15="http://schemas.microsoft.com/office/thememl/2012/main" name="PIC Slides template" id="{4E7EB099-037D-1A42-93F3-7F35A8DF1D0C}" vid="{E2822047-CF10-7143-8323-6476ACC96D0E}"/>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28664</TotalTime>
  <Words>679</Words>
  <Application>Microsoft Macintosh PowerPoint</Application>
  <PresentationFormat>On-screen Show (16:9)</PresentationFormat>
  <Paragraphs>119</Paragraphs>
  <Slides>8</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Brandon Grotesque Black</vt:lpstr>
      <vt:lpstr>Brandon Grotesque Bold</vt:lpstr>
      <vt:lpstr>Brandon Grotesque Light</vt:lpstr>
      <vt:lpstr>Brandon Grotesque Regular</vt:lpstr>
      <vt:lpstr>Calibri</vt:lpstr>
      <vt:lpstr>Calibri Light</vt:lpstr>
      <vt:lpstr>Helvetica</vt:lpstr>
      <vt:lpstr>Sackers Gothic Medium</vt:lpstr>
      <vt:lpstr>Office Theme</vt:lpstr>
      <vt:lpstr>  Kick-Off Tokenised Money Workshop</vt:lpstr>
      <vt:lpstr>2024 ⇢ heute</vt:lpstr>
      <vt:lpstr>Tokenisation of Money - a good idea</vt:lpstr>
      <vt:lpstr>The Money Format Wars</vt:lpstr>
      <vt:lpstr>Stablecoins</vt:lpstr>
      <vt:lpstr>Qivalis – EU Bank Consortium for Stablecoins </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CBDC  Do we need another Euro,  another Dollar, another Pound, … ?</dc:title>
  <dc:creator>Microsoft Office User</dc:creator>
  <cp:lastModifiedBy>Michael Salmony</cp:lastModifiedBy>
  <cp:revision>806</cp:revision>
  <cp:lastPrinted>2026-05-27T07:12:15Z</cp:lastPrinted>
  <dcterms:created xsi:type="dcterms:W3CDTF">2022-05-16T05:59:19Z</dcterms:created>
  <dcterms:modified xsi:type="dcterms:W3CDTF">2026-06-01T11:22:16Z</dcterms:modified>
</cp:coreProperties>
</file>